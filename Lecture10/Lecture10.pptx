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5" r:id="rId1"/>
  </p:sldMasterIdLst>
  <p:notesMasterIdLst>
    <p:notesMasterId r:id="rId46"/>
  </p:notesMasterIdLst>
  <p:sldIdLst>
    <p:sldId id="275" r:id="rId2"/>
    <p:sldId id="503" r:id="rId3"/>
    <p:sldId id="533" r:id="rId4"/>
    <p:sldId id="512" r:id="rId5"/>
    <p:sldId id="513" r:id="rId6"/>
    <p:sldId id="514" r:id="rId7"/>
    <p:sldId id="515" r:id="rId8"/>
    <p:sldId id="516" r:id="rId9"/>
    <p:sldId id="536" r:id="rId10"/>
    <p:sldId id="517" r:id="rId11"/>
    <p:sldId id="518" r:id="rId12"/>
    <p:sldId id="534" r:id="rId13"/>
    <p:sldId id="519" r:id="rId14"/>
    <p:sldId id="520" r:id="rId15"/>
    <p:sldId id="521" r:id="rId16"/>
    <p:sldId id="523" r:id="rId17"/>
    <p:sldId id="524" r:id="rId18"/>
    <p:sldId id="537" r:id="rId19"/>
    <p:sldId id="538" r:id="rId20"/>
    <p:sldId id="539" r:id="rId21"/>
    <p:sldId id="540" r:id="rId22"/>
    <p:sldId id="541" r:id="rId23"/>
    <p:sldId id="542" r:id="rId24"/>
    <p:sldId id="543" r:id="rId25"/>
    <p:sldId id="544" r:id="rId26"/>
    <p:sldId id="545" r:id="rId27"/>
    <p:sldId id="546" r:id="rId28"/>
    <p:sldId id="547" r:id="rId29"/>
    <p:sldId id="548" r:id="rId30"/>
    <p:sldId id="549" r:id="rId31"/>
    <p:sldId id="550" r:id="rId32"/>
    <p:sldId id="551" r:id="rId33"/>
    <p:sldId id="552" r:id="rId34"/>
    <p:sldId id="553" r:id="rId35"/>
    <p:sldId id="554" r:id="rId36"/>
    <p:sldId id="535" r:id="rId37"/>
    <p:sldId id="525" r:id="rId38"/>
    <p:sldId id="526" r:id="rId39"/>
    <p:sldId id="527" r:id="rId40"/>
    <p:sldId id="528" r:id="rId41"/>
    <p:sldId id="529" r:id="rId42"/>
    <p:sldId id="530" r:id="rId43"/>
    <p:sldId id="531" r:id="rId44"/>
    <p:sldId id="532" r:id="rId45"/>
  </p:sldIdLst>
  <p:sldSz cx="12192000" cy="6858000"/>
  <p:notesSz cx="6858000" cy="9144000"/>
  <p:defaultText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70C0"/>
    <a:srgbClr val="DAE3F3"/>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69723" autoAdjust="0"/>
  </p:normalViewPr>
  <p:slideViewPr>
    <p:cSldViewPr snapToGrid="0">
      <p:cViewPr varScale="1">
        <p:scale>
          <a:sx n="61" d="100"/>
          <a:sy n="61" d="100"/>
        </p:scale>
        <p:origin x="102" y="43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presProps" Target="presProps.xml"/><Relationship Id="rId50"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6C524C0-EA9B-4B4F-B701-1ACCC301540F}" type="doc">
      <dgm:prSet loTypeId="urn:microsoft.com/office/officeart/2005/8/layout/hProcess7" loCatId="list" qsTypeId="urn:microsoft.com/office/officeart/2005/8/quickstyle/simple3" qsCatId="simple" csTypeId="urn:microsoft.com/office/officeart/2005/8/colors/accent1_2" csCatId="accent1" phldr="1"/>
      <dgm:spPr/>
      <dgm:t>
        <a:bodyPr/>
        <a:lstStyle/>
        <a:p>
          <a:endParaRPr lang="es-CO"/>
        </a:p>
      </dgm:t>
    </dgm:pt>
    <dgm:pt modelId="{934152BF-DA83-4FAF-8741-F2BDDC0CD2E3}">
      <dgm:prSet phldrT="[Text]" phldr="0"/>
      <dgm:spPr/>
      <dgm:t>
        <a:bodyPr/>
        <a:lstStyle/>
        <a:p>
          <a:r>
            <a:rPr lang="es-ES" dirty="0"/>
            <a:t>Método  basado en valores</a:t>
          </a:r>
          <a:endParaRPr lang="es-CO" dirty="0"/>
        </a:p>
      </dgm:t>
    </dgm:pt>
    <dgm:pt modelId="{B9830C57-F6D5-4080-AAA8-67C8D8AB33D1}" type="parTrans" cxnId="{C3552487-A9BA-4E95-AFE7-B55503447E9B}">
      <dgm:prSet/>
      <dgm:spPr/>
      <dgm:t>
        <a:bodyPr/>
        <a:lstStyle/>
        <a:p>
          <a:endParaRPr lang="es-CO"/>
        </a:p>
      </dgm:t>
    </dgm:pt>
    <dgm:pt modelId="{DD8D2C3D-0590-4C44-A21F-3B257A1CC52F}" type="sibTrans" cxnId="{C3552487-A9BA-4E95-AFE7-B55503447E9B}">
      <dgm:prSet/>
      <dgm:spPr/>
      <dgm:t>
        <a:bodyPr/>
        <a:lstStyle/>
        <a:p>
          <a:endParaRPr lang="es-CO"/>
        </a:p>
      </dgm:t>
    </dgm:pt>
    <dgm:pt modelId="{212BF8EC-8789-4191-82ED-0A966A40FEBB}">
      <dgm:prSet phldrT="[Text]" custT="1"/>
      <dgm:spPr/>
      <dgm:t>
        <a:bodyPr/>
        <a:lstStyle/>
        <a:p>
          <a:r>
            <a:rPr lang="es-CO" sz="1800" dirty="0">
              <a:latin typeface="Arial MT"/>
              <a:cs typeface="Arial MT"/>
            </a:rPr>
            <a:t>Se centra</a:t>
          </a:r>
          <a:r>
            <a:rPr lang="es-CO" sz="1800" spc="-45" dirty="0">
              <a:latin typeface="Arial MT"/>
              <a:cs typeface="Arial MT"/>
            </a:rPr>
            <a:t> </a:t>
          </a:r>
          <a:r>
            <a:rPr lang="es-CO" sz="1800" dirty="0">
              <a:latin typeface="Arial MT"/>
              <a:cs typeface="Arial MT"/>
            </a:rPr>
            <a:t>en</a:t>
          </a:r>
          <a:r>
            <a:rPr lang="es-CO" sz="1800" spc="-15" dirty="0">
              <a:latin typeface="Arial MT"/>
              <a:cs typeface="Arial MT"/>
            </a:rPr>
            <a:t> </a:t>
          </a:r>
          <a:r>
            <a:rPr lang="es-CO" sz="1800" dirty="0">
              <a:latin typeface="Arial MT"/>
              <a:cs typeface="Arial MT"/>
            </a:rPr>
            <a:t>aprender</a:t>
          </a:r>
          <a:r>
            <a:rPr lang="es-CO" sz="1800" spc="-55" dirty="0">
              <a:latin typeface="Arial MT"/>
              <a:cs typeface="Arial MT"/>
            </a:rPr>
            <a:t> </a:t>
          </a:r>
          <a:r>
            <a:rPr lang="es-CO" sz="1800" dirty="0">
              <a:latin typeface="Arial MT"/>
              <a:cs typeface="Arial MT"/>
            </a:rPr>
            <a:t>una</a:t>
          </a:r>
          <a:r>
            <a:rPr lang="es-CO" sz="1800" spc="-30" dirty="0">
              <a:latin typeface="Arial MT"/>
              <a:cs typeface="Arial MT"/>
            </a:rPr>
            <a:t> </a:t>
          </a:r>
          <a:r>
            <a:rPr lang="es-CO" sz="1800" i="1" dirty="0">
              <a:latin typeface="Arial"/>
              <a:cs typeface="Arial"/>
            </a:rPr>
            <a:t>función</a:t>
          </a:r>
          <a:r>
            <a:rPr lang="es-CO" sz="1800" i="1" spc="-25" dirty="0">
              <a:latin typeface="Arial"/>
              <a:cs typeface="Arial"/>
            </a:rPr>
            <a:t> </a:t>
          </a:r>
          <a:r>
            <a:rPr lang="es-CO" sz="1800" i="1" dirty="0">
              <a:latin typeface="Arial"/>
              <a:cs typeface="Arial"/>
            </a:rPr>
            <a:t>de</a:t>
          </a:r>
          <a:r>
            <a:rPr lang="es-CO" sz="1800" i="1" spc="-15" dirty="0">
              <a:latin typeface="Arial"/>
              <a:cs typeface="Arial"/>
            </a:rPr>
            <a:t> </a:t>
          </a:r>
          <a:r>
            <a:rPr lang="es-CO" sz="1800" i="1" dirty="0">
              <a:latin typeface="Arial"/>
              <a:cs typeface="Arial"/>
            </a:rPr>
            <a:t>valor</a:t>
          </a:r>
          <a:r>
            <a:rPr lang="es-CO" sz="1800" i="1" spc="-30" dirty="0">
              <a:latin typeface="Arial"/>
              <a:cs typeface="Arial"/>
            </a:rPr>
            <a:t> </a:t>
          </a:r>
          <a:r>
            <a:rPr lang="es-CO" sz="1800" i="1" dirty="0">
              <a:latin typeface="Arial"/>
              <a:cs typeface="Arial"/>
            </a:rPr>
            <a:t>de</a:t>
          </a:r>
          <a:r>
            <a:rPr lang="es-CO" sz="1800" i="1" spc="-25" dirty="0">
              <a:latin typeface="Arial"/>
              <a:cs typeface="Arial"/>
            </a:rPr>
            <a:t> </a:t>
          </a:r>
          <a:r>
            <a:rPr lang="es-CO" sz="1800" i="1" dirty="0">
              <a:latin typeface="Arial"/>
              <a:cs typeface="Arial"/>
            </a:rPr>
            <a:t>acción</a:t>
          </a:r>
          <a:r>
            <a:rPr lang="es-CO" sz="1800" i="1" spc="-35" dirty="0">
              <a:latin typeface="Arial"/>
              <a:cs typeface="Arial"/>
            </a:rPr>
            <a:t> </a:t>
          </a:r>
          <a:r>
            <a:rPr lang="es-CO" sz="1800" spc="-10" dirty="0">
              <a:latin typeface="Arial MT"/>
              <a:cs typeface="Arial MT"/>
            </a:rPr>
            <a:t>Q(</a:t>
          </a:r>
          <a:r>
            <a:rPr lang="es-CO" sz="1800" spc="-10" dirty="0" err="1">
              <a:latin typeface="Arial MT"/>
              <a:cs typeface="Arial MT"/>
            </a:rPr>
            <a:t>s,a</a:t>
          </a:r>
          <a:r>
            <a:rPr lang="es-CO" sz="1800" spc="-10" dirty="0">
              <a:latin typeface="Arial MT"/>
              <a:cs typeface="Arial MT"/>
            </a:rPr>
            <a:t>)</a:t>
          </a:r>
          <a:endParaRPr lang="es-CO" sz="1800" dirty="0"/>
        </a:p>
      </dgm:t>
    </dgm:pt>
    <dgm:pt modelId="{07F1243C-C384-4B8B-9B29-03A9DB30AACC}" type="parTrans" cxnId="{7DF23543-D459-4413-B559-6D9D5B285371}">
      <dgm:prSet/>
      <dgm:spPr/>
      <dgm:t>
        <a:bodyPr/>
        <a:lstStyle/>
        <a:p>
          <a:endParaRPr lang="es-CO"/>
        </a:p>
      </dgm:t>
    </dgm:pt>
    <dgm:pt modelId="{2B747FAC-70B5-4B74-A42D-138398719DF7}" type="sibTrans" cxnId="{7DF23543-D459-4413-B559-6D9D5B285371}">
      <dgm:prSet/>
      <dgm:spPr/>
      <dgm:t>
        <a:bodyPr/>
        <a:lstStyle/>
        <a:p>
          <a:endParaRPr lang="es-CO"/>
        </a:p>
      </dgm:t>
    </dgm:pt>
    <dgm:pt modelId="{52C29F25-A209-4E9F-98B3-4BCBA94044DD}">
      <dgm:prSet phldrT="[Text]" phldr="0"/>
      <dgm:spPr/>
      <dgm:t>
        <a:bodyPr/>
        <a:lstStyle/>
        <a:p>
          <a:r>
            <a:rPr lang="es-ES" dirty="0" err="1"/>
            <a:t>Actualizacion</a:t>
          </a:r>
          <a:r>
            <a:rPr lang="es-ES" dirty="0"/>
            <a:t> interactiva</a:t>
          </a:r>
          <a:endParaRPr lang="es-CO" dirty="0"/>
        </a:p>
      </dgm:t>
    </dgm:pt>
    <dgm:pt modelId="{70396CE9-5BD9-46C5-9D96-C9F875684181}" type="parTrans" cxnId="{7488E020-181C-4D4C-BC57-DC7F9FE93D5D}">
      <dgm:prSet/>
      <dgm:spPr/>
      <dgm:t>
        <a:bodyPr/>
        <a:lstStyle/>
        <a:p>
          <a:endParaRPr lang="es-CO"/>
        </a:p>
      </dgm:t>
    </dgm:pt>
    <dgm:pt modelId="{A776215F-18C8-4A07-947B-25D07384990F}" type="sibTrans" cxnId="{7488E020-181C-4D4C-BC57-DC7F9FE93D5D}">
      <dgm:prSet/>
      <dgm:spPr/>
      <dgm:t>
        <a:bodyPr/>
        <a:lstStyle/>
        <a:p>
          <a:endParaRPr lang="es-CO"/>
        </a:p>
      </dgm:t>
    </dgm:pt>
    <dgm:pt modelId="{4268B549-0229-466E-AE7C-014952FF2E0D}">
      <dgm:prSet phldrT="[Text]" custT="1"/>
      <dgm:spPr/>
      <dgm:t>
        <a:bodyPr/>
        <a:lstStyle/>
        <a:p>
          <a:r>
            <a:rPr lang="es-CO" sz="1800" dirty="0">
              <a:latin typeface="Arial MT"/>
              <a:cs typeface="Arial MT"/>
            </a:rPr>
            <a:t>La</a:t>
          </a:r>
          <a:r>
            <a:rPr lang="es-CO" sz="1800" spc="-25" dirty="0">
              <a:latin typeface="Arial MT"/>
              <a:cs typeface="Arial MT"/>
            </a:rPr>
            <a:t>  </a:t>
          </a:r>
          <a:r>
            <a:rPr lang="es-CO" sz="1800" dirty="0">
              <a:latin typeface="Arial MT"/>
              <a:cs typeface="Arial MT"/>
            </a:rPr>
            <a:t>función</a:t>
          </a:r>
          <a:r>
            <a:rPr lang="es-CO" sz="1800" spc="490" dirty="0">
              <a:latin typeface="Arial MT"/>
              <a:cs typeface="Arial MT"/>
            </a:rPr>
            <a:t> </a:t>
          </a:r>
          <a:r>
            <a:rPr lang="es-CO" sz="1800" dirty="0">
              <a:latin typeface="Arial MT"/>
              <a:cs typeface="Arial MT"/>
            </a:rPr>
            <a:t>Q</a:t>
          </a:r>
          <a:r>
            <a:rPr lang="es-CO" sz="1800" spc="484" dirty="0">
              <a:latin typeface="Arial MT"/>
              <a:cs typeface="Arial MT"/>
            </a:rPr>
            <a:t> </a:t>
          </a:r>
          <a:r>
            <a:rPr lang="es-CO" sz="1800" dirty="0">
              <a:latin typeface="Arial MT"/>
              <a:cs typeface="Arial MT"/>
            </a:rPr>
            <a:t>se</a:t>
          </a:r>
          <a:r>
            <a:rPr lang="es-CO" sz="1800" spc="484" dirty="0">
              <a:latin typeface="Arial MT"/>
              <a:cs typeface="Arial MT"/>
            </a:rPr>
            <a:t> </a:t>
          </a:r>
          <a:r>
            <a:rPr lang="es-CO" sz="1800" dirty="0">
              <a:latin typeface="Arial MT"/>
              <a:cs typeface="Arial MT"/>
            </a:rPr>
            <a:t>actualiza</a:t>
          </a:r>
          <a:r>
            <a:rPr lang="es-CO" sz="1800" spc="495" dirty="0">
              <a:latin typeface="Arial MT"/>
              <a:cs typeface="Arial MT"/>
            </a:rPr>
            <a:t> </a:t>
          </a:r>
          <a:r>
            <a:rPr lang="es-CO" sz="1800" dirty="0">
              <a:latin typeface="Arial MT"/>
              <a:cs typeface="Arial MT"/>
            </a:rPr>
            <a:t>de</a:t>
          </a:r>
          <a:r>
            <a:rPr lang="es-CO" sz="1800" spc="484" dirty="0">
              <a:latin typeface="Arial MT"/>
              <a:cs typeface="Arial MT"/>
            </a:rPr>
            <a:t> </a:t>
          </a:r>
          <a:r>
            <a:rPr lang="es-CO" sz="1800" dirty="0">
              <a:latin typeface="Arial MT"/>
              <a:cs typeface="Arial MT"/>
            </a:rPr>
            <a:t>forma</a:t>
          </a:r>
          <a:r>
            <a:rPr lang="es-CO" sz="1800" spc="495" dirty="0">
              <a:latin typeface="Arial MT"/>
              <a:cs typeface="Arial MT"/>
            </a:rPr>
            <a:t> </a:t>
          </a:r>
          <a:r>
            <a:rPr lang="es-CO" sz="1800" dirty="0">
              <a:latin typeface="Arial MT"/>
              <a:cs typeface="Arial MT"/>
            </a:rPr>
            <a:t>iterativa</a:t>
          </a:r>
          <a:r>
            <a:rPr lang="es-CO" sz="1800" spc="-25" dirty="0">
              <a:latin typeface="Arial MT"/>
              <a:cs typeface="Arial MT"/>
            </a:rPr>
            <a:t>  </a:t>
          </a:r>
          <a:r>
            <a:rPr lang="es-CO" sz="1800" dirty="0">
              <a:latin typeface="Arial MT"/>
              <a:cs typeface="Arial MT"/>
            </a:rPr>
            <a:t>con</a:t>
          </a:r>
          <a:r>
            <a:rPr lang="es-CO" sz="1800" spc="-25" dirty="0">
              <a:latin typeface="Arial MT"/>
              <a:cs typeface="Arial MT"/>
            </a:rPr>
            <a:t>  </a:t>
          </a:r>
          <a:r>
            <a:rPr lang="es-CO" sz="1800" dirty="0">
              <a:latin typeface="Arial MT"/>
              <a:cs typeface="Arial MT"/>
            </a:rPr>
            <a:t>cada</a:t>
          </a:r>
          <a:r>
            <a:rPr lang="es-CO" sz="1800" spc="484" dirty="0">
              <a:latin typeface="Arial MT"/>
              <a:cs typeface="Arial MT"/>
            </a:rPr>
            <a:t> </a:t>
          </a:r>
          <a:r>
            <a:rPr lang="es-CO" sz="1800" dirty="0">
              <a:latin typeface="Arial MT"/>
              <a:cs typeface="Arial MT"/>
            </a:rPr>
            <a:t>acción</a:t>
          </a:r>
          <a:r>
            <a:rPr lang="es-CO" sz="1800" spc="-25" dirty="0">
              <a:latin typeface="Arial MT"/>
              <a:cs typeface="Arial MT"/>
            </a:rPr>
            <a:t>  </a:t>
          </a:r>
          <a:r>
            <a:rPr lang="es-CO" sz="1800" dirty="0">
              <a:latin typeface="Arial MT"/>
              <a:cs typeface="Arial MT"/>
            </a:rPr>
            <a:t>que</a:t>
          </a:r>
          <a:r>
            <a:rPr lang="es-CO" sz="1800" spc="495" dirty="0">
              <a:latin typeface="Arial MT"/>
              <a:cs typeface="Arial MT"/>
            </a:rPr>
            <a:t> </a:t>
          </a:r>
          <a:r>
            <a:rPr lang="es-CO" sz="1800" spc="-25" dirty="0">
              <a:latin typeface="Arial MT"/>
              <a:cs typeface="Arial MT"/>
            </a:rPr>
            <a:t>el </a:t>
          </a:r>
          <a:r>
            <a:rPr lang="es-CO" sz="1800" dirty="0">
              <a:latin typeface="Arial MT"/>
              <a:cs typeface="Arial MT"/>
            </a:rPr>
            <a:t>agente</a:t>
          </a:r>
          <a:r>
            <a:rPr lang="es-CO" sz="1800" spc="90" dirty="0">
              <a:latin typeface="Arial MT"/>
              <a:cs typeface="Arial MT"/>
            </a:rPr>
            <a:t>  </a:t>
          </a:r>
          <a:r>
            <a:rPr lang="es-CO" sz="1800" dirty="0">
              <a:latin typeface="Arial MT"/>
              <a:cs typeface="Arial MT"/>
            </a:rPr>
            <a:t>toma,</a:t>
          </a:r>
          <a:r>
            <a:rPr lang="es-CO" sz="1800" spc="85" dirty="0">
              <a:latin typeface="Arial MT"/>
              <a:cs typeface="Arial MT"/>
            </a:rPr>
            <a:t>  </a:t>
          </a:r>
          <a:r>
            <a:rPr lang="es-CO" sz="1800" dirty="0">
              <a:latin typeface="Arial MT"/>
              <a:cs typeface="Arial MT"/>
            </a:rPr>
            <a:t>utilizando</a:t>
          </a:r>
          <a:r>
            <a:rPr lang="es-CO" sz="1800" spc="90" dirty="0">
              <a:latin typeface="Arial MT"/>
              <a:cs typeface="Arial MT"/>
            </a:rPr>
            <a:t>  </a:t>
          </a:r>
          <a:r>
            <a:rPr lang="es-CO" sz="1800" dirty="0">
              <a:latin typeface="Arial MT"/>
              <a:cs typeface="Arial MT"/>
            </a:rPr>
            <a:t>una</a:t>
          </a:r>
          <a:r>
            <a:rPr lang="es-CO" sz="1800" spc="90" dirty="0">
              <a:latin typeface="Arial MT"/>
              <a:cs typeface="Arial MT"/>
            </a:rPr>
            <a:t>  </a:t>
          </a:r>
          <a:r>
            <a:rPr lang="es-CO" sz="1800" dirty="0">
              <a:latin typeface="Arial MT"/>
              <a:cs typeface="Arial MT"/>
            </a:rPr>
            <a:t>fórmula</a:t>
          </a:r>
          <a:r>
            <a:rPr lang="es-CO" sz="1800" spc="85" dirty="0">
              <a:latin typeface="Arial MT"/>
              <a:cs typeface="Arial MT"/>
            </a:rPr>
            <a:t>  </a:t>
          </a:r>
          <a:r>
            <a:rPr lang="es-CO" sz="1800" dirty="0">
              <a:latin typeface="Arial MT"/>
              <a:cs typeface="Arial MT"/>
            </a:rPr>
            <a:t>de</a:t>
          </a:r>
          <a:r>
            <a:rPr lang="es-CO" sz="1800" spc="90" dirty="0">
              <a:latin typeface="Arial MT"/>
              <a:cs typeface="Arial MT"/>
            </a:rPr>
            <a:t>  </a:t>
          </a:r>
          <a:r>
            <a:rPr lang="es-CO" sz="1800" dirty="0">
              <a:latin typeface="Arial MT"/>
              <a:cs typeface="Arial MT"/>
            </a:rPr>
            <a:t>actualización</a:t>
          </a:r>
          <a:r>
            <a:rPr lang="es-CO" sz="1800" spc="85" dirty="0">
              <a:latin typeface="Arial MT"/>
              <a:cs typeface="Arial MT"/>
            </a:rPr>
            <a:t>  </a:t>
          </a:r>
          <a:r>
            <a:rPr lang="es-CO" sz="1800" dirty="0">
              <a:latin typeface="Arial MT"/>
              <a:cs typeface="Arial MT"/>
            </a:rPr>
            <a:t>basada</a:t>
          </a:r>
          <a:r>
            <a:rPr lang="es-CO" sz="1800" spc="90" dirty="0">
              <a:latin typeface="Arial MT"/>
              <a:cs typeface="Arial MT"/>
            </a:rPr>
            <a:t>  </a:t>
          </a:r>
          <a:r>
            <a:rPr lang="es-CO" sz="1800" dirty="0">
              <a:latin typeface="Arial MT"/>
              <a:cs typeface="Arial MT"/>
            </a:rPr>
            <a:t>en</a:t>
          </a:r>
          <a:r>
            <a:rPr lang="es-CO" sz="1800" spc="90" dirty="0">
              <a:latin typeface="Arial MT"/>
              <a:cs typeface="Arial MT"/>
            </a:rPr>
            <a:t>  </a:t>
          </a:r>
          <a:r>
            <a:rPr lang="es-CO" sz="1800" spc="-25" dirty="0">
              <a:latin typeface="Arial MT"/>
              <a:cs typeface="Arial MT"/>
            </a:rPr>
            <a:t>la </a:t>
          </a:r>
          <a:r>
            <a:rPr lang="es-CO" sz="1800" dirty="0">
              <a:latin typeface="Arial MT"/>
              <a:cs typeface="Arial MT"/>
            </a:rPr>
            <a:t>recompensa</a:t>
          </a:r>
          <a:r>
            <a:rPr lang="es-CO" sz="1800" spc="-65" dirty="0">
              <a:latin typeface="Arial MT"/>
              <a:cs typeface="Arial MT"/>
            </a:rPr>
            <a:t> </a:t>
          </a:r>
          <a:r>
            <a:rPr lang="es-CO" sz="1800" dirty="0">
              <a:latin typeface="Arial MT"/>
              <a:cs typeface="Arial MT"/>
            </a:rPr>
            <a:t>inmediata</a:t>
          </a:r>
          <a:r>
            <a:rPr lang="es-CO" sz="1800" spc="-30" dirty="0">
              <a:latin typeface="Arial MT"/>
              <a:cs typeface="Arial MT"/>
            </a:rPr>
            <a:t> </a:t>
          </a:r>
          <a:r>
            <a:rPr lang="es-CO" sz="1800" dirty="0">
              <a:latin typeface="Arial MT"/>
              <a:cs typeface="Arial MT"/>
            </a:rPr>
            <a:t>y</a:t>
          </a:r>
          <a:r>
            <a:rPr lang="es-CO" sz="1800" spc="-25" dirty="0">
              <a:latin typeface="Arial MT"/>
              <a:cs typeface="Arial MT"/>
            </a:rPr>
            <a:t> </a:t>
          </a:r>
          <a:r>
            <a:rPr lang="es-CO" sz="1800" dirty="0">
              <a:latin typeface="Arial MT"/>
              <a:cs typeface="Arial MT"/>
            </a:rPr>
            <a:t>el</a:t>
          </a:r>
          <a:r>
            <a:rPr lang="es-CO" sz="1800" spc="-20" dirty="0">
              <a:latin typeface="Arial MT"/>
              <a:cs typeface="Arial MT"/>
            </a:rPr>
            <a:t> </a:t>
          </a:r>
          <a:r>
            <a:rPr lang="es-CO" sz="1800" dirty="0">
              <a:latin typeface="Arial MT"/>
              <a:cs typeface="Arial MT"/>
            </a:rPr>
            <a:t>valor</a:t>
          </a:r>
          <a:r>
            <a:rPr lang="es-CO" sz="1800" spc="-20" dirty="0">
              <a:latin typeface="Arial MT"/>
              <a:cs typeface="Arial MT"/>
            </a:rPr>
            <a:t> </a:t>
          </a:r>
          <a:r>
            <a:rPr lang="es-CO" sz="1800" dirty="0">
              <a:latin typeface="Arial MT"/>
              <a:cs typeface="Arial MT"/>
            </a:rPr>
            <a:t>Q</a:t>
          </a:r>
          <a:r>
            <a:rPr lang="es-CO" sz="1800" spc="-30" dirty="0">
              <a:latin typeface="Arial MT"/>
              <a:cs typeface="Arial MT"/>
            </a:rPr>
            <a:t> </a:t>
          </a:r>
          <a:r>
            <a:rPr lang="es-CO" sz="1800" dirty="0">
              <a:latin typeface="Arial MT"/>
              <a:cs typeface="Arial MT"/>
            </a:rPr>
            <a:t>del</a:t>
          </a:r>
          <a:r>
            <a:rPr lang="es-CO" sz="1800" spc="-15" dirty="0">
              <a:latin typeface="Arial MT"/>
              <a:cs typeface="Arial MT"/>
            </a:rPr>
            <a:t> </a:t>
          </a:r>
          <a:r>
            <a:rPr lang="es-CO" sz="1800" dirty="0">
              <a:latin typeface="Arial MT"/>
              <a:cs typeface="Arial MT"/>
            </a:rPr>
            <a:t>siguiente</a:t>
          </a:r>
          <a:r>
            <a:rPr lang="es-CO" sz="1800" spc="-40" dirty="0">
              <a:latin typeface="Arial MT"/>
              <a:cs typeface="Arial MT"/>
            </a:rPr>
            <a:t> </a:t>
          </a:r>
          <a:r>
            <a:rPr lang="es-CO" sz="1800" spc="-10" dirty="0">
              <a:latin typeface="Arial MT"/>
              <a:cs typeface="Arial MT"/>
            </a:rPr>
            <a:t>estado</a:t>
          </a:r>
          <a:endParaRPr lang="es-CO" sz="1800" dirty="0"/>
        </a:p>
      </dgm:t>
    </dgm:pt>
    <dgm:pt modelId="{B1AD2118-4EA7-4A72-A5F4-6E875379B646}" type="parTrans" cxnId="{2A8C8438-8B3B-4BFF-AFA6-1B719EE881CC}">
      <dgm:prSet/>
      <dgm:spPr/>
      <dgm:t>
        <a:bodyPr/>
        <a:lstStyle/>
        <a:p>
          <a:endParaRPr lang="es-CO"/>
        </a:p>
      </dgm:t>
    </dgm:pt>
    <dgm:pt modelId="{7B237EC4-42E6-4697-9A57-0289D763C1A9}" type="sibTrans" cxnId="{2A8C8438-8B3B-4BFF-AFA6-1B719EE881CC}">
      <dgm:prSet/>
      <dgm:spPr/>
      <dgm:t>
        <a:bodyPr/>
        <a:lstStyle/>
        <a:p>
          <a:endParaRPr lang="es-CO"/>
        </a:p>
      </dgm:t>
    </dgm:pt>
    <dgm:pt modelId="{64787D37-232E-40B5-B011-99A38A84ECED}">
      <dgm:prSet phldrT="[Text]"/>
      <dgm:spPr/>
      <dgm:t>
        <a:bodyPr/>
        <a:lstStyle/>
        <a:p>
          <a:pPr>
            <a:buSzPct val="95000"/>
            <a:buAutoNum type="arabicPeriod" startAt="3"/>
          </a:pPr>
          <a:r>
            <a:rPr lang="es-CO" b="1" dirty="0">
              <a:latin typeface="Arial"/>
              <a:cs typeface="Arial"/>
            </a:rPr>
            <a:t>Balance</a:t>
          </a:r>
          <a:r>
            <a:rPr lang="es-CO" b="1" spc="-45" dirty="0">
              <a:latin typeface="Arial"/>
              <a:cs typeface="Arial"/>
            </a:rPr>
            <a:t> </a:t>
          </a:r>
          <a:r>
            <a:rPr lang="es-CO" b="1" dirty="0">
              <a:latin typeface="Arial"/>
              <a:cs typeface="Arial"/>
            </a:rPr>
            <a:t>entre</a:t>
          </a:r>
          <a:r>
            <a:rPr lang="es-CO" b="1" spc="-40" dirty="0">
              <a:latin typeface="Arial"/>
              <a:cs typeface="Arial"/>
            </a:rPr>
            <a:t> </a:t>
          </a:r>
          <a:r>
            <a:rPr lang="es-CO" b="1" dirty="0">
              <a:latin typeface="Arial"/>
              <a:cs typeface="Arial"/>
            </a:rPr>
            <a:t>exploración</a:t>
          </a:r>
          <a:r>
            <a:rPr lang="es-CO" b="1" spc="-50" dirty="0">
              <a:latin typeface="Arial"/>
              <a:cs typeface="Arial"/>
            </a:rPr>
            <a:t> </a:t>
          </a:r>
          <a:r>
            <a:rPr lang="es-CO" b="1" dirty="0">
              <a:latin typeface="Arial"/>
              <a:cs typeface="Arial"/>
            </a:rPr>
            <a:t>y</a:t>
          </a:r>
          <a:r>
            <a:rPr lang="es-CO" b="1" spc="-25" dirty="0">
              <a:latin typeface="Arial"/>
              <a:cs typeface="Arial"/>
            </a:rPr>
            <a:t> </a:t>
          </a:r>
          <a:r>
            <a:rPr lang="es-CO" b="1" spc="-10" dirty="0">
              <a:latin typeface="Arial"/>
              <a:cs typeface="Arial"/>
            </a:rPr>
            <a:t>explotación</a:t>
          </a:r>
          <a:endParaRPr lang="es-CO" dirty="0"/>
        </a:p>
      </dgm:t>
    </dgm:pt>
    <dgm:pt modelId="{3240CCA7-A114-4E2C-B81B-D91EDD928670}" type="parTrans" cxnId="{9D7D0051-CC31-4AA2-BD74-4EF6C5C1350D}">
      <dgm:prSet/>
      <dgm:spPr/>
      <dgm:t>
        <a:bodyPr/>
        <a:lstStyle/>
        <a:p>
          <a:endParaRPr lang="es-CO"/>
        </a:p>
      </dgm:t>
    </dgm:pt>
    <dgm:pt modelId="{6D5F3736-F5AC-4DB8-8E0E-2F4CCA7C661E}" type="sibTrans" cxnId="{9D7D0051-CC31-4AA2-BD74-4EF6C5C1350D}">
      <dgm:prSet/>
      <dgm:spPr/>
      <dgm:t>
        <a:bodyPr/>
        <a:lstStyle/>
        <a:p>
          <a:endParaRPr lang="es-CO"/>
        </a:p>
      </dgm:t>
    </dgm:pt>
    <dgm:pt modelId="{8DBA9BDA-750E-42D7-9102-87E764DCC6F4}">
      <dgm:prSet phldrT="[Text]" custT="1"/>
      <dgm:spPr/>
      <dgm:t>
        <a:bodyPr/>
        <a:lstStyle/>
        <a:p>
          <a:r>
            <a:rPr lang="es-CO" sz="1800" dirty="0">
              <a:latin typeface="Arial MT"/>
              <a:cs typeface="Arial MT"/>
            </a:rPr>
            <a:t>Utiliza</a:t>
          </a:r>
          <a:r>
            <a:rPr lang="es-CO" sz="1800" spc="450" dirty="0">
              <a:latin typeface="Arial MT"/>
              <a:cs typeface="Arial MT"/>
            </a:rPr>
            <a:t> </a:t>
          </a:r>
          <a:r>
            <a:rPr lang="es-CO" sz="1800" dirty="0">
              <a:latin typeface="Arial MT"/>
              <a:cs typeface="Arial MT"/>
            </a:rPr>
            <a:t>un</a:t>
          </a:r>
          <a:r>
            <a:rPr lang="es-CO" sz="1800" spc="450" dirty="0">
              <a:latin typeface="Arial MT"/>
              <a:cs typeface="Arial MT"/>
            </a:rPr>
            <a:t> </a:t>
          </a:r>
          <a:r>
            <a:rPr lang="es-CO" sz="1800" dirty="0">
              <a:latin typeface="Arial MT"/>
              <a:cs typeface="Arial MT"/>
            </a:rPr>
            <a:t>mecanismo</a:t>
          </a:r>
          <a:r>
            <a:rPr lang="es-CO" sz="1800" spc="434" dirty="0">
              <a:latin typeface="Arial MT"/>
              <a:cs typeface="Arial MT"/>
            </a:rPr>
            <a:t> </a:t>
          </a:r>
          <a:r>
            <a:rPr lang="es-CO" sz="1800" dirty="0">
              <a:latin typeface="Arial MT"/>
              <a:cs typeface="Arial MT"/>
            </a:rPr>
            <a:t>(como</a:t>
          </a:r>
          <a:r>
            <a:rPr lang="es-CO" sz="1800" spc="445" dirty="0">
              <a:latin typeface="Arial MT"/>
              <a:cs typeface="Arial MT"/>
            </a:rPr>
            <a:t> </a:t>
          </a:r>
          <a:r>
            <a:rPr lang="es-CO" sz="1800" dirty="0">
              <a:latin typeface="Arial MT"/>
              <a:cs typeface="Arial MT"/>
            </a:rPr>
            <a:t>la</a:t>
          </a:r>
          <a:r>
            <a:rPr lang="es-CO" sz="1800" spc="440" dirty="0">
              <a:latin typeface="Arial MT"/>
              <a:cs typeface="Arial MT"/>
            </a:rPr>
            <a:t> </a:t>
          </a:r>
          <a:r>
            <a:rPr lang="es-CO" sz="1800" dirty="0">
              <a:latin typeface="Arial MT"/>
              <a:cs typeface="Arial MT"/>
            </a:rPr>
            <a:t>política</a:t>
          </a:r>
          <a:r>
            <a:rPr lang="es-CO" sz="1800" spc="445" dirty="0">
              <a:latin typeface="Arial MT"/>
              <a:cs typeface="Arial MT"/>
            </a:rPr>
            <a:t> </a:t>
          </a:r>
          <a:r>
            <a:rPr lang="es-CO" sz="1800" spc="-10" dirty="0" err="1">
              <a:latin typeface="Arial MT"/>
              <a:cs typeface="Arial MT"/>
            </a:rPr>
            <a:t>epsilon-</a:t>
          </a:r>
          <a:r>
            <a:rPr lang="es-CO" sz="1800" dirty="0" err="1">
              <a:latin typeface="Arial MT"/>
              <a:cs typeface="Arial MT"/>
            </a:rPr>
            <a:t>greedy</a:t>
          </a:r>
          <a:r>
            <a:rPr lang="es-CO" sz="1800" dirty="0">
              <a:latin typeface="Arial MT"/>
              <a:cs typeface="Arial MT"/>
            </a:rPr>
            <a:t>)</a:t>
          </a:r>
          <a:r>
            <a:rPr lang="es-CO" sz="1800" spc="440" dirty="0">
              <a:latin typeface="Arial MT"/>
              <a:cs typeface="Arial MT"/>
            </a:rPr>
            <a:t> </a:t>
          </a:r>
          <a:r>
            <a:rPr lang="es-CO" sz="1800" dirty="0">
              <a:latin typeface="Arial MT"/>
              <a:cs typeface="Arial MT"/>
            </a:rPr>
            <a:t>para</a:t>
          </a:r>
          <a:r>
            <a:rPr lang="es-CO" sz="1800" spc="445" dirty="0">
              <a:latin typeface="Arial MT"/>
              <a:cs typeface="Arial MT"/>
            </a:rPr>
            <a:t> </a:t>
          </a:r>
          <a:r>
            <a:rPr lang="es-CO" sz="1800" spc="-10" dirty="0">
              <a:latin typeface="Arial MT"/>
              <a:cs typeface="Arial MT"/>
            </a:rPr>
            <a:t>equilibrar </a:t>
          </a:r>
          <a:r>
            <a:rPr lang="es-CO" sz="1800" dirty="0">
              <a:latin typeface="Arial MT"/>
              <a:cs typeface="Arial MT"/>
            </a:rPr>
            <a:t>entre</a:t>
          </a:r>
          <a:r>
            <a:rPr lang="es-CO" sz="1800" spc="245" dirty="0">
              <a:latin typeface="Arial MT"/>
              <a:cs typeface="Arial MT"/>
            </a:rPr>
            <a:t> </a:t>
          </a:r>
          <a:r>
            <a:rPr lang="es-CO" sz="1800" i="1" dirty="0">
              <a:latin typeface="Arial"/>
              <a:cs typeface="Arial"/>
            </a:rPr>
            <a:t>exploración</a:t>
          </a:r>
          <a:r>
            <a:rPr lang="es-CO" sz="1800" i="1" spc="240" dirty="0">
              <a:latin typeface="Arial"/>
              <a:cs typeface="Arial"/>
            </a:rPr>
            <a:t> </a:t>
          </a:r>
          <a:r>
            <a:rPr lang="es-CO" sz="1800" dirty="0">
              <a:latin typeface="Arial MT"/>
              <a:cs typeface="Arial MT"/>
            </a:rPr>
            <a:t>(probar</a:t>
          </a:r>
          <a:r>
            <a:rPr lang="es-CO" sz="1800" spc="240" dirty="0">
              <a:latin typeface="Arial MT"/>
              <a:cs typeface="Arial MT"/>
            </a:rPr>
            <a:t> </a:t>
          </a:r>
          <a:r>
            <a:rPr lang="es-CO" sz="1800" dirty="0">
              <a:latin typeface="Arial MT"/>
              <a:cs typeface="Arial MT"/>
            </a:rPr>
            <a:t>nuevas</a:t>
          </a:r>
          <a:r>
            <a:rPr lang="es-CO" sz="1800" spc="254" dirty="0">
              <a:latin typeface="Arial MT"/>
              <a:cs typeface="Arial MT"/>
            </a:rPr>
            <a:t> </a:t>
          </a:r>
          <a:r>
            <a:rPr lang="es-CO" sz="1800" dirty="0">
              <a:latin typeface="Arial MT"/>
              <a:cs typeface="Arial MT"/>
            </a:rPr>
            <a:t>acciones</a:t>
          </a:r>
          <a:r>
            <a:rPr lang="es-CO" sz="1800" spc="254" dirty="0">
              <a:latin typeface="Arial MT"/>
              <a:cs typeface="Arial MT"/>
            </a:rPr>
            <a:t> </a:t>
          </a:r>
          <a:r>
            <a:rPr lang="es-CO" sz="1800" dirty="0">
              <a:latin typeface="Arial MT"/>
              <a:cs typeface="Arial MT"/>
            </a:rPr>
            <a:t>para</a:t>
          </a:r>
          <a:r>
            <a:rPr lang="es-CO" sz="1800" spc="250" dirty="0">
              <a:latin typeface="Arial MT"/>
              <a:cs typeface="Arial MT"/>
            </a:rPr>
            <a:t> </a:t>
          </a:r>
          <a:r>
            <a:rPr lang="es-CO" sz="1800" dirty="0">
              <a:latin typeface="Arial MT"/>
              <a:cs typeface="Arial MT"/>
            </a:rPr>
            <a:t>descubrir</a:t>
          </a:r>
          <a:r>
            <a:rPr lang="es-CO" sz="1800" spc="235" dirty="0">
              <a:latin typeface="Arial MT"/>
              <a:cs typeface="Arial MT"/>
            </a:rPr>
            <a:t> </a:t>
          </a:r>
          <a:r>
            <a:rPr lang="es-CO" sz="1800" spc="-10" dirty="0">
              <a:latin typeface="Arial MT"/>
              <a:cs typeface="Arial MT"/>
            </a:rPr>
            <a:t>recompensas </a:t>
          </a:r>
          <a:r>
            <a:rPr lang="es-CO" sz="1800" dirty="0">
              <a:latin typeface="Arial MT"/>
              <a:cs typeface="Arial MT"/>
            </a:rPr>
            <a:t>potenciales)</a:t>
          </a:r>
          <a:r>
            <a:rPr lang="es-CO" sz="1800" spc="30" dirty="0">
              <a:latin typeface="Arial MT"/>
              <a:cs typeface="Arial MT"/>
            </a:rPr>
            <a:t>  </a:t>
          </a:r>
          <a:r>
            <a:rPr lang="es-CO" sz="1800" dirty="0">
              <a:latin typeface="Arial MT"/>
              <a:cs typeface="Arial MT"/>
            </a:rPr>
            <a:t>y</a:t>
          </a:r>
          <a:r>
            <a:rPr lang="es-CO" sz="1800" spc="35" dirty="0">
              <a:latin typeface="Arial MT"/>
              <a:cs typeface="Arial MT"/>
            </a:rPr>
            <a:t>  </a:t>
          </a:r>
          <a:r>
            <a:rPr lang="es-CO" sz="1800" i="1" dirty="0">
              <a:latin typeface="Arial"/>
              <a:cs typeface="Arial"/>
            </a:rPr>
            <a:t>explotación</a:t>
          </a:r>
          <a:r>
            <a:rPr lang="es-CO" sz="1800" i="1" spc="30" dirty="0">
              <a:latin typeface="Arial"/>
              <a:cs typeface="Arial"/>
            </a:rPr>
            <a:t>  </a:t>
          </a:r>
          <a:r>
            <a:rPr lang="es-CO" sz="1800" dirty="0">
              <a:latin typeface="Arial MT"/>
              <a:cs typeface="Arial MT"/>
            </a:rPr>
            <a:t>(elegir</a:t>
          </a:r>
          <a:r>
            <a:rPr lang="es-CO" sz="1800" spc="35" dirty="0">
              <a:latin typeface="Arial MT"/>
              <a:cs typeface="Arial MT"/>
            </a:rPr>
            <a:t>  </a:t>
          </a:r>
          <a:r>
            <a:rPr lang="es-CO" sz="1800" dirty="0">
              <a:latin typeface="Arial MT"/>
              <a:cs typeface="Arial MT"/>
            </a:rPr>
            <a:t>la</a:t>
          </a:r>
          <a:r>
            <a:rPr lang="es-CO" sz="1800" spc="35" dirty="0">
              <a:latin typeface="Arial MT"/>
              <a:cs typeface="Arial MT"/>
            </a:rPr>
            <a:t>  </a:t>
          </a:r>
          <a:r>
            <a:rPr lang="es-CO" sz="1800" dirty="0">
              <a:latin typeface="Arial MT"/>
              <a:cs typeface="Arial MT"/>
            </a:rPr>
            <a:t>mejor</a:t>
          </a:r>
          <a:r>
            <a:rPr lang="es-CO" sz="1800" spc="30" dirty="0">
              <a:latin typeface="Arial MT"/>
              <a:cs typeface="Arial MT"/>
            </a:rPr>
            <a:t>  </a:t>
          </a:r>
          <a:r>
            <a:rPr lang="es-CO" sz="1800" dirty="0">
              <a:latin typeface="Arial MT"/>
              <a:cs typeface="Arial MT"/>
            </a:rPr>
            <a:t>acción</a:t>
          </a:r>
          <a:r>
            <a:rPr lang="es-CO" sz="1800" spc="35" dirty="0">
              <a:latin typeface="Arial MT"/>
              <a:cs typeface="Arial MT"/>
            </a:rPr>
            <a:t>  </a:t>
          </a:r>
          <a:r>
            <a:rPr lang="es-CO" sz="1800" dirty="0">
              <a:latin typeface="Arial MT"/>
              <a:cs typeface="Arial MT"/>
            </a:rPr>
            <a:t>conocida</a:t>
          </a:r>
          <a:r>
            <a:rPr lang="es-CO" sz="1800" spc="35" dirty="0">
              <a:latin typeface="Arial MT"/>
              <a:cs typeface="Arial MT"/>
            </a:rPr>
            <a:t>  </a:t>
          </a:r>
          <a:r>
            <a:rPr lang="es-CO" sz="1800" dirty="0">
              <a:latin typeface="Arial MT"/>
              <a:cs typeface="Arial MT"/>
            </a:rPr>
            <a:t>según</a:t>
          </a:r>
          <a:r>
            <a:rPr lang="es-CO" sz="1800" spc="35" dirty="0">
              <a:latin typeface="Arial MT"/>
              <a:cs typeface="Arial MT"/>
            </a:rPr>
            <a:t>  </a:t>
          </a:r>
          <a:r>
            <a:rPr lang="es-CO" sz="1800" spc="-25" dirty="0">
              <a:latin typeface="Arial MT"/>
              <a:cs typeface="Arial MT"/>
            </a:rPr>
            <a:t>la </a:t>
          </a:r>
          <a:r>
            <a:rPr lang="es-CO" sz="1800" dirty="0">
              <a:latin typeface="Arial MT"/>
              <a:cs typeface="Arial MT"/>
            </a:rPr>
            <a:t>función</a:t>
          </a:r>
          <a:r>
            <a:rPr lang="es-CO" sz="1800" spc="-35" dirty="0">
              <a:latin typeface="Arial MT"/>
              <a:cs typeface="Arial MT"/>
            </a:rPr>
            <a:t> </a:t>
          </a:r>
          <a:r>
            <a:rPr lang="es-CO" sz="1800" dirty="0">
              <a:latin typeface="Arial MT"/>
              <a:cs typeface="Arial MT"/>
            </a:rPr>
            <a:t>Q</a:t>
          </a:r>
          <a:r>
            <a:rPr lang="es-CO" sz="1800" spc="-30" dirty="0">
              <a:latin typeface="Arial MT"/>
              <a:cs typeface="Arial MT"/>
            </a:rPr>
            <a:t> </a:t>
          </a:r>
          <a:r>
            <a:rPr lang="es-CO" sz="1800" spc="-10" dirty="0">
              <a:latin typeface="Arial MT"/>
              <a:cs typeface="Arial MT"/>
            </a:rPr>
            <a:t>actual).</a:t>
          </a:r>
          <a:endParaRPr lang="es-CO" sz="1800" dirty="0"/>
        </a:p>
      </dgm:t>
    </dgm:pt>
    <dgm:pt modelId="{2582E4DB-79C7-4164-8D63-467257A25099}" type="parTrans" cxnId="{A6246427-FCD8-4C79-AFEF-159A84D82CB5}">
      <dgm:prSet/>
      <dgm:spPr/>
      <dgm:t>
        <a:bodyPr/>
        <a:lstStyle/>
        <a:p>
          <a:endParaRPr lang="es-CO"/>
        </a:p>
      </dgm:t>
    </dgm:pt>
    <dgm:pt modelId="{99BAE9AE-ACC0-4B78-88DA-9D07D738B2AA}" type="sibTrans" cxnId="{A6246427-FCD8-4C79-AFEF-159A84D82CB5}">
      <dgm:prSet/>
      <dgm:spPr/>
      <dgm:t>
        <a:bodyPr/>
        <a:lstStyle/>
        <a:p>
          <a:endParaRPr lang="es-CO"/>
        </a:p>
      </dgm:t>
    </dgm:pt>
    <dgm:pt modelId="{CD9270E7-721C-460E-B36E-5FDAF96AB940}" type="pres">
      <dgm:prSet presAssocID="{D6C524C0-EA9B-4B4F-B701-1ACCC301540F}" presName="Name0" presStyleCnt="0">
        <dgm:presLayoutVars>
          <dgm:dir/>
          <dgm:animLvl val="lvl"/>
          <dgm:resizeHandles val="exact"/>
        </dgm:presLayoutVars>
      </dgm:prSet>
      <dgm:spPr/>
    </dgm:pt>
    <dgm:pt modelId="{EDAE6130-F105-468C-993A-9599AD7382B3}" type="pres">
      <dgm:prSet presAssocID="{934152BF-DA83-4FAF-8741-F2BDDC0CD2E3}" presName="compositeNode" presStyleCnt="0">
        <dgm:presLayoutVars>
          <dgm:bulletEnabled val="1"/>
        </dgm:presLayoutVars>
      </dgm:prSet>
      <dgm:spPr/>
    </dgm:pt>
    <dgm:pt modelId="{454AEDB2-80EA-4C94-8ECE-28C4C3724149}" type="pres">
      <dgm:prSet presAssocID="{934152BF-DA83-4FAF-8741-F2BDDC0CD2E3}" presName="bgRect" presStyleLbl="node1" presStyleIdx="0" presStyleCnt="3" custScaleY="57126"/>
      <dgm:spPr/>
    </dgm:pt>
    <dgm:pt modelId="{D7B61B51-923A-4A5A-B98D-2C5DA1653B18}" type="pres">
      <dgm:prSet presAssocID="{934152BF-DA83-4FAF-8741-F2BDDC0CD2E3}" presName="parentNode" presStyleLbl="node1" presStyleIdx="0" presStyleCnt="3">
        <dgm:presLayoutVars>
          <dgm:chMax val="0"/>
          <dgm:bulletEnabled val="1"/>
        </dgm:presLayoutVars>
      </dgm:prSet>
      <dgm:spPr/>
    </dgm:pt>
    <dgm:pt modelId="{39C99180-464B-4EC6-8AAA-FF122BFFA561}" type="pres">
      <dgm:prSet presAssocID="{934152BF-DA83-4FAF-8741-F2BDDC0CD2E3}" presName="childNode" presStyleLbl="node1" presStyleIdx="0" presStyleCnt="3">
        <dgm:presLayoutVars>
          <dgm:bulletEnabled val="1"/>
        </dgm:presLayoutVars>
      </dgm:prSet>
      <dgm:spPr/>
    </dgm:pt>
    <dgm:pt modelId="{7E853883-F0A3-41F1-B6FC-33F85B244B14}" type="pres">
      <dgm:prSet presAssocID="{DD8D2C3D-0590-4C44-A21F-3B257A1CC52F}" presName="hSp" presStyleCnt="0"/>
      <dgm:spPr/>
    </dgm:pt>
    <dgm:pt modelId="{C95BC809-0899-4B72-BD48-37A511667467}" type="pres">
      <dgm:prSet presAssocID="{DD8D2C3D-0590-4C44-A21F-3B257A1CC52F}" presName="vProcSp" presStyleCnt="0"/>
      <dgm:spPr/>
    </dgm:pt>
    <dgm:pt modelId="{14E1A332-9EEF-41CD-9C54-A86F64A55EB2}" type="pres">
      <dgm:prSet presAssocID="{DD8D2C3D-0590-4C44-A21F-3B257A1CC52F}" presName="vSp1" presStyleCnt="0"/>
      <dgm:spPr/>
    </dgm:pt>
    <dgm:pt modelId="{2946667D-6A49-4740-BC25-981997EDF2A1}" type="pres">
      <dgm:prSet presAssocID="{DD8D2C3D-0590-4C44-A21F-3B257A1CC52F}" presName="simulatedConn" presStyleLbl="solidFgAcc1" presStyleIdx="0" presStyleCnt="2" custLinFactY="-108252" custLinFactNeighborX="-19635" custLinFactNeighborY="-200000"/>
      <dgm:spPr/>
    </dgm:pt>
    <dgm:pt modelId="{349332FC-783F-4B34-A6B1-4D5DFECEDE5B}" type="pres">
      <dgm:prSet presAssocID="{DD8D2C3D-0590-4C44-A21F-3B257A1CC52F}" presName="vSp2" presStyleCnt="0"/>
      <dgm:spPr/>
    </dgm:pt>
    <dgm:pt modelId="{5A4028C1-1D17-49A3-82CE-34A3C10331FA}" type="pres">
      <dgm:prSet presAssocID="{DD8D2C3D-0590-4C44-A21F-3B257A1CC52F}" presName="sibTrans" presStyleCnt="0"/>
      <dgm:spPr/>
    </dgm:pt>
    <dgm:pt modelId="{35730230-5864-44FC-BBC1-A51FECBB5757}" type="pres">
      <dgm:prSet presAssocID="{52C29F25-A209-4E9F-98B3-4BCBA94044DD}" presName="compositeNode" presStyleCnt="0">
        <dgm:presLayoutVars>
          <dgm:bulletEnabled val="1"/>
        </dgm:presLayoutVars>
      </dgm:prSet>
      <dgm:spPr/>
    </dgm:pt>
    <dgm:pt modelId="{F8B57D14-EAA8-4F00-9AAF-28B36AF38A6D}" type="pres">
      <dgm:prSet presAssocID="{52C29F25-A209-4E9F-98B3-4BCBA94044DD}" presName="bgRect" presStyleLbl="node1" presStyleIdx="1" presStyleCnt="3" custScaleY="58378"/>
      <dgm:spPr/>
    </dgm:pt>
    <dgm:pt modelId="{BBB1C35E-183E-4C77-A3D0-75E56F3BDBAA}" type="pres">
      <dgm:prSet presAssocID="{52C29F25-A209-4E9F-98B3-4BCBA94044DD}" presName="parentNode" presStyleLbl="node1" presStyleIdx="1" presStyleCnt="3">
        <dgm:presLayoutVars>
          <dgm:chMax val="0"/>
          <dgm:bulletEnabled val="1"/>
        </dgm:presLayoutVars>
      </dgm:prSet>
      <dgm:spPr/>
    </dgm:pt>
    <dgm:pt modelId="{D79AC22A-F7E9-43A6-8402-67630D047B2E}" type="pres">
      <dgm:prSet presAssocID="{52C29F25-A209-4E9F-98B3-4BCBA94044DD}" presName="childNode" presStyleLbl="node1" presStyleIdx="1" presStyleCnt="3">
        <dgm:presLayoutVars>
          <dgm:bulletEnabled val="1"/>
        </dgm:presLayoutVars>
      </dgm:prSet>
      <dgm:spPr/>
    </dgm:pt>
    <dgm:pt modelId="{70DC6081-C9F4-4CD5-A7B5-FE1B4E0EBB14}" type="pres">
      <dgm:prSet presAssocID="{A776215F-18C8-4A07-947B-25D07384990F}" presName="hSp" presStyleCnt="0"/>
      <dgm:spPr/>
    </dgm:pt>
    <dgm:pt modelId="{EE123CFC-58FD-4E6B-A840-9F30976ED147}" type="pres">
      <dgm:prSet presAssocID="{A776215F-18C8-4A07-947B-25D07384990F}" presName="vProcSp" presStyleCnt="0"/>
      <dgm:spPr/>
    </dgm:pt>
    <dgm:pt modelId="{7849239F-7860-4116-8775-DA889C06465F}" type="pres">
      <dgm:prSet presAssocID="{A776215F-18C8-4A07-947B-25D07384990F}" presName="vSp1" presStyleCnt="0"/>
      <dgm:spPr/>
    </dgm:pt>
    <dgm:pt modelId="{DF8E0DE6-EF00-488A-8B2F-78DCE1137DC2}" type="pres">
      <dgm:prSet presAssocID="{A776215F-18C8-4A07-947B-25D07384990F}" presName="simulatedConn" presStyleLbl="solidFgAcc1" presStyleIdx="1" presStyleCnt="2" custLinFactY="-100000" custLinFactNeighborX="-7052" custLinFactNeighborY="-171461"/>
      <dgm:spPr/>
    </dgm:pt>
    <dgm:pt modelId="{BCD74DE0-989D-40EF-B1E1-E5A22CC86C98}" type="pres">
      <dgm:prSet presAssocID="{A776215F-18C8-4A07-947B-25D07384990F}" presName="vSp2" presStyleCnt="0"/>
      <dgm:spPr/>
    </dgm:pt>
    <dgm:pt modelId="{ED545834-0141-416A-9CFD-602AC5A99997}" type="pres">
      <dgm:prSet presAssocID="{A776215F-18C8-4A07-947B-25D07384990F}" presName="sibTrans" presStyleCnt="0"/>
      <dgm:spPr/>
    </dgm:pt>
    <dgm:pt modelId="{475B5E52-63A6-49F5-8333-09FA84B75070}" type="pres">
      <dgm:prSet presAssocID="{64787D37-232E-40B5-B011-99A38A84ECED}" presName="compositeNode" presStyleCnt="0">
        <dgm:presLayoutVars>
          <dgm:bulletEnabled val="1"/>
        </dgm:presLayoutVars>
      </dgm:prSet>
      <dgm:spPr/>
    </dgm:pt>
    <dgm:pt modelId="{DBCEB885-B503-46D5-B999-FD8BD2D851AE}" type="pres">
      <dgm:prSet presAssocID="{64787D37-232E-40B5-B011-99A38A84ECED}" presName="bgRect" presStyleLbl="node1" presStyleIdx="2" presStyleCnt="3" custScaleY="61287"/>
      <dgm:spPr/>
    </dgm:pt>
    <dgm:pt modelId="{C018B485-06FC-4C7D-A76F-2791116A92D6}" type="pres">
      <dgm:prSet presAssocID="{64787D37-232E-40B5-B011-99A38A84ECED}" presName="parentNode" presStyleLbl="node1" presStyleIdx="2" presStyleCnt="3">
        <dgm:presLayoutVars>
          <dgm:chMax val="0"/>
          <dgm:bulletEnabled val="1"/>
        </dgm:presLayoutVars>
      </dgm:prSet>
      <dgm:spPr/>
    </dgm:pt>
    <dgm:pt modelId="{7766720D-83B9-4E14-A532-56D5C0F99004}" type="pres">
      <dgm:prSet presAssocID="{64787D37-232E-40B5-B011-99A38A84ECED}" presName="childNode" presStyleLbl="node1" presStyleIdx="2" presStyleCnt="3">
        <dgm:presLayoutVars>
          <dgm:bulletEnabled val="1"/>
        </dgm:presLayoutVars>
      </dgm:prSet>
      <dgm:spPr/>
    </dgm:pt>
  </dgm:ptLst>
  <dgm:cxnLst>
    <dgm:cxn modelId="{7488E020-181C-4D4C-BC57-DC7F9FE93D5D}" srcId="{D6C524C0-EA9B-4B4F-B701-1ACCC301540F}" destId="{52C29F25-A209-4E9F-98B3-4BCBA94044DD}" srcOrd="1" destOrd="0" parTransId="{70396CE9-5BD9-46C5-9D96-C9F875684181}" sibTransId="{A776215F-18C8-4A07-947B-25D07384990F}"/>
    <dgm:cxn modelId="{A6246427-FCD8-4C79-AFEF-159A84D82CB5}" srcId="{64787D37-232E-40B5-B011-99A38A84ECED}" destId="{8DBA9BDA-750E-42D7-9102-87E764DCC6F4}" srcOrd="0" destOrd="0" parTransId="{2582E4DB-79C7-4164-8D63-467257A25099}" sibTransId="{99BAE9AE-ACC0-4B78-88DA-9D07D738B2AA}"/>
    <dgm:cxn modelId="{2A8C8438-8B3B-4BFF-AFA6-1B719EE881CC}" srcId="{52C29F25-A209-4E9F-98B3-4BCBA94044DD}" destId="{4268B549-0229-466E-AE7C-014952FF2E0D}" srcOrd="0" destOrd="0" parTransId="{B1AD2118-4EA7-4A72-A5F4-6E875379B646}" sibTransId="{7B237EC4-42E6-4697-9A57-0289D763C1A9}"/>
    <dgm:cxn modelId="{A20A5D41-1F66-4DB6-AAB0-B9D6A1CEA380}" type="presOf" srcId="{52C29F25-A209-4E9F-98B3-4BCBA94044DD}" destId="{BBB1C35E-183E-4C77-A3D0-75E56F3BDBAA}" srcOrd="1" destOrd="0" presId="urn:microsoft.com/office/officeart/2005/8/layout/hProcess7"/>
    <dgm:cxn modelId="{7DF23543-D459-4413-B559-6D9D5B285371}" srcId="{934152BF-DA83-4FAF-8741-F2BDDC0CD2E3}" destId="{212BF8EC-8789-4191-82ED-0A966A40FEBB}" srcOrd="0" destOrd="0" parTransId="{07F1243C-C384-4B8B-9B29-03A9DB30AACC}" sibTransId="{2B747FAC-70B5-4B74-A42D-138398719DF7}"/>
    <dgm:cxn modelId="{27BB9E4A-A225-41FF-A2C7-69265D4A2E52}" type="presOf" srcId="{52C29F25-A209-4E9F-98B3-4BCBA94044DD}" destId="{F8B57D14-EAA8-4F00-9AAF-28B36AF38A6D}" srcOrd="0" destOrd="0" presId="urn:microsoft.com/office/officeart/2005/8/layout/hProcess7"/>
    <dgm:cxn modelId="{32D3DB4D-85AC-4315-B6D1-214412224A53}" type="presOf" srcId="{4268B549-0229-466E-AE7C-014952FF2E0D}" destId="{D79AC22A-F7E9-43A6-8402-67630D047B2E}" srcOrd="0" destOrd="0" presId="urn:microsoft.com/office/officeart/2005/8/layout/hProcess7"/>
    <dgm:cxn modelId="{9D7D0051-CC31-4AA2-BD74-4EF6C5C1350D}" srcId="{D6C524C0-EA9B-4B4F-B701-1ACCC301540F}" destId="{64787D37-232E-40B5-B011-99A38A84ECED}" srcOrd="2" destOrd="0" parTransId="{3240CCA7-A114-4E2C-B81B-D91EDD928670}" sibTransId="{6D5F3736-F5AC-4DB8-8E0E-2F4CCA7C661E}"/>
    <dgm:cxn modelId="{8E93BA81-21C6-413B-B8E6-2E3FE92A9EA1}" type="presOf" srcId="{64787D37-232E-40B5-B011-99A38A84ECED}" destId="{C018B485-06FC-4C7D-A76F-2791116A92D6}" srcOrd="1" destOrd="0" presId="urn:microsoft.com/office/officeart/2005/8/layout/hProcess7"/>
    <dgm:cxn modelId="{C3552487-A9BA-4E95-AFE7-B55503447E9B}" srcId="{D6C524C0-EA9B-4B4F-B701-1ACCC301540F}" destId="{934152BF-DA83-4FAF-8741-F2BDDC0CD2E3}" srcOrd="0" destOrd="0" parTransId="{B9830C57-F6D5-4080-AAA8-67C8D8AB33D1}" sibTransId="{DD8D2C3D-0590-4C44-A21F-3B257A1CC52F}"/>
    <dgm:cxn modelId="{82166498-427A-4B72-A015-11A4C2A3B425}" type="presOf" srcId="{212BF8EC-8789-4191-82ED-0A966A40FEBB}" destId="{39C99180-464B-4EC6-8AAA-FF122BFFA561}" srcOrd="0" destOrd="0" presId="urn:microsoft.com/office/officeart/2005/8/layout/hProcess7"/>
    <dgm:cxn modelId="{EB6B6EB3-F1AC-4AD3-BD53-ED9CEB442336}" type="presOf" srcId="{8DBA9BDA-750E-42D7-9102-87E764DCC6F4}" destId="{7766720D-83B9-4E14-A532-56D5C0F99004}" srcOrd="0" destOrd="0" presId="urn:microsoft.com/office/officeart/2005/8/layout/hProcess7"/>
    <dgm:cxn modelId="{8D5F11B4-89E2-47E1-886D-C91209A758FE}" type="presOf" srcId="{D6C524C0-EA9B-4B4F-B701-1ACCC301540F}" destId="{CD9270E7-721C-460E-B36E-5FDAF96AB940}" srcOrd="0" destOrd="0" presId="urn:microsoft.com/office/officeart/2005/8/layout/hProcess7"/>
    <dgm:cxn modelId="{52C2E8BE-5BD1-40C4-BA7D-A8D5F0A62BEA}" type="presOf" srcId="{64787D37-232E-40B5-B011-99A38A84ECED}" destId="{DBCEB885-B503-46D5-B999-FD8BD2D851AE}" srcOrd="0" destOrd="0" presId="urn:microsoft.com/office/officeart/2005/8/layout/hProcess7"/>
    <dgm:cxn modelId="{4F0DB1D8-D95B-4017-BA76-1A000CED0105}" type="presOf" srcId="{934152BF-DA83-4FAF-8741-F2BDDC0CD2E3}" destId="{D7B61B51-923A-4A5A-B98D-2C5DA1653B18}" srcOrd="1" destOrd="0" presId="urn:microsoft.com/office/officeart/2005/8/layout/hProcess7"/>
    <dgm:cxn modelId="{C444B0DF-D2A4-4819-B378-C232035E3752}" type="presOf" srcId="{934152BF-DA83-4FAF-8741-F2BDDC0CD2E3}" destId="{454AEDB2-80EA-4C94-8ECE-28C4C3724149}" srcOrd="0" destOrd="0" presId="urn:microsoft.com/office/officeart/2005/8/layout/hProcess7"/>
    <dgm:cxn modelId="{8ABCC856-93B7-4DD8-B234-DB0ABA8395BF}" type="presParOf" srcId="{CD9270E7-721C-460E-B36E-5FDAF96AB940}" destId="{EDAE6130-F105-468C-993A-9599AD7382B3}" srcOrd="0" destOrd="0" presId="urn:microsoft.com/office/officeart/2005/8/layout/hProcess7"/>
    <dgm:cxn modelId="{739141A1-36B8-4E3E-A629-FE300000B771}" type="presParOf" srcId="{EDAE6130-F105-468C-993A-9599AD7382B3}" destId="{454AEDB2-80EA-4C94-8ECE-28C4C3724149}" srcOrd="0" destOrd="0" presId="urn:microsoft.com/office/officeart/2005/8/layout/hProcess7"/>
    <dgm:cxn modelId="{14EDA73D-2C6F-42D5-8256-C39FAA7B56DE}" type="presParOf" srcId="{EDAE6130-F105-468C-993A-9599AD7382B3}" destId="{D7B61B51-923A-4A5A-B98D-2C5DA1653B18}" srcOrd="1" destOrd="0" presId="urn:microsoft.com/office/officeart/2005/8/layout/hProcess7"/>
    <dgm:cxn modelId="{9AED1668-BD44-4287-A835-FD286C9D12FB}" type="presParOf" srcId="{EDAE6130-F105-468C-993A-9599AD7382B3}" destId="{39C99180-464B-4EC6-8AAA-FF122BFFA561}" srcOrd="2" destOrd="0" presId="urn:microsoft.com/office/officeart/2005/8/layout/hProcess7"/>
    <dgm:cxn modelId="{1F896CFD-C1C3-4201-A891-9DCA7D25C036}" type="presParOf" srcId="{CD9270E7-721C-460E-B36E-5FDAF96AB940}" destId="{7E853883-F0A3-41F1-B6FC-33F85B244B14}" srcOrd="1" destOrd="0" presId="urn:microsoft.com/office/officeart/2005/8/layout/hProcess7"/>
    <dgm:cxn modelId="{68412D21-98E3-4BDD-8D86-50900CCA983F}" type="presParOf" srcId="{CD9270E7-721C-460E-B36E-5FDAF96AB940}" destId="{C95BC809-0899-4B72-BD48-37A511667467}" srcOrd="2" destOrd="0" presId="urn:microsoft.com/office/officeart/2005/8/layout/hProcess7"/>
    <dgm:cxn modelId="{0648339F-60FA-4C6C-892E-8163114A9389}" type="presParOf" srcId="{C95BC809-0899-4B72-BD48-37A511667467}" destId="{14E1A332-9EEF-41CD-9C54-A86F64A55EB2}" srcOrd="0" destOrd="0" presId="urn:microsoft.com/office/officeart/2005/8/layout/hProcess7"/>
    <dgm:cxn modelId="{B429D9F0-E971-46F0-800B-F4BAF7FBD4C4}" type="presParOf" srcId="{C95BC809-0899-4B72-BD48-37A511667467}" destId="{2946667D-6A49-4740-BC25-981997EDF2A1}" srcOrd="1" destOrd="0" presId="urn:microsoft.com/office/officeart/2005/8/layout/hProcess7"/>
    <dgm:cxn modelId="{1C640CBD-5E23-4BE6-B733-E28D70EE2348}" type="presParOf" srcId="{C95BC809-0899-4B72-BD48-37A511667467}" destId="{349332FC-783F-4B34-A6B1-4D5DFECEDE5B}" srcOrd="2" destOrd="0" presId="urn:microsoft.com/office/officeart/2005/8/layout/hProcess7"/>
    <dgm:cxn modelId="{14CD4089-85C5-46F2-BB7A-0A0EBBAD7832}" type="presParOf" srcId="{CD9270E7-721C-460E-B36E-5FDAF96AB940}" destId="{5A4028C1-1D17-49A3-82CE-34A3C10331FA}" srcOrd="3" destOrd="0" presId="urn:microsoft.com/office/officeart/2005/8/layout/hProcess7"/>
    <dgm:cxn modelId="{AE9EECBE-2860-46E5-9FEB-7E57325DD058}" type="presParOf" srcId="{CD9270E7-721C-460E-B36E-5FDAF96AB940}" destId="{35730230-5864-44FC-BBC1-A51FECBB5757}" srcOrd="4" destOrd="0" presId="urn:microsoft.com/office/officeart/2005/8/layout/hProcess7"/>
    <dgm:cxn modelId="{243A3F3D-8681-4B28-98C5-F448BA533075}" type="presParOf" srcId="{35730230-5864-44FC-BBC1-A51FECBB5757}" destId="{F8B57D14-EAA8-4F00-9AAF-28B36AF38A6D}" srcOrd="0" destOrd="0" presId="urn:microsoft.com/office/officeart/2005/8/layout/hProcess7"/>
    <dgm:cxn modelId="{B9ECF59F-EE70-43A7-832E-B479838BEAC8}" type="presParOf" srcId="{35730230-5864-44FC-BBC1-A51FECBB5757}" destId="{BBB1C35E-183E-4C77-A3D0-75E56F3BDBAA}" srcOrd="1" destOrd="0" presId="urn:microsoft.com/office/officeart/2005/8/layout/hProcess7"/>
    <dgm:cxn modelId="{6FAA358C-F319-4CA0-928A-620A83CA2F4C}" type="presParOf" srcId="{35730230-5864-44FC-BBC1-A51FECBB5757}" destId="{D79AC22A-F7E9-43A6-8402-67630D047B2E}" srcOrd="2" destOrd="0" presId="urn:microsoft.com/office/officeart/2005/8/layout/hProcess7"/>
    <dgm:cxn modelId="{BA8FD671-A3EB-43CB-A0DB-EA38F7A66DB5}" type="presParOf" srcId="{CD9270E7-721C-460E-B36E-5FDAF96AB940}" destId="{70DC6081-C9F4-4CD5-A7B5-FE1B4E0EBB14}" srcOrd="5" destOrd="0" presId="urn:microsoft.com/office/officeart/2005/8/layout/hProcess7"/>
    <dgm:cxn modelId="{6D1A1D25-88FC-44C4-8CC0-B13C576F00CE}" type="presParOf" srcId="{CD9270E7-721C-460E-B36E-5FDAF96AB940}" destId="{EE123CFC-58FD-4E6B-A840-9F30976ED147}" srcOrd="6" destOrd="0" presId="urn:microsoft.com/office/officeart/2005/8/layout/hProcess7"/>
    <dgm:cxn modelId="{3B428958-15FB-4BA4-86E6-08A0D5B0C2AB}" type="presParOf" srcId="{EE123CFC-58FD-4E6B-A840-9F30976ED147}" destId="{7849239F-7860-4116-8775-DA889C06465F}" srcOrd="0" destOrd="0" presId="urn:microsoft.com/office/officeart/2005/8/layout/hProcess7"/>
    <dgm:cxn modelId="{FB76D4C1-899E-49AC-AF24-990005C203BD}" type="presParOf" srcId="{EE123CFC-58FD-4E6B-A840-9F30976ED147}" destId="{DF8E0DE6-EF00-488A-8B2F-78DCE1137DC2}" srcOrd="1" destOrd="0" presId="urn:microsoft.com/office/officeart/2005/8/layout/hProcess7"/>
    <dgm:cxn modelId="{74FF3254-7675-4702-A386-48A0E2DBE710}" type="presParOf" srcId="{EE123CFC-58FD-4E6B-A840-9F30976ED147}" destId="{BCD74DE0-989D-40EF-B1E1-E5A22CC86C98}" srcOrd="2" destOrd="0" presId="urn:microsoft.com/office/officeart/2005/8/layout/hProcess7"/>
    <dgm:cxn modelId="{E87553D1-A10D-46EA-9E19-853718FAAC76}" type="presParOf" srcId="{CD9270E7-721C-460E-B36E-5FDAF96AB940}" destId="{ED545834-0141-416A-9CFD-602AC5A99997}" srcOrd="7" destOrd="0" presId="urn:microsoft.com/office/officeart/2005/8/layout/hProcess7"/>
    <dgm:cxn modelId="{96497654-2FD2-4744-B0F9-D81659FDD50A}" type="presParOf" srcId="{CD9270E7-721C-460E-B36E-5FDAF96AB940}" destId="{475B5E52-63A6-49F5-8333-09FA84B75070}" srcOrd="8" destOrd="0" presId="urn:microsoft.com/office/officeart/2005/8/layout/hProcess7"/>
    <dgm:cxn modelId="{9A76ADC5-C31B-4F70-9D09-5747CCF3DB7E}" type="presParOf" srcId="{475B5E52-63A6-49F5-8333-09FA84B75070}" destId="{DBCEB885-B503-46D5-B999-FD8BD2D851AE}" srcOrd="0" destOrd="0" presId="urn:microsoft.com/office/officeart/2005/8/layout/hProcess7"/>
    <dgm:cxn modelId="{99D4D7F9-6451-4861-9781-80189E086853}" type="presParOf" srcId="{475B5E52-63A6-49F5-8333-09FA84B75070}" destId="{C018B485-06FC-4C7D-A76F-2791116A92D6}" srcOrd="1" destOrd="0" presId="urn:microsoft.com/office/officeart/2005/8/layout/hProcess7"/>
    <dgm:cxn modelId="{A6C47203-0DC3-42A9-A2F8-20BFBDA8DD89}" type="presParOf" srcId="{475B5E52-63A6-49F5-8333-09FA84B75070}" destId="{7766720D-83B9-4E14-A532-56D5C0F99004}" srcOrd="2" destOrd="0" presId="urn:microsoft.com/office/officeart/2005/8/layout/hProcess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54AEDB2-80EA-4C94-8ECE-28C4C3724149}">
      <dsp:nvSpPr>
        <dsp:cNvPr id="0" name=""/>
        <dsp:cNvSpPr/>
      </dsp:nvSpPr>
      <dsp:spPr>
        <a:xfrm>
          <a:off x="844" y="500789"/>
          <a:ext cx="3633069" cy="2490512"/>
        </a:xfrm>
        <a:prstGeom prst="roundRect">
          <a:avLst>
            <a:gd name="adj" fmla="val 5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None/>
          </a:pPr>
          <a:r>
            <a:rPr lang="es-ES" sz="1600" kern="1200" dirty="0"/>
            <a:t>Método  basado en valores</a:t>
          </a:r>
          <a:endParaRPr lang="es-CO" sz="1600" kern="1200" dirty="0"/>
        </a:p>
      </dsp:txBody>
      <dsp:txXfrm rot="16200000">
        <a:off x="-656959" y="1158593"/>
        <a:ext cx="2042220" cy="726613"/>
      </dsp:txXfrm>
    </dsp:sp>
    <dsp:sp modelId="{39C99180-464B-4EC6-8AAA-FF122BFFA561}">
      <dsp:nvSpPr>
        <dsp:cNvPr id="0" name=""/>
        <dsp:cNvSpPr/>
      </dsp:nvSpPr>
      <dsp:spPr>
        <a:xfrm>
          <a:off x="727458" y="500789"/>
          <a:ext cx="2706636" cy="2490512"/>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s-CO" sz="1800" kern="1200" dirty="0">
              <a:latin typeface="Arial MT"/>
              <a:cs typeface="Arial MT"/>
            </a:rPr>
            <a:t>Se centra</a:t>
          </a:r>
          <a:r>
            <a:rPr lang="es-CO" sz="1800" kern="1200" spc="-45" dirty="0">
              <a:latin typeface="Arial MT"/>
              <a:cs typeface="Arial MT"/>
            </a:rPr>
            <a:t> </a:t>
          </a:r>
          <a:r>
            <a:rPr lang="es-CO" sz="1800" kern="1200" dirty="0">
              <a:latin typeface="Arial MT"/>
              <a:cs typeface="Arial MT"/>
            </a:rPr>
            <a:t>en</a:t>
          </a:r>
          <a:r>
            <a:rPr lang="es-CO" sz="1800" kern="1200" spc="-15" dirty="0">
              <a:latin typeface="Arial MT"/>
              <a:cs typeface="Arial MT"/>
            </a:rPr>
            <a:t> </a:t>
          </a:r>
          <a:r>
            <a:rPr lang="es-CO" sz="1800" kern="1200" dirty="0">
              <a:latin typeface="Arial MT"/>
              <a:cs typeface="Arial MT"/>
            </a:rPr>
            <a:t>aprender</a:t>
          </a:r>
          <a:r>
            <a:rPr lang="es-CO" sz="1800" kern="1200" spc="-55" dirty="0">
              <a:latin typeface="Arial MT"/>
              <a:cs typeface="Arial MT"/>
            </a:rPr>
            <a:t> </a:t>
          </a:r>
          <a:r>
            <a:rPr lang="es-CO" sz="1800" kern="1200" dirty="0">
              <a:latin typeface="Arial MT"/>
              <a:cs typeface="Arial MT"/>
            </a:rPr>
            <a:t>una</a:t>
          </a:r>
          <a:r>
            <a:rPr lang="es-CO" sz="1800" kern="1200" spc="-30" dirty="0">
              <a:latin typeface="Arial MT"/>
              <a:cs typeface="Arial MT"/>
            </a:rPr>
            <a:t> </a:t>
          </a:r>
          <a:r>
            <a:rPr lang="es-CO" sz="1800" i="1" kern="1200" dirty="0">
              <a:latin typeface="Arial"/>
              <a:cs typeface="Arial"/>
            </a:rPr>
            <a:t>función</a:t>
          </a:r>
          <a:r>
            <a:rPr lang="es-CO" sz="1800" i="1" kern="1200" spc="-25" dirty="0">
              <a:latin typeface="Arial"/>
              <a:cs typeface="Arial"/>
            </a:rPr>
            <a:t> </a:t>
          </a:r>
          <a:r>
            <a:rPr lang="es-CO" sz="1800" i="1" kern="1200" dirty="0">
              <a:latin typeface="Arial"/>
              <a:cs typeface="Arial"/>
            </a:rPr>
            <a:t>de</a:t>
          </a:r>
          <a:r>
            <a:rPr lang="es-CO" sz="1800" i="1" kern="1200" spc="-15" dirty="0">
              <a:latin typeface="Arial"/>
              <a:cs typeface="Arial"/>
            </a:rPr>
            <a:t> </a:t>
          </a:r>
          <a:r>
            <a:rPr lang="es-CO" sz="1800" i="1" kern="1200" dirty="0">
              <a:latin typeface="Arial"/>
              <a:cs typeface="Arial"/>
            </a:rPr>
            <a:t>valor</a:t>
          </a:r>
          <a:r>
            <a:rPr lang="es-CO" sz="1800" i="1" kern="1200" spc="-30" dirty="0">
              <a:latin typeface="Arial"/>
              <a:cs typeface="Arial"/>
            </a:rPr>
            <a:t> </a:t>
          </a:r>
          <a:r>
            <a:rPr lang="es-CO" sz="1800" i="1" kern="1200" dirty="0">
              <a:latin typeface="Arial"/>
              <a:cs typeface="Arial"/>
            </a:rPr>
            <a:t>de</a:t>
          </a:r>
          <a:r>
            <a:rPr lang="es-CO" sz="1800" i="1" kern="1200" spc="-25" dirty="0">
              <a:latin typeface="Arial"/>
              <a:cs typeface="Arial"/>
            </a:rPr>
            <a:t> </a:t>
          </a:r>
          <a:r>
            <a:rPr lang="es-CO" sz="1800" i="1" kern="1200" dirty="0">
              <a:latin typeface="Arial"/>
              <a:cs typeface="Arial"/>
            </a:rPr>
            <a:t>acción</a:t>
          </a:r>
          <a:r>
            <a:rPr lang="es-CO" sz="1800" i="1" kern="1200" spc="-35" dirty="0">
              <a:latin typeface="Arial"/>
              <a:cs typeface="Arial"/>
            </a:rPr>
            <a:t> </a:t>
          </a:r>
          <a:r>
            <a:rPr lang="es-CO" sz="1800" kern="1200" spc="-10" dirty="0">
              <a:latin typeface="Arial MT"/>
              <a:cs typeface="Arial MT"/>
            </a:rPr>
            <a:t>Q(</a:t>
          </a:r>
          <a:r>
            <a:rPr lang="es-CO" sz="1800" kern="1200" spc="-10" dirty="0" err="1">
              <a:latin typeface="Arial MT"/>
              <a:cs typeface="Arial MT"/>
            </a:rPr>
            <a:t>s,a</a:t>
          </a:r>
          <a:r>
            <a:rPr lang="es-CO" sz="1800" kern="1200" spc="-10" dirty="0">
              <a:latin typeface="Arial MT"/>
              <a:cs typeface="Arial MT"/>
            </a:rPr>
            <a:t>)</a:t>
          </a:r>
          <a:endParaRPr lang="es-CO" sz="1800" kern="1200" dirty="0"/>
        </a:p>
      </dsp:txBody>
      <dsp:txXfrm>
        <a:off x="727458" y="500789"/>
        <a:ext cx="2706636" cy="2490512"/>
      </dsp:txXfrm>
    </dsp:sp>
    <dsp:sp modelId="{F8B57D14-EAA8-4F00-9AAF-28B36AF38A6D}">
      <dsp:nvSpPr>
        <dsp:cNvPr id="0" name=""/>
        <dsp:cNvSpPr/>
      </dsp:nvSpPr>
      <dsp:spPr>
        <a:xfrm>
          <a:off x="3761071" y="500789"/>
          <a:ext cx="3633069" cy="2545095"/>
        </a:xfrm>
        <a:prstGeom prst="roundRect">
          <a:avLst>
            <a:gd name="adj" fmla="val 5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None/>
          </a:pPr>
          <a:r>
            <a:rPr lang="es-ES" sz="1600" kern="1200" dirty="0" err="1"/>
            <a:t>Actualizacion</a:t>
          </a:r>
          <a:r>
            <a:rPr lang="es-ES" sz="1600" kern="1200" dirty="0"/>
            <a:t> interactiva</a:t>
          </a:r>
          <a:endParaRPr lang="es-CO" sz="1600" kern="1200" dirty="0"/>
        </a:p>
      </dsp:txBody>
      <dsp:txXfrm rot="16200000">
        <a:off x="3080888" y="1180972"/>
        <a:ext cx="2086978" cy="726613"/>
      </dsp:txXfrm>
    </dsp:sp>
    <dsp:sp modelId="{2946667D-6A49-4740-BC25-981997EDF2A1}">
      <dsp:nvSpPr>
        <dsp:cNvPr id="0" name=""/>
        <dsp:cNvSpPr/>
      </dsp:nvSpPr>
      <dsp:spPr>
        <a:xfrm rot="5400000">
          <a:off x="3351878" y="2674205"/>
          <a:ext cx="640709" cy="544960"/>
        </a:xfrm>
        <a:prstGeom prst="flowChartExtra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D79AC22A-F7E9-43A6-8402-67630D047B2E}">
      <dsp:nvSpPr>
        <dsp:cNvPr id="0" name=""/>
        <dsp:cNvSpPr/>
      </dsp:nvSpPr>
      <dsp:spPr>
        <a:xfrm>
          <a:off x="4487685" y="500789"/>
          <a:ext cx="2706636" cy="2545095"/>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s-CO" sz="1800" kern="1200" dirty="0">
              <a:latin typeface="Arial MT"/>
              <a:cs typeface="Arial MT"/>
            </a:rPr>
            <a:t>La</a:t>
          </a:r>
          <a:r>
            <a:rPr lang="es-CO" sz="1800" kern="1200" spc="-25" dirty="0">
              <a:latin typeface="Arial MT"/>
              <a:cs typeface="Arial MT"/>
            </a:rPr>
            <a:t>  </a:t>
          </a:r>
          <a:r>
            <a:rPr lang="es-CO" sz="1800" kern="1200" dirty="0">
              <a:latin typeface="Arial MT"/>
              <a:cs typeface="Arial MT"/>
            </a:rPr>
            <a:t>función</a:t>
          </a:r>
          <a:r>
            <a:rPr lang="es-CO" sz="1800" kern="1200" spc="490" dirty="0">
              <a:latin typeface="Arial MT"/>
              <a:cs typeface="Arial MT"/>
            </a:rPr>
            <a:t> </a:t>
          </a:r>
          <a:r>
            <a:rPr lang="es-CO" sz="1800" kern="1200" dirty="0">
              <a:latin typeface="Arial MT"/>
              <a:cs typeface="Arial MT"/>
            </a:rPr>
            <a:t>Q</a:t>
          </a:r>
          <a:r>
            <a:rPr lang="es-CO" sz="1800" kern="1200" spc="484" dirty="0">
              <a:latin typeface="Arial MT"/>
              <a:cs typeface="Arial MT"/>
            </a:rPr>
            <a:t> </a:t>
          </a:r>
          <a:r>
            <a:rPr lang="es-CO" sz="1800" kern="1200" dirty="0">
              <a:latin typeface="Arial MT"/>
              <a:cs typeface="Arial MT"/>
            </a:rPr>
            <a:t>se</a:t>
          </a:r>
          <a:r>
            <a:rPr lang="es-CO" sz="1800" kern="1200" spc="484" dirty="0">
              <a:latin typeface="Arial MT"/>
              <a:cs typeface="Arial MT"/>
            </a:rPr>
            <a:t> </a:t>
          </a:r>
          <a:r>
            <a:rPr lang="es-CO" sz="1800" kern="1200" dirty="0">
              <a:latin typeface="Arial MT"/>
              <a:cs typeface="Arial MT"/>
            </a:rPr>
            <a:t>actualiza</a:t>
          </a:r>
          <a:r>
            <a:rPr lang="es-CO" sz="1800" kern="1200" spc="495" dirty="0">
              <a:latin typeface="Arial MT"/>
              <a:cs typeface="Arial MT"/>
            </a:rPr>
            <a:t> </a:t>
          </a:r>
          <a:r>
            <a:rPr lang="es-CO" sz="1800" kern="1200" dirty="0">
              <a:latin typeface="Arial MT"/>
              <a:cs typeface="Arial MT"/>
            </a:rPr>
            <a:t>de</a:t>
          </a:r>
          <a:r>
            <a:rPr lang="es-CO" sz="1800" kern="1200" spc="484" dirty="0">
              <a:latin typeface="Arial MT"/>
              <a:cs typeface="Arial MT"/>
            </a:rPr>
            <a:t> </a:t>
          </a:r>
          <a:r>
            <a:rPr lang="es-CO" sz="1800" kern="1200" dirty="0">
              <a:latin typeface="Arial MT"/>
              <a:cs typeface="Arial MT"/>
            </a:rPr>
            <a:t>forma</a:t>
          </a:r>
          <a:r>
            <a:rPr lang="es-CO" sz="1800" kern="1200" spc="495" dirty="0">
              <a:latin typeface="Arial MT"/>
              <a:cs typeface="Arial MT"/>
            </a:rPr>
            <a:t> </a:t>
          </a:r>
          <a:r>
            <a:rPr lang="es-CO" sz="1800" kern="1200" dirty="0">
              <a:latin typeface="Arial MT"/>
              <a:cs typeface="Arial MT"/>
            </a:rPr>
            <a:t>iterativa</a:t>
          </a:r>
          <a:r>
            <a:rPr lang="es-CO" sz="1800" kern="1200" spc="-25" dirty="0">
              <a:latin typeface="Arial MT"/>
              <a:cs typeface="Arial MT"/>
            </a:rPr>
            <a:t>  </a:t>
          </a:r>
          <a:r>
            <a:rPr lang="es-CO" sz="1800" kern="1200" dirty="0">
              <a:latin typeface="Arial MT"/>
              <a:cs typeface="Arial MT"/>
            </a:rPr>
            <a:t>con</a:t>
          </a:r>
          <a:r>
            <a:rPr lang="es-CO" sz="1800" kern="1200" spc="-25" dirty="0">
              <a:latin typeface="Arial MT"/>
              <a:cs typeface="Arial MT"/>
            </a:rPr>
            <a:t>  </a:t>
          </a:r>
          <a:r>
            <a:rPr lang="es-CO" sz="1800" kern="1200" dirty="0">
              <a:latin typeface="Arial MT"/>
              <a:cs typeface="Arial MT"/>
            </a:rPr>
            <a:t>cada</a:t>
          </a:r>
          <a:r>
            <a:rPr lang="es-CO" sz="1800" kern="1200" spc="484" dirty="0">
              <a:latin typeface="Arial MT"/>
              <a:cs typeface="Arial MT"/>
            </a:rPr>
            <a:t> </a:t>
          </a:r>
          <a:r>
            <a:rPr lang="es-CO" sz="1800" kern="1200" dirty="0">
              <a:latin typeface="Arial MT"/>
              <a:cs typeface="Arial MT"/>
            </a:rPr>
            <a:t>acción</a:t>
          </a:r>
          <a:r>
            <a:rPr lang="es-CO" sz="1800" kern="1200" spc="-25" dirty="0">
              <a:latin typeface="Arial MT"/>
              <a:cs typeface="Arial MT"/>
            </a:rPr>
            <a:t>  </a:t>
          </a:r>
          <a:r>
            <a:rPr lang="es-CO" sz="1800" kern="1200" dirty="0">
              <a:latin typeface="Arial MT"/>
              <a:cs typeface="Arial MT"/>
            </a:rPr>
            <a:t>que</a:t>
          </a:r>
          <a:r>
            <a:rPr lang="es-CO" sz="1800" kern="1200" spc="495" dirty="0">
              <a:latin typeface="Arial MT"/>
              <a:cs typeface="Arial MT"/>
            </a:rPr>
            <a:t> </a:t>
          </a:r>
          <a:r>
            <a:rPr lang="es-CO" sz="1800" kern="1200" spc="-25" dirty="0">
              <a:latin typeface="Arial MT"/>
              <a:cs typeface="Arial MT"/>
            </a:rPr>
            <a:t>el </a:t>
          </a:r>
          <a:r>
            <a:rPr lang="es-CO" sz="1800" kern="1200" dirty="0">
              <a:latin typeface="Arial MT"/>
              <a:cs typeface="Arial MT"/>
            </a:rPr>
            <a:t>agente</a:t>
          </a:r>
          <a:r>
            <a:rPr lang="es-CO" sz="1800" kern="1200" spc="90" dirty="0">
              <a:latin typeface="Arial MT"/>
              <a:cs typeface="Arial MT"/>
            </a:rPr>
            <a:t>  </a:t>
          </a:r>
          <a:r>
            <a:rPr lang="es-CO" sz="1800" kern="1200" dirty="0">
              <a:latin typeface="Arial MT"/>
              <a:cs typeface="Arial MT"/>
            </a:rPr>
            <a:t>toma,</a:t>
          </a:r>
          <a:r>
            <a:rPr lang="es-CO" sz="1800" kern="1200" spc="85" dirty="0">
              <a:latin typeface="Arial MT"/>
              <a:cs typeface="Arial MT"/>
            </a:rPr>
            <a:t>  </a:t>
          </a:r>
          <a:r>
            <a:rPr lang="es-CO" sz="1800" kern="1200" dirty="0">
              <a:latin typeface="Arial MT"/>
              <a:cs typeface="Arial MT"/>
            </a:rPr>
            <a:t>utilizando</a:t>
          </a:r>
          <a:r>
            <a:rPr lang="es-CO" sz="1800" kern="1200" spc="90" dirty="0">
              <a:latin typeface="Arial MT"/>
              <a:cs typeface="Arial MT"/>
            </a:rPr>
            <a:t>  </a:t>
          </a:r>
          <a:r>
            <a:rPr lang="es-CO" sz="1800" kern="1200" dirty="0">
              <a:latin typeface="Arial MT"/>
              <a:cs typeface="Arial MT"/>
            </a:rPr>
            <a:t>una</a:t>
          </a:r>
          <a:r>
            <a:rPr lang="es-CO" sz="1800" kern="1200" spc="90" dirty="0">
              <a:latin typeface="Arial MT"/>
              <a:cs typeface="Arial MT"/>
            </a:rPr>
            <a:t>  </a:t>
          </a:r>
          <a:r>
            <a:rPr lang="es-CO" sz="1800" kern="1200" dirty="0">
              <a:latin typeface="Arial MT"/>
              <a:cs typeface="Arial MT"/>
            </a:rPr>
            <a:t>fórmula</a:t>
          </a:r>
          <a:r>
            <a:rPr lang="es-CO" sz="1800" kern="1200" spc="85" dirty="0">
              <a:latin typeface="Arial MT"/>
              <a:cs typeface="Arial MT"/>
            </a:rPr>
            <a:t>  </a:t>
          </a:r>
          <a:r>
            <a:rPr lang="es-CO" sz="1800" kern="1200" dirty="0">
              <a:latin typeface="Arial MT"/>
              <a:cs typeface="Arial MT"/>
            </a:rPr>
            <a:t>de</a:t>
          </a:r>
          <a:r>
            <a:rPr lang="es-CO" sz="1800" kern="1200" spc="90" dirty="0">
              <a:latin typeface="Arial MT"/>
              <a:cs typeface="Arial MT"/>
            </a:rPr>
            <a:t>  </a:t>
          </a:r>
          <a:r>
            <a:rPr lang="es-CO" sz="1800" kern="1200" dirty="0">
              <a:latin typeface="Arial MT"/>
              <a:cs typeface="Arial MT"/>
            </a:rPr>
            <a:t>actualización</a:t>
          </a:r>
          <a:r>
            <a:rPr lang="es-CO" sz="1800" kern="1200" spc="85" dirty="0">
              <a:latin typeface="Arial MT"/>
              <a:cs typeface="Arial MT"/>
            </a:rPr>
            <a:t>  </a:t>
          </a:r>
          <a:r>
            <a:rPr lang="es-CO" sz="1800" kern="1200" dirty="0">
              <a:latin typeface="Arial MT"/>
              <a:cs typeface="Arial MT"/>
            </a:rPr>
            <a:t>basada</a:t>
          </a:r>
          <a:r>
            <a:rPr lang="es-CO" sz="1800" kern="1200" spc="90" dirty="0">
              <a:latin typeface="Arial MT"/>
              <a:cs typeface="Arial MT"/>
            </a:rPr>
            <a:t>  </a:t>
          </a:r>
          <a:r>
            <a:rPr lang="es-CO" sz="1800" kern="1200" dirty="0">
              <a:latin typeface="Arial MT"/>
              <a:cs typeface="Arial MT"/>
            </a:rPr>
            <a:t>en</a:t>
          </a:r>
          <a:r>
            <a:rPr lang="es-CO" sz="1800" kern="1200" spc="90" dirty="0">
              <a:latin typeface="Arial MT"/>
              <a:cs typeface="Arial MT"/>
            </a:rPr>
            <a:t>  </a:t>
          </a:r>
          <a:r>
            <a:rPr lang="es-CO" sz="1800" kern="1200" spc="-25" dirty="0">
              <a:latin typeface="Arial MT"/>
              <a:cs typeface="Arial MT"/>
            </a:rPr>
            <a:t>la </a:t>
          </a:r>
          <a:r>
            <a:rPr lang="es-CO" sz="1800" kern="1200" dirty="0">
              <a:latin typeface="Arial MT"/>
              <a:cs typeface="Arial MT"/>
            </a:rPr>
            <a:t>recompensa</a:t>
          </a:r>
          <a:r>
            <a:rPr lang="es-CO" sz="1800" kern="1200" spc="-65" dirty="0">
              <a:latin typeface="Arial MT"/>
              <a:cs typeface="Arial MT"/>
            </a:rPr>
            <a:t> </a:t>
          </a:r>
          <a:r>
            <a:rPr lang="es-CO" sz="1800" kern="1200" dirty="0">
              <a:latin typeface="Arial MT"/>
              <a:cs typeface="Arial MT"/>
            </a:rPr>
            <a:t>inmediata</a:t>
          </a:r>
          <a:r>
            <a:rPr lang="es-CO" sz="1800" kern="1200" spc="-30" dirty="0">
              <a:latin typeface="Arial MT"/>
              <a:cs typeface="Arial MT"/>
            </a:rPr>
            <a:t> </a:t>
          </a:r>
          <a:r>
            <a:rPr lang="es-CO" sz="1800" kern="1200" dirty="0">
              <a:latin typeface="Arial MT"/>
              <a:cs typeface="Arial MT"/>
            </a:rPr>
            <a:t>y</a:t>
          </a:r>
          <a:r>
            <a:rPr lang="es-CO" sz="1800" kern="1200" spc="-25" dirty="0">
              <a:latin typeface="Arial MT"/>
              <a:cs typeface="Arial MT"/>
            </a:rPr>
            <a:t> </a:t>
          </a:r>
          <a:r>
            <a:rPr lang="es-CO" sz="1800" kern="1200" dirty="0">
              <a:latin typeface="Arial MT"/>
              <a:cs typeface="Arial MT"/>
            </a:rPr>
            <a:t>el</a:t>
          </a:r>
          <a:r>
            <a:rPr lang="es-CO" sz="1800" kern="1200" spc="-20" dirty="0">
              <a:latin typeface="Arial MT"/>
              <a:cs typeface="Arial MT"/>
            </a:rPr>
            <a:t> </a:t>
          </a:r>
          <a:r>
            <a:rPr lang="es-CO" sz="1800" kern="1200" dirty="0">
              <a:latin typeface="Arial MT"/>
              <a:cs typeface="Arial MT"/>
            </a:rPr>
            <a:t>valor</a:t>
          </a:r>
          <a:r>
            <a:rPr lang="es-CO" sz="1800" kern="1200" spc="-20" dirty="0">
              <a:latin typeface="Arial MT"/>
              <a:cs typeface="Arial MT"/>
            </a:rPr>
            <a:t> </a:t>
          </a:r>
          <a:r>
            <a:rPr lang="es-CO" sz="1800" kern="1200" dirty="0">
              <a:latin typeface="Arial MT"/>
              <a:cs typeface="Arial MT"/>
            </a:rPr>
            <a:t>Q</a:t>
          </a:r>
          <a:r>
            <a:rPr lang="es-CO" sz="1800" kern="1200" spc="-30" dirty="0">
              <a:latin typeface="Arial MT"/>
              <a:cs typeface="Arial MT"/>
            </a:rPr>
            <a:t> </a:t>
          </a:r>
          <a:r>
            <a:rPr lang="es-CO" sz="1800" kern="1200" dirty="0">
              <a:latin typeface="Arial MT"/>
              <a:cs typeface="Arial MT"/>
            </a:rPr>
            <a:t>del</a:t>
          </a:r>
          <a:r>
            <a:rPr lang="es-CO" sz="1800" kern="1200" spc="-15" dirty="0">
              <a:latin typeface="Arial MT"/>
              <a:cs typeface="Arial MT"/>
            </a:rPr>
            <a:t> </a:t>
          </a:r>
          <a:r>
            <a:rPr lang="es-CO" sz="1800" kern="1200" dirty="0">
              <a:latin typeface="Arial MT"/>
              <a:cs typeface="Arial MT"/>
            </a:rPr>
            <a:t>siguiente</a:t>
          </a:r>
          <a:r>
            <a:rPr lang="es-CO" sz="1800" kern="1200" spc="-40" dirty="0">
              <a:latin typeface="Arial MT"/>
              <a:cs typeface="Arial MT"/>
            </a:rPr>
            <a:t> </a:t>
          </a:r>
          <a:r>
            <a:rPr lang="es-CO" sz="1800" kern="1200" spc="-10" dirty="0">
              <a:latin typeface="Arial MT"/>
              <a:cs typeface="Arial MT"/>
            </a:rPr>
            <a:t>estado</a:t>
          </a:r>
          <a:endParaRPr lang="es-CO" sz="1800" kern="1200" dirty="0"/>
        </a:p>
      </dsp:txBody>
      <dsp:txXfrm>
        <a:off x="4487685" y="500789"/>
        <a:ext cx="2706636" cy="2545095"/>
      </dsp:txXfrm>
    </dsp:sp>
    <dsp:sp modelId="{DBCEB885-B503-46D5-B999-FD8BD2D851AE}">
      <dsp:nvSpPr>
        <dsp:cNvPr id="0" name=""/>
        <dsp:cNvSpPr/>
      </dsp:nvSpPr>
      <dsp:spPr>
        <a:xfrm>
          <a:off x="7521298" y="500789"/>
          <a:ext cx="3633069" cy="2671919"/>
        </a:xfrm>
        <a:prstGeom prst="roundRect">
          <a:avLst>
            <a:gd name="adj" fmla="val 5000"/>
          </a:avLst>
        </a:prstGeom>
        <a:gradFill rotWithShape="0">
          <a:gsLst>
            <a:gs pos="0">
              <a:schemeClr val="accent1">
                <a:hueOff val="0"/>
                <a:satOff val="0"/>
                <a:lumOff val="0"/>
                <a:alphaOff val="0"/>
                <a:lumMod val="110000"/>
                <a:satMod val="105000"/>
                <a:tint val="67000"/>
              </a:schemeClr>
            </a:gs>
            <a:gs pos="50000">
              <a:schemeClr val="accent1">
                <a:hueOff val="0"/>
                <a:satOff val="0"/>
                <a:lumOff val="0"/>
                <a:alphaOff val="0"/>
                <a:lumMod val="105000"/>
                <a:satMod val="103000"/>
                <a:tint val="73000"/>
              </a:schemeClr>
            </a:gs>
            <a:gs pos="100000">
              <a:schemeClr val="accent1">
                <a:hueOff val="0"/>
                <a:satOff val="0"/>
                <a:lumOff val="0"/>
                <a:alphaOff val="0"/>
                <a:lumMod val="105000"/>
                <a:satMod val="109000"/>
                <a:tint val="81000"/>
              </a:schemeClr>
            </a:gs>
          </a:gsLst>
          <a:lin ang="5400000" scaled="0"/>
        </a:gradFill>
        <a:ln>
          <a:noFill/>
        </a:ln>
        <a:effectLst/>
        <a:scene3d>
          <a:camera prst="orthographicFront"/>
          <a:lightRig rig="flat" dir="t"/>
        </a:scene3d>
        <a:sp3d prstMaterial="dkEdge">
          <a:bevelT w="8200" h="38100"/>
        </a:sp3d>
      </dsp:spPr>
      <dsp:style>
        <a:lnRef idx="0">
          <a:scrgbClr r="0" g="0" b="0"/>
        </a:lnRef>
        <a:fillRef idx="2">
          <a:scrgbClr r="0" g="0" b="0"/>
        </a:fillRef>
        <a:effectRef idx="1">
          <a:scrgbClr r="0" g="0" b="0"/>
        </a:effectRef>
        <a:fontRef idx="minor">
          <a:schemeClr val="dk1"/>
        </a:fontRef>
      </dsp:style>
      <dsp:txBody>
        <a:bodyPr spcFirstLastPara="0" vert="horz" wrap="square" lIns="0" tIns="54864" rIns="71120" bIns="0" numCol="1" spcCol="1270" anchor="t" anchorCtr="0">
          <a:noAutofit/>
        </a:bodyPr>
        <a:lstStyle/>
        <a:p>
          <a:pPr marL="0" lvl="0" indent="0" algn="r" defTabSz="711200">
            <a:lnSpc>
              <a:spcPct val="90000"/>
            </a:lnSpc>
            <a:spcBef>
              <a:spcPct val="0"/>
            </a:spcBef>
            <a:spcAft>
              <a:spcPct val="35000"/>
            </a:spcAft>
            <a:buSzPct val="95000"/>
            <a:buNone/>
          </a:pPr>
          <a:r>
            <a:rPr lang="es-CO" sz="1600" b="1" kern="1200" dirty="0">
              <a:latin typeface="Arial"/>
              <a:cs typeface="Arial"/>
            </a:rPr>
            <a:t>Balance</a:t>
          </a:r>
          <a:r>
            <a:rPr lang="es-CO" sz="1600" b="1" kern="1200" spc="-45" dirty="0">
              <a:latin typeface="Arial"/>
              <a:cs typeface="Arial"/>
            </a:rPr>
            <a:t> </a:t>
          </a:r>
          <a:r>
            <a:rPr lang="es-CO" sz="1600" b="1" kern="1200" dirty="0">
              <a:latin typeface="Arial"/>
              <a:cs typeface="Arial"/>
            </a:rPr>
            <a:t>entre</a:t>
          </a:r>
          <a:r>
            <a:rPr lang="es-CO" sz="1600" b="1" kern="1200" spc="-40" dirty="0">
              <a:latin typeface="Arial"/>
              <a:cs typeface="Arial"/>
            </a:rPr>
            <a:t> </a:t>
          </a:r>
          <a:r>
            <a:rPr lang="es-CO" sz="1600" b="1" kern="1200" dirty="0">
              <a:latin typeface="Arial"/>
              <a:cs typeface="Arial"/>
            </a:rPr>
            <a:t>exploración</a:t>
          </a:r>
          <a:r>
            <a:rPr lang="es-CO" sz="1600" b="1" kern="1200" spc="-50" dirty="0">
              <a:latin typeface="Arial"/>
              <a:cs typeface="Arial"/>
            </a:rPr>
            <a:t> </a:t>
          </a:r>
          <a:r>
            <a:rPr lang="es-CO" sz="1600" b="1" kern="1200" dirty="0">
              <a:latin typeface="Arial"/>
              <a:cs typeface="Arial"/>
            </a:rPr>
            <a:t>y</a:t>
          </a:r>
          <a:r>
            <a:rPr lang="es-CO" sz="1600" b="1" kern="1200" spc="-25" dirty="0">
              <a:latin typeface="Arial"/>
              <a:cs typeface="Arial"/>
            </a:rPr>
            <a:t> </a:t>
          </a:r>
          <a:r>
            <a:rPr lang="es-CO" sz="1600" b="1" kern="1200" spc="-10" dirty="0">
              <a:latin typeface="Arial"/>
              <a:cs typeface="Arial"/>
            </a:rPr>
            <a:t>explotación</a:t>
          </a:r>
          <a:endParaRPr lang="es-CO" sz="1600" kern="1200" dirty="0"/>
        </a:p>
      </dsp:txBody>
      <dsp:txXfrm rot="16200000">
        <a:off x="6789118" y="1232969"/>
        <a:ext cx="2190973" cy="726613"/>
      </dsp:txXfrm>
    </dsp:sp>
    <dsp:sp modelId="{DF8E0DE6-EF00-488A-8B2F-78DCE1137DC2}">
      <dsp:nvSpPr>
        <dsp:cNvPr id="0" name=""/>
        <dsp:cNvSpPr/>
      </dsp:nvSpPr>
      <dsp:spPr>
        <a:xfrm rot="5400000">
          <a:off x="7180678" y="2812408"/>
          <a:ext cx="640709" cy="544960"/>
        </a:xfrm>
        <a:prstGeom prst="flowChartExtract">
          <a:avLst/>
        </a:prstGeom>
        <a:gradFill rotWithShape="0">
          <a:gsLst>
            <a:gs pos="0">
              <a:schemeClr val="lt1">
                <a:hueOff val="0"/>
                <a:satOff val="0"/>
                <a:lumOff val="0"/>
                <a:alphaOff val="0"/>
                <a:lumMod val="110000"/>
                <a:satMod val="105000"/>
                <a:tint val="67000"/>
              </a:schemeClr>
            </a:gs>
            <a:gs pos="50000">
              <a:schemeClr val="lt1">
                <a:hueOff val="0"/>
                <a:satOff val="0"/>
                <a:lumOff val="0"/>
                <a:alphaOff val="0"/>
                <a:lumMod val="105000"/>
                <a:satMod val="103000"/>
                <a:tint val="73000"/>
              </a:schemeClr>
            </a:gs>
            <a:gs pos="100000">
              <a:schemeClr val="lt1">
                <a:hueOff val="0"/>
                <a:satOff val="0"/>
                <a:lumOff val="0"/>
                <a:alphaOff val="0"/>
                <a:lumMod val="105000"/>
                <a:satMod val="109000"/>
                <a:tint val="81000"/>
              </a:schemeClr>
            </a:gs>
          </a:gsLst>
          <a:lin ang="5400000" scaled="0"/>
        </a:gradFill>
        <a:ln w="6350" cap="flat" cmpd="sng" algn="ctr">
          <a:solidFill>
            <a:schemeClr val="accent1">
              <a:hueOff val="0"/>
              <a:satOff val="0"/>
              <a:lumOff val="0"/>
              <a:alphaOff val="0"/>
            </a:schemeClr>
          </a:solidFill>
          <a:prstDash val="solid"/>
          <a:miter lim="800000"/>
        </a:ln>
        <a:effectLst/>
      </dsp:spPr>
      <dsp:style>
        <a:lnRef idx="1">
          <a:scrgbClr r="0" g="0" b="0"/>
        </a:lnRef>
        <a:fillRef idx="2">
          <a:scrgbClr r="0" g="0" b="0"/>
        </a:fillRef>
        <a:effectRef idx="0">
          <a:scrgbClr r="0" g="0" b="0"/>
        </a:effectRef>
        <a:fontRef idx="minor"/>
      </dsp:style>
    </dsp:sp>
    <dsp:sp modelId="{7766720D-83B9-4E14-A532-56D5C0F99004}">
      <dsp:nvSpPr>
        <dsp:cNvPr id="0" name=""/>
        <dsp:cNvSpPr/>
      </dsp:nvSpPr>
      <dsp:spPr>
        <a:xfrm>
          <a:off x="8247912" y="500789"/>
          <a:ext cx="2706636" cy="2671919"/>
        </a:xfrm>
        <a:prstGeom prst="rect">
          <a:avLst/>
        </a:prstGeom>
        <a:noFill/>
        <a:ln>
          <a:noFill/>
        </a:ln>
        <a:effectLst/>
        <a:scene3d>
          <a:camera prst="orthographicFront"/>
          <a:lightRig rig="flat" dir="t"/>
        </a:scene3d>
        <a:sp3d/>
      </dsp:spPr>
      <dsp:style>
        <a:lnRef idx="0">
          <a:scrgbClr r="0" g="0" b="0"/>
        </a:lnRef>
        <a:fillRef idx="2">
          <a:scrgbClr r="0" g="0" b="0"/>
        </a:fillRef>
        <a:effectRef idx="1">
          <a:scrgbClr r="0" g="0" b="0"/>
        </a:effectRef>
        <a:fontRef idx="minor">
          <a:schemeClr val="dk1"/>
        </a:fontRef>
      </dsp:style>
      <dsp:txBody>
        <a:bodyPr spcFirstLastPara="0" vert="horz" wrap="square" lIns="0" tIns="61722" rIns="0" bIns="0" numCol="1" spcCol="1270" anchor="t" anchorCtr="0">
          <a:noAutofit/>
        </a:bodyPr>
        <a:lstStyle/>
        <a:p>
          <a:pPr marL="0" lvl="0" indent="0" algn="l" defTabSz="800100">
            <a:lnSpc>
              <a:spcPct val="90000"/>
            </a:lnSpc>
            <a:spcBef>
              <a:spcPct val="0"/>
            </a:spcBef>
            <a:spcAft>
              <a:spcPct val="35000"/>
            </a:spcAft>
            <a:buNone/>
          </a:pPr>
          <a:r>
            <a:rPr lang="es-CO" sz="1800" kern="1200" dirty="0">
              <a:latin typeface="Arial MT"/>
              <a:cs typeface="Arial MT"/>
            </a:rPr>
            <a:t>Utiliza</a:t>
          </a:r>
          <a:r>
            <a:rPr lang="es-CO" sz="1800" kern="1200" spc="450" dirty="0">
              <a:latin typeface="Arial MT"/>
              <a:cs typeface="Arial MT"/>
            </a:rPr>
            <a:t> </a:t>
          </a:r>
          <a:r>
            <a:rPr lang="es-CO" sz="1800" kern="1200" dirty="0">
              <a:latin typeface="Arial MT"/>
              <a:cs typeface="Arial MT"/>
            </a:rPr>
            <a:t>un</a:t>
          </a:r>
          <a:r>
            <a:rPr lang="es-CO" sz="1800" kern="1200" spc="450" dirty="0">
              <a:latin typeface="Arial MT"/>
              <a:cs typeface="Arial MT"/>
            </a:rPr>
            <a:t> </a:t>
          </a:r>
          <a:r>
            <a:rPr lang="es-CO" sz="1800" kern="1200" dirty="0">
              <a:latin typeface="Arial MT"/>
              <a:cs typeface="Arial MT"/>
            </a:rPr>
            <a:t>mecanismo</a:t>
          </a:r>
          <a:r>
            <a:rPr lang="es-CO" sz="1800" kern="1200" spc="434" dirty="0">
              <a:latin typeface="Arial MT"/>
              <a:cs typeface="Arial MT"/>
            </a:rPr>
            <a:t> </a:t>
          </a:r>
          <a:r>
            <a:rPr lang="es-CO" sz="1800" kern="1200" dirty="0">
              <a:latin typeface="Arial MT"/>
              <a:cs typeface="Arial MT"/>
            </a:rPr>
            <a:t>(como</a:t>
          </a:r>
          <a:r>
            <a:rPr lang="es-CO" sz="1800" kern="1200" spc="445" dirty="0">
              <a:latin typeface="Arial MT"/>
              <a:cs typeface="Arial MT"/>
            </a:rPr>
            <a:t> </a:t>
          </a:r>
          <a:r>
            <a:rPr lang="es-CO" sz="1800" kern="1200" dirty="0">
              <a:latin typeface="Arial MT"/>
              <a:cs typeface="Arial MT"/>
            </a:rPr>
            <a:t>la</a:t>
          </a:r>
          <a:r>
            <a:rPr lang="es-CO" sz="1800" kern="1200" spc="440" dirty="0">
              <a:latin typeface="Arial MT"/>
              <a:cs typeface="Arial MT"/>
            </a:rPr>
            <a:t> </a:t>
          </a:r>
          <a:r>
            <a:rPr lang="es-CO" sz="1800" kern="1200" dirty="0">
              <a:latin typeface="Arial MT"/>
              <a:cs typeface="Arial MT"/>
            </a:rPr>
            <a:t>política</a:t>
          </a:r>
          <a:r>
            <a:rPr lang="es-CO" sz="1800" kern="1200" spc="445" dirty="0">
              <a:latin typeface="Arial MT"/>
              <a:cs typeface="Arial MT"/>
            </a:rPr>
            <a:t> </a:t>
          </a:r>
          <a:r>
            <a:rPr lang="es-CO" sz="1800" kern="1200" spc="-10" dirty="0" err="1">
              <a:latin typeface="Arial MT"/>
              <a:cs typeface="Arial MT"/>
            </a:rPr>
            <a:t>epsilon-</a:t>
          </a:r>
          <a:r>
            <a:rPr lang="es-CO" sz="1800" kern="1200" dirty="0" err="1">
              <a:latin typeface="Arial MT"/>
              <a:cs typeface="Arial MT"/>
            </a:rPr>
            <a:t>greedy</a:t>
          </a:r>
          <a:r>
            <a:rPr lang="es-CO" sz="1800" kern="1200" dirty="0">
              <a:latin typeface="Arial MT"/>
              <a:cs typeface="Arial MT"/>
            </a:rPr>
            <a:t>)</a:t>
          </a:r>
          <a:r>
            <a:rPr lang="es-CO" sz="1800" kern="1200" spc="440" dirty="0">
              <a:latin typeface="Arial MT"/>
              <a:cs typeface="Arial MT"/>
            </a:rPr>
            <a:t> </a:t>
          </a:r>
          <a:r>
            <a:rPr lang="es-CO" sz="1800" kern="1200" dirty="0">
              <a:latin typeface="Arial MT"/>
              <a:cs typeface="Arial MT"/>
            </a:rPr>
            <a:t>para</a:t>
          </a:r>
          <a:r>
            <a:rPr lang="es-CO" sz="1800" kern="1200" spc="445" dirty="0">
              <a:latin typeface="Arial MT"/>
              <a:cs typeface="Arial MT"/>
            </a:rPr>
            <a:t> </a:t>
          </a:r>
          <a:r>
            <a:rPr lang="es-CO" sz="1800" kern="1200" spc="-10" dirty="0">
              <a:latin typeface="Arial MT"/>
              <a:cs typeface="Arial MT"/>
            </a:rPr>
            <a:t>equilibrar </a:t>
          </a:r>
          <a:r>
            <a:rPr lang="es-CO" sz="1800" kern="1200" dirty="0">
              <a:latin typeface="Arial MT"/>
              <a:cs typeface="Arial MT"/>
            </a:rPr>
            <a:t>entre</a:t>
          </a:r>
          <a:r>
            <a:rPr lang="es-CO" sz="1800" kern="1200" spc="245" dirty="0">
              <a:latin typeface="Arial MT"/>
              <a:cs typeface="Arial MT"/>
            </a:rPr>
            <a:t> </a:t>
          </a:r>
          <a:r>
            <a:rPr lang="es-CO" sz="1800" i="1" kern="1200" dirty="0">
              <a:latin typeface="Arial"/>
              <a:cs typeface="Arial"/>
            </a:rPr>
            <a:t>exploración</a:t>
          </a:r>
          <a:r>
            <a:rPr lang="es-CO" sz="1800" i="1" kern="1200" spc="240" dirty="0">
              <a:latin typeface="Arial"/>
              <a:cs typeface="Arial"/>
            </a:rPr>
            <a:t> </a:t>
          </a:r>
          <a:r>
            <a:rPr lang="es-CO" sz="1800" kern="1200" dirty="0">
              <a:latin typeface="Arial MT"/>
              <a:cs typeface="Arial MT"/>
            </a:rPr>
            <a:t>(probar</a:t>
          </a:r>
          <a:r>
            <a:rPr lang="es-CO" sz="1800" kern="1200" spc="240" dirty="0">
              <a:latin typeface="Arial MT"/>
              <a:cs typeface="Arial MT"/>
            </a:rPr>
            <a:t> </a:t>
          </a:r>
          <a:r>
            <a:rPr lang="es-CO" sz="1800" kern="1200" dirty="0">
              <a:latin typeface="Arial MT"/>
              <a:cs typeface="Arial MT"/>
            </a:rPr>
            <a:t>nuevas</a:t>
          </a:r>
          <a:r>
            <a:rPr lang="es-CO" sz="1800" kern="1200" spc="254" dirty="0">
              <a:latin typeface="Arial MT"/>
              <a:cs typeface="Arial MT"/>
            </a:rPr>
            <a:t> </a:t>
          </a:r>
          <a:r>
            <a:rPr lang="es-CO" sz="1800" kern="1200" dirty="0">
              <a:latin typeface="Arial MT"/>
              <a:cs typeface="Arial MT"/>
            </a:rPr>
            <a:t>acciones</a:t>
          </a:r>
          <a:r>
            <a:rPr lang="es-CO" sz="1800" kern="1200" spc="254" dirty="0">
              <a:latin typeface="Arial MT"/>
              <a:cs typeface="Arial MT"/>
            </a:rPr>
            <a:t> </a:t>
          </a:r>
          <a:r>
            <a:rPr lang="es-CO" sz="1800" kern="1200" dirty="0">
              <a:latin typeface="Arial MT"/>
              <a:cs typeface="Arial MT"/>
            </a:rPr>
            <a:t>para</a:t>
          </a:r>
          <a:r>
            <a:rPr lang="es-CO" sz="1800" kern="1200" spc="250" dirty="0">
              <a:latin typeface="Arial MT"/>
              <a:cs typeface="Arial MT"/>
            </a:rPr>
            <a:t> </a:t>
          </a:r>
          <a:r>
            <a:rPr lang="es-CO" sz="1800" kern="1200" dirty="0">
              <a:latin typeface="Arial MT"/>
              <a:cs typeface="Arial MT"/>
            </a:rPr>
            <a:t>descubrir</a:t>
          </a:r>
          <a:r>
            <a:rPr lang="es-CO" sz="1800" kern="1200" spc="235" dirty="0">
              <a:latin typeface="Arial MT"/>
              <a:cs typeface="Arial MT"/>
            </a:rPr>
            <a:t> </a:t>
          </a:r>
          <a:r>
            <a:rPr lang="es-CO" sz="1800" kern="1200" spc="-10" dirty="0">
              <a:latin typeface="Arial MT"/>
              <a:cs typeface="Arial MT"/>
            </a:rPr>
            <a:t>recompensas </a:t>
          </a:r>
          <a:r>
            <a:rPr lang="es-CO" sz="1800" kern="1200" dirty="0">
              <a:latin typeface="Arial MT"/>
              <a:cs typeface="Arial MT"/>
            </a:rPr>
            <a:t>potenciales)</a:t>
          </a:r>
          <a:r>
            <a:rPr lang="es-CO" sz="1800" kern="1200" spc="30" dirty="0">
              <a:latin typeface="Arial MT"/>
              <a:cs typeface="Arial MT"/>
            </a:rPr>
            <a:t>  </a:t>
          </a:r>
          <a:r>
            <a:rPr lang="es-CO" sz="1800" kern="1200" dirty="0">
              <a:latin typeface="Arial MT"/>
              <a:cs typeface="Arial MT"/>
            </a:rPr>
            <a:t>y</a:t>
          </a:r>
          <a:r>
            <a:rPr lang="es-CO" sz="1800" kern="1200" spc="35" dirty="0">
              <a:latin typeface="Arial MT"/>
              <a:cs typeface="Arial MT"/>
            </a:rPr>
            <a:t>  </a:t>
          </a:r>
          <a:r>
            <a:rPr lang="es-CO" sz="1800" i="1" kern="1200" dirty="0">
              <a:latin typeface="Arial"/>
              <a:cs typeface="Arial"/>
            </a:rPr>
            <a:t>explotación</a:t>
          </a:r>
          <a:r>
            <a:rPr lang="es-CO" sz="1800" i="1" kern="1200" spc="30" dirty="0">
              <a:latin typeface="Arial"/>
              <a:cs typeface="Arial"/>
            </a:rPr>
            <a:t>  </a:t>
          </a:r>
          <a:r>
            <a:rPr lang="es-CO" sz="1800" kern="1200" dirty="0">
              <a:latin typeface="Arial MT"/>
              <a:cs typeface="Arial MT"/>
            </a:rPr>
            <a:t>(elegir</a:t>
          </a:r>
          <a:r>
            <a:rPr lang="es-CO" sz="1800" kern="1200" spc="35" dirty="0">
              <a:latin typeface="Arial MT"/>
              <a:cs typeface="Arial MT"/>
            </a:rPr>
            <a:t>  </a:t>
          </a:r>
          <a:r>
            <a:rPr lang="es-CO" sz="1800" kern="1200" dirty="0">
              <a:latin typeface="Arial MT"/>
              <a:cs typeface="Arial MT"/>
            </a:rPr>
            <a:t>la</a:t>
          </a:r>
          <a:r>
            <a:rPr lang="es-CO" sz="1800" kern="1200" spc="35" dirty="0">
              <a:latin typeface="Arial MT"/>
              <a:cs typeface="Arial MT"/>
            </a:rPr>
            <a:t>  </a:t>
          </a:r>
          <a:r>
            <a:rPr lang="es-CO" sz="1800" kern="1200" dirty="0">
              <a:latin typeface="Arial MT"/>
              <a:cs typeface="Arial MT"/>
            </a:rPr>
            <a:t>mejor</a:t>
          </a:r>
          <a:r>
            <a:rPr lang="es-CO" sz="1800" kern="1200" spc="30" dirty="0">
              <a:latin typeface="Arial MT"/>
              <a:cs typeface="Arial MT"/>
            </a:rPr>
            <a:t>  </a:t>
          </a:r>
          <a:r>
            <a:rPr lang="es-CO" sz="1800" kern="1200" dirty="0">
              <a:latin typeface="Arial MT"/>
              <a:cs typeface="Arial MT"/>
            </a:rPr>
            <a:t>acción</a:t>
          </a:r>
          <a:r>
            <a:rPr lang="es-CO" sz="1800" kern="1200" spc="35" dirty="0">
              <a:latin typeface="Arial MT"/>
              <a:cs typeface="Arial MT"/>
            </a:rPr>
            <a:t>  </a:t>
          </a:r>
          <a:r>
            <a:rPr lang="es-CO" sz="1800" kern="1200" dirty="0">
              <a:latin typeface="Arial MT"/>
              <a:cs typeface="Arial MT"/>
            </a:rPr>
            <a:t>conocida</a:t>
          </a:r>
          <a:r>
            <a:rPr lang="es-CO" sz="1800" kern="1200" spc="35" dirty="0">
              <a:latin typeface="Arial MT"/>
              <a:cs typeface="Arial MT"/>
            </a:rPr>
            <a:t>  </a:t>
          </a:r>
          <a:r>
            <a:rPr lang="es-CO" sz="1800" kern="1200" dirty="0">
              <a:latin typeface="Arial MT"/>
              <a:cs typeface="Arial MT"/>
            </a:rPr>
            <a:t>según</a:t>
          </a:r>
          <a:r>
            <a:rPr lang="es-CO" sz="1800" kern="1200" spc="35" dirty="0">
              <a:latin typeface="Arial MT"/>
              <a:cs typeface="Arial MT"/>
            </a:rPr>
            <a:t>  </a:t>
          </a:r>
          <a:r>
            <a:rPr lang="es-CO" sz="1800" kern="1200" spc="-25" dirty="0">
              <a:latin typeface="Arial MT"/>
              <a:cs typeface="Arial MT"/>
            </a:rPr>
            <a:t>la </a:t>
          </a:r>
          <a:r>
            <a:rPr lang="es-CO" sz="1800" kern="1200" dirty="0">
              <a:latin typeface="Arial MT"/>
              <a:cs typeface="Arial MT"/>
            </a:rPr>
            <a:t>función</a:t>
          </a:r>
          <a:r>
            <a:rPr lang="es-CO" sz="1800" kern="1200" spc="-35" dirty="0">
              <a:latin typeface="Arial MT"/>
              <a:cs typeface="Arial MT"/>
            </a:rPr>
            <a:t> </a:t>
          </a:r>
          <a:r>
            <a:rPr lang="es-CO" sz="1800" kern="1200" dirty="0">
              <a:latin typeface="Arial MT"/>
              <a:cs typeface="Arial MT"/>
            </a:rPr>
            <a:t>Q</a:t>
          </a:r>
          <a:r>
            <a:rPr lang="es-CO" sz="1800" kern="1200" spc="-30" dirty="0">
              <a:latin typeface="Arial MT"/>
              <a:cs typeface="Arial MT"/>
            </a:rPr>
            <a:t> </a:t>
          </a:r>
          <a:r>
            <a:rPr lang="es-CO" sz="1800" kern="1200" spc="-10" dirty="0">
              <a:latin typeface="Arial MT"/>
              <a:cs typeface="Arial MT"/>
            </a:rPr>
            <a:t>actual).</a:t>
          </a:r>
          <a:endParaRPr lang="es-CO" sz="1800" kern="1200" dirty="0"/>
        </a:p>
      </dsp:txBody>
      <dsp:txXfrm>
        <a:off x="8247912" y="500789"/>
        <a:ext cx="2706636" cy="2671919"/>
      </dsp:txXfrm>
    </dsp:sp>
  </dsp:spTree>
</dsp:drawing>
</file>

<file path=ppt/diagrams/layout1.xml><?xml version="1.0" encoding="utf-8"?>
<dgm:layoutDef xmlns:dgm="http://schemas.openxmlformats.org/drawingml/2006/diagram" xmlns:a="http://schemas.openxmlformats.org/drawingml/2006/main" uniqueId="urn:microsoft.com/office/officeart/2005/8/layout/hProcess7">
  <dgm:title val=""/>
  <dgm:desc val=""/>
  <dgm:catLst>
    <dgm:cat type="process" pri="21000"/>
    <dgm:cat type="list" pri="9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nodeVertAlign" val="t"/>
        </dgm:alg>
      </dgm:if>
      <dgm:else name="Name3">
        <dgm:alg type="lin">
          <dgm:param type="linDir" val="fromR"/>
          <dgm:param type="nodeVertAlign" val="t"/>
        </dgm:alg>
      </dgm:else>
    </dgm:choose>
    <dgm:shape xmlns:r="http://schemas.openxmlformats.org/officeDocument/2006/relationships" r:blip="">
      <dgm:adjLst/>
    </dgm:shape>
    <dgm:presOf/>
    <dgm:constrLst>
      <dgm:constr type="h" for="ch" forName="compositeNode" refType="h"/>
      <dgm:constr type="w" for="ch" forName="compositeNode" refType="w"/>
      <dgm:constr type="w" for="ch" forName="hSp" refType="w" refFor="ch" refForName="compositeNode" fact="-0.035"/>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parentNode" op="equ"/>
      <dgm:constr type="primFontSz" for="des" forName="childNode" op="equ"/>
    </dgm:constrLst>
    <dgm:ruleLst/>
    <dgm:forEach name="Name4" axis="ch" ptType="node">
      <dgm:layoutNode name="compositeNode">
        <dgm:varLst>
          <dgm:bulletEnabled val="1"/>
        </dgm:varLst>
        <dgm:alg type="composite"/>
        <dgm:choose name="Name5">
          <dgm:if name="Name6" func="var" arg="dir" op="equ" val="norm">
            <dgm:constrLst>
              <dgm:constr type="h" refType="w" op="lte" fact="1.2"/>
              <dgm:constr type="w" for="ch" forName="bgRect" refType="w"/>
              <dgm:constr type="h" for="ch" forName="bgRect" refType="h"/>
              <dgm:constr type="t" for="ch" forName="bgRect"/>
              <dgm:constr type="l" for="ch" forName="bgRect"/>
              <dgm:constr type="w" for="ch" forName="parentNode" refType="w" refFor="ch" refForName="bgRect" fact="0.2"/>
              <dgm:constr type="h" for="ch" forName="parentNode" refType="h" fact="0.82"/>
              <dgm:constr type="t" for="ch" forName="parentNode"/>
              <dgm:constr type="l" for="ch" forName="parentNode"/>
              <dgm:constr type="r" for="ch" forName="childNode" refType="r" refFor="ch" refForName="bgRect" fact="0.945"/>
              <dgm:constr type="h" for="ch" forName="childNode" refType="h" refFor="ch" refForName="bgRect" op="equ"/>
              <dgm:constr type="t" for="ch" forName="childNode"/>
              <dgm:constr type="l" for="ch" forName="childNode" refType="r" refFor="ch" refForName="parentNode"/>
            </dgm:constrLst>
          </dgm:if>
          <dgm:else name="Name7">
            <dgm:constrLst>
              <dgm:constr type="h" refType="w" op="lte" fact="1.2"/>
              <dgm:constr type="w" for="ch" forName="bgRect" refType="w"/>
              <dgm:constr type="h" for="ch" forName="bgRect" refType="h"/>
              <dgm:constr type="t" for="ch" forName="bgRect"/>
              <dgm:constr type="r" for="ch" forName="bgRect" refType="w"/>
              <dgm:constr type="w" for="ch" forName="parentNode" refType="w" refFor="ch" refForName="bgRect" fact="0.2"/>
              <dgm:constr type="h" for="ch" forName="parentNode" refType="h" fact="0.82"/>
              <dgm:constr type="t" for="ch" forName="parentNode"/>
              <dgm:constr type="r" for="ch" forName="parentNode" refType="w"/>
              <dgm:constr type="h" for="ch" forName="childNode" refType="h" refFor="ch" refForName="bgRect"/>
              <dgm:constr type="t" for="ch" forName="childNode"/>
              <dgm:constr type="r" for="ch" forName="childNode" refType="l" refFor="ch" refForName="parentNode"/>
              <dgm:constr type="l" for="ch" forName="childNode" refType="w" refFor="ch" refForName="bgRect" fact="0.055"/>
            </dgm:constrLst>
          </dgm:else>
        </dgm:choose>
        <dgm:ruleLst>
          <dgm:rule type="w" for="ch" forName="childNode" val="NaN" fact="NaN" max="30"/>
        </dgm:ruleLst>
        <dgm:layoutNode name="bgRect" styleLbl="node1">
          <dgm:alg type="sp"/>
          <dgm:shape xmlns:r="http://schemas.openxmlformats.org/officeDocument/2006/relationships" type="roundRect" r:blip="" zOrderOff="-1">
            <dgm:adjLst>
              <dgm:adj idx="1" val="0.05"/>
            </dgm:adjLst>
          </dgm:shape>
          <dgm:presOf axis="self"/>
          <dgm:constrLst/>
          <dgm:ruleLst/>
        </dgm:layoutNode>
        <dgm:layoutNode name="parentNode" styleLbl="node1">
          <dgm:varLst>
            <dgm:chMax val="0"/>
            <dgm:bulletEnabled val="1"/>
          </dgm:varLst>
          <dgm:presOf axis="self"/>
          <dgm:choose name="Name8">
            <dgm:if name="Name9" func="var" arg="dir" op="equ" val="norm">
              <dgm:alg type="tx">
                <dgm:param type="autoTxRot" val="grav"/>
                <dgm:param type="txAnchorVert" val="t"/>
                <dgm:param type="parTxLTRAlign" val="r"/>
                <dgm:param type="parTxRTLAlign" val="r"/>
              </dgm:alg>
              <dgm:shape xmlns:r="http://schemas.openxmlformats.org/officeDocument/2006/relationships" rot="270" type="rect" r:blip="" hideGeom="1">
                <dgm:adjLst/>
              </dgm:shape>
              <dgm:constrLst>
                <dgm:constr type="primFontSz" val="65"/>
                <dgm:constr type="lMarg"/>
                <dgm:constr type="rMarg" refType="primFontSz" fact="0.35"/>
                <dgm:constr type="tMarg" refType="primFontSz" fact="0.27"/>
                <dgm:constr type="bMarg"/>
              </dgm:constrLst>
            </dgm:if>
            <dgm:else name="Name10">
              <dgm:alg type="tx">
                <dgm:param type="autoTxRot" val="grav"/>
                <dgm:param type="txAnchorVert" val="t"/>
                <dgm:param type="parTxLTRAlign" val="l"/>
                <dgm:param type="parTxRTLAlign" val="l"/>
              </dgm:alg>
              <dgm:shape xmlns:r="http://schemas.openxmlformats.org/officeDocument/2006/relationships" rot="90" type="rect" r:blip="" hideGeom="1">
                <dgm:adjLst/>
              </dgm:shape>
              <dgm:constrLst>
                <dgm:constr type="primFontSz" val="65"/>
                <dgm:constr type="lMarg" refType="primFontSz" fact="0.35"/>
                <dgm:constr type="rMarg"/>
                <dgm:constr type="tMarg" refType="primFontSz" fact="0.27"/>
                <dgm:constr type="bMarg"/>
              </dgm:constrLst>
            </dgm:else>
          </dgm:choose>
          <dgm:ruleLst>
            <dgm:rule type="primFontSz" val="5" fact="NaN" max="NaN"/>
          </dgm:ruleLst>
        </dgm:layoutNode>
        <dgm:choose name="Name11">
          <dgm:if name="Name12" axis="ch" ptType="node" func="cnt" op="gte" val="1">
            <dgm:layoutNode name="childNode" styleLbl="node1" moveWith="bgRect">
              <dgm:varLst>
                <dgm:bulletEnabled val="1"/>
              </dgm:varLst>
              <dgm:alg type="tx">
                <dgm:param type="parTxLTRAlign" val="l"/>
                <dgm:param type="parTxRTLAlign" val="r"/>
                <dgm:param type="txAnchorVert" val="t"/>
              </dgm:alg>
              <dgm:shape xmlns:r="http://schemas.openxmlformats.org/officeDocument/2006/relationships" type="rect" r:blip="" hideGeom="1">
                <dgm:adjLst/>
              </dgm:shape>
              <dgm:presOf axis="des" ptType="node"/>
              <dgm:constrLst>
                <dgm:constr type="primFontSz" val="65"/>
                <dgm:constr type="lMarg"/>
                <dgm:constr type="bMarg"/>
                <dgm:constr type="tMarg" refType="primFontSz" fact="0.27"/>
                <dgm:constr type="rMarg"/>
              </dgm:constrLst>
              <dgm:ruleLst>
                <dgm:rule type="primFontSz" val="5" fact="NaN" max="NaN"/>
              </dgm:ruleLst>
            </dgm:layoutNode>
          </dgm:if>
          <dgm:else name="Name13"/>
        </dgm:choose>
      </dgm:layoutNode>
      <dgm:forEach name="Name14" axis="followSib" ptType="sibTrans" cnt="1">
        <dgm:layoutNode name="hSp">
          <dgm:alg type="sp"/>
          <dgm:shape xmlns:r="http://schemas.openxmlformats.org/officeDocument/2006/relationships" r:blip="">
            <dgm:adjLst/>
          </dgm:shape>
          <dgm:presOf/>
          <dgm:constrLst/>
          <dgm:ruleLst/>
        </dgm:layoutNode>
        <dgm:layoutNode name="vProcSp" moveWith="bgRect">
          <dgm:alg type="lin">
            <dgm:param type="linDir" val="fromT"/>
          </dgm:alg>
          <dgm:shape xmlns:r="http://schemas.openxmlformats.org/officeDocument/2006/relationships" r:blip="">
            <dgm:adjLst/>
          </dgm:shape>
          <dgm:presOf/>
          <dgm:constrLst>
            <dgm:constr type="w" for="ch" forName="vSp1" refType="w"/>
            <dgm:constr type="w" for="ch" forName="simulatedConn" refType="w"/>
            <dgm:constr type="w" for="ch" forName="vSp2" refType="w"/>
          </dgm:constrLst>
          <dgm:ruleLst/>
          <dgm:layoutNode name="vSp1">
            <dgm:alg type="sp"/>
            <dgm:shape xmlns:r="http://schemas.openxmlformats.org/officeDocument/2006/relationships" r:blip="">
              <dgm:adjLst/>
            </dgm:shape>
            <dgm:presOf/>
            <dgm:constrLst/>
            <dgm:ruleLst/>
          </dgm:layoutNode>
          <dgm:layoutNode name="simulatedConn" styleLbl="solidFgAcc1">
            <dgm:alg type="sp"/>
            <dgm:choose name="Name15">
              <dgm:if name="Name16" func="var" arg="dir" op="equ" val="norm">
                <dgm:shape xmlns:r="http://schemas.openxmlformats.org/officeDocument/2006/relationships" rot="90" type="flowChartExtract" r:blip="">
                  <dgm:adjLst/>
                </dgm:shape>
              </dgm:if>
              <dgm:else name="Name17">
                <dgm:shape xmlns:r="http://schemas.openxmlformats.org/officeDocument/2006/relationships" rot="-90" type="flowChartExtract" r:blip="">
                  <dgm:adjLst/>
                </dgm:shape>
              </dgm:else>
            </dgm:choose>
            <dgm:presOf/>
            <dgm:constrLst/>
            <dgm:ruleLst/>
          </dgm:layoutNode>
          <dgm:layoutNode name="vSp2">
            <dgm:alg type="sp"/>
            <dgm:shape xmlns:r="http://schemas.openxmlformats.org/officeDocument/2006/relationships" r:blip="">
              <dgm:adjLst/>
            </dgm:shape>
            <dgm:presOf/>
            <dgm:constrLst/>
            <dgm:ruleLst/>
          </dgm:layoutNode>
        </dgm:layoutNode>
        <dgm:layoutNode name="sibTrans">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CO"/>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91C472D-2416-4904-A75B-FC57FE1F41C7}" type="datetimeFigureOut">
              <a:rPr lang="es-CO" smtClean="0"/>
              <a:t>25/09/2025</a:t>
            </a:fld>
            <a:endParaRPr lang="es-CO"/>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s-CO"/>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6782227-D544-4E5C-B19D-C44641C59EA3}" type="slidenum">
              <a:rPr lang="es-CO" smtClean="0"/>
              <a:t>‹#›</a:t>
            </a:fld>
            <a:endParaRPr lang="es-CO"/>
          </a:p>
        </p:txBody>
      </p:sp>
    </p:spTree>
    <p:extLst>
      <p:ext uri="{BB962C8B-B14F-4D97-AF65-F5344CB8AC3E}">
        <p14:creationId xmlns:p14="http://schemas.microsoft.com/office/powerpoint/2010/main" val="20431409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CO" sz="1200" i="1" dirty="0">
                <a:latin typeface="Arial"/>
                <a:cs typeface="Arial"/>
              </a:rPr>
              <a:t>Este</a:t>
            </a:r>
            <a:r>
              <a:rPr lang="es-CO" sz="1200" i="1" spc="-25" dirty="0">
                <a:latin typeface="Arial"/>
                <a:cs typeface="Arial"/>
              </a:rPr>
              <a:t> </a:t>
            </a:r>
            <a:r>
              <a:rPr lang="es-CO" sz="1200" i="1" dirty="0">
                <a:latin typeface="Arial"/>
                <a:cs typeface="Arial"/>
              </a:rPr>
              <a:t>proceso</a:t>
            </a:r>
            <a:r>
              <a:rPr lang="es-CO" sz="1200" i="1" spc="-45" dirty="0">
                <a:latin typeface="Arial"/>
                <a:cs typeface="Arial"/>
              </a:rPr>
              <a:t> </a:t>
            </a:r>
            <a:r>
              <a:rPr lang="es-CO" sz="1200" i="1" dirty="0">
                <a:latin typeface="Arial"/>
                <a:cs typeface="Arial"/>
              </a:rPr>
              <a:t>de</a:t>
            </a:r>
            <a:r>
              <a:rPr lang="es-CO" sz="1200" i="1" spc="-20" dirty="0">
                <a:latin typeface="Arial"/>
                <a:cs typeface="Arial"/>
              </a:rPr>
              <a:t> </a:t>
            </a:r>
            <a:r>
              <a:rPr lang="es-CO" sz="1200" i="1" dirty="0">
                <a:latin typeface="Arial"/>
                <a:cs typeface="Arial"/>
              </a:rPr>
              <a:t>aprendizaje</a:t>
            </a:r>
            <a:r>
              <a:rPr lang="es-CO" sz="1200" i="1" spc="-30" dirty="0">
                <a:latin typeface="Arial"/>
                <a:cs typeface="Arial"/>
              </a:rPr>
              <a:t> </a:t>
            </a:r>
            <a:r>
              <a:rPr lang="es-CO" sz="1200" i="1" dirty="0">
                <a:latin typeface="Arial"/>
                <a:cs typeface="Arial"/>
              </a:rPr>
              <a:t>–</a:t>
            </a:r>
            <a:r>
              <a:rPr lang="es-CO" sz="1200" i="1" spc="-10" dirty="0">
                <a:latin typeface="Arial"/>
                <a:cs typeface="Arial"/>
              </a:rPr>
              <a:t> </a:t>
            </a:r>
            <a:r>
              <a:rPr lang="es-CO" sz="1200" i="1" dirty="0">
                <a:latin typeface="Arial"/>
                <a:cs typeface="Arial"/>
              </a:rPr>
              <a:t>observar</a:t>
            </a:r>
            <a:r>
              <a:rPr lang="es-CO" sz="1200" i="1" spc="-55" dirty="0">
                <a:latin typeface="Arial"/>
                <a:cs typeface="Arial"/>
              </a:rPr>
              <a:t> </a:t>
            </a:r>
            <a:r>
              <a:rPr lang="es-CO" sz="1200" i="1" dirty="0">
                <a:latin typeface="Arial"/>
                <a:cs typeface="Arial"/>
              </a:rPr>
              <a:t>el entorno,</a:t>
            </a:r>
            <a:r>
              <a:rPr lang="es-CO" sz="1200" i="1" spc="-50" dirty="0">
                <a:latin typeface="Arial"/>
                <a:cs typeface="Arial"/>
              </a:rPr>
              <a:t> </a:t>
            </a:r>
            <a:r>
              <a:rPr lang="es-CO" sz="1200" i="1" dirty="0">
                <a:latin typeface="Arial"/>
                <a:cs typeface="Arial"/>
              </a:rPr>
              <a:t>actuar,</a:t>
            </a:r>
            <a:r>
              <a:rPr lang="es-CO" sz="1200" i="1" spc="-50" dirty="0">
                <a:latin typeface="Arial"/>
                <a:cs typeface="Arial"/>
              </a:rPr>
              <a:t> </a:t>
            </a:r>
            <a:r>
              <a:rPr lang="es-CO" sz="1200" i="1" dirty="0">
                <a:latin typeface="Arial"/>
                <a:cs typeface="Arial"/>
              </a:rPr>
              <a:t>evaluar</a:t>
            </a:r>
            <a:r>
              <a:rPr lang="es-CO" sz="1200" i="1" spc="-30" dirty="0">
                <a:latin typeface="Arial"/>
                <a:cs typeface="Arial"/>
              </a:rPr>
              <a:t> </a:t>
            </a:r>
            <a:r>
              <a:rPr lang="es-CO" sz="1200" i="1" spc="-25" dirty="0">
                <a:latin typeface="Arial"/>
                <a:cs typeface="Arial"/>
              </a:rPr>
              <a:t>las </a:t>
            </a:r>
            <a:r>
              <a:rPr lang="es-CO" sz="1200" i="1" dirty="0">
                <a:latin typeface="Arial"/>
                <a:cs typeface="Arial"/>
              </a:rPr>
              <a:t>consecuencias</a:t>
            </a:r>
            <a:r>
              <a:rPr lang="es-CO" sz="1200" i="1" spc="-60" dirty="0">
                <a:latin typeface="Arial"/>
                <a:cs typeface="Arial"/>
              </a:rPr>
              <a:t> </a:t>
            </a:r>
            <a:r>
              <a:rPr lang="es-CO" sz="1200" i="1" dirty="0">
                <a:latin typeface="Arial"/>
                <a:cs typeface="Arial"/>
              </a:rPr>
              <a:t>de</a:t>
            </a:r>
            <a:r>
              <a:rPr lang="es-CO" sz="1200" i="1" spc="-25" dirty="0">
                <a:latin typeface="Arial"/>
                <a:cs typeface="Arial"/>
              </a:rPr>
              <a:t> </a:t>
            </a:r>
            <a:r>
              <a:rPr lang="es-CO" sz="1200" i="1" dirty="0">
                <a:latin typeface="Arial"/>
                <a:cs typeface="Arial"/>
              </a:rPr>
              <a:t>esa</a:t>
            </a:r>
            <a:r>
              <a:rPr lang="es-CO" sz="1200" i="1" spc="-25" dirty="0">
                <a:latin typeface="Arial"/>
                <a:cs typeface="Arial"/>
              </a:rPr>
              <a:t> </a:t>
            </a:r>
            <a:r>
              <a:rPr lang="es-CO" sz="1200" i="1" dirty="0">
                <a:latin typeface="Arial"/>
                <a:cs typeface="Arial"/>
              </a:rPr>
              <a:t>acción,</a:t>
            </a:r>
            <a:r>
              <a:rPr lang="es-CO" sz="1200" i="1" spc="-45" dirty="0">
                <a:latin typeface="Arial"/>
                <a:cs typeface="Arial"/>
              </a:rPr>
              <a:t> </a:t>
            </a:r>
            <a:r>
              <a:rPr lang="es-CO" sz="1200" i="1" dirty="0">
                <a:latin typeface="Arial"/>
                <a:cs typeface="Arial"/>
              </a:rPr>
              <a:t>adaptarse</a:t>
            </a:r>
            <a:r>
              <a:rPr lang="es-CO" sz="1200" i="1" spc="-65" dirty="0">
                <a:latin typeface="Arial"/>
                <a:cs typeface="Arial"/>
              </a:rPr>
              <a:t> </a:t>
            </a:r>
            <a:r>
              <a:rPr lang="es-CO" sz="1200" i="1" dirty="0">
                <a:latin typeface="Arial"/>
                <a:cs typeface="Arial"/>
              </a:rPr>
              <a:t>y</a:t>
            </a:r>
            <a:r>
              <a:rPr lang="es-CO" sz="1200" i="1" spc="-25" dirty="0">
                <a:latin typeface="Arial"/>
                <a:cs typeface="Arial"/>
              </a:rPr>
              <a:t> </a:t>
            </a:r>
            <a:r>
              <a:rPr lang="es-CO" sz="1200" i="1" dirty="0">
                <a:latin typeface="Arial"/>
                <a:cs typeface="Arial"/>
              </a:rPr>
              <a:t>actuar</a:t>
            </a:r>
            <a:r>
              <a:rPr lang="es-CO" sz="1200" i="1" spc="-35" dirty="0">
                <a:latin typeface="Arial"/>
                <a:cs typeface="Arial"/>
              </a:rPr>
              <a:t> </a:t>
            </a:r>
            <a:r>
              <a:rPr lang="es-CO" sz="1200" i="1" dirty="0">
                <a:latin typeface="Arial"/>
                <a:cs typeface="Arial"/>
              </a:rPr>
              <a:t>nuevamente</a:t>
            </a:r>
            <a:r>
              <a:rPr lang="es-CO" sz="1200" i="1" spc="-25" dirty="0">
                <a:latin typeface="Arial"/>
                <a:cs typeface="Arial"/>
              </a:rPr>
              <a:t> </a:t>
            </a:r>
            <a:r>
              <a:rPr lang="es-CO" sz="1200" i="1" dirty="0">
                <a:latin typeface="Arial"/>
                <a:cs typeface="Arial"/>
              </a:rPr>
              <a:t>–</a:t>
            </a:r>
            <a:r>
              <a:rPr lang="es-CO" sz="1200" i="1" spc="-10" dirty="0">
                <a:latin typeface="Arial"/>
                <a:cs typeface="Arial"/>
              </a:rPr>
              <a:t> </a:t>
            </a:r>
            <a:r>
              <a:rPr lang="es-CO" sz="1200" i="1" dirty="0">
                <a:latin typeface="Arial"/>
                <a:cs typeface="Arial"/>
              </a:rPr>
              <a:t>es</a:t>
            </a:r>
            <a:r>
              <a:rPr lang="es-CO" sz="1200" i="1" spc="-25" dirty="0">
                <a:latin typeface="Arial"/>
                <a:cs typeface="Arial"/>
              </a:rPr>
              <a:t> una </a:t>
            </a:r>
            <a:r>
              <a:rPr lang="es-CO" sz="1200" i="1" dirty="0">
                <a:latin typeface="Arial"/>
                <a:cs typeface="Arial"/>
              </a:rPr>
              <a:t>de</a:t>
            </a:r>
            <a:r>
              <a:rPr lang="es-CO" sz="1200" i="1" spc="-40" dirty="0">
                <a:latin typeface="Arial"/>
                <a:cs typeface="Arial"/>
              </a:rPr>
              <a:t> </a:t>
            </a:r>
            <a:r>
              <a:rPr lang="es-CO" sz="1200" i="1" dirty="0">
                <a:latin typeface="Arial"/>
                <a:cs typeface="Arial"/>
              </a:rPr>
              <a:t>las</a:t>
            </a:r>
            <a:r>
              <a:rPr lang="es-CO" sz="1200" i="1" spc="-20" dirty="0">
                <a:latin typeface="Arial"/>
                <a:cs typeface="Arial"/>
              </a:rPr>
              <a:t> </a:t>
            </a:r>
            <a:r>
              <a:rPr lang="es-CO" sz="1200" i="1" dirty="0">
                <a:latin typeface="Arial"/>
                <a:cs typeface="Arial"/>
              </a:rPr>
              <a:t>ideas</a:t>
            </a:r>
            <a:r>
              <a:rPr lang="es-CO" sz="1200" i="1" spc="-50" dirty="0">
                <a:latin typeface="Arial"/>
                <a:cs typeface="Arial"/>
              </a:rPr>
              <a:t> </a:t>
            </a:r>
            <a:r>
              <a:rPr lang="es-CO" sz="1200" i="1" dirty="0">
                <a:latin typeface="Arial"/>
                <a:cs typeface="Arial"/>
              </a:rPr>
              <a:t>más</a:t>
            </a:r>
            <a:r>
              <a:rPr lang="es-CO" sz="1200" i="1" spc="-20" dirty="0">
                <a:latin typeface="Arial"/>
                <a:cs typeface="Arial"/>
              </a:rPr>
              <a:t> </a:t>
            </a:r>
            <a:r>
              <a:rPr lang="es-CO" sz="1200" i="1" dirty="0">
                <a:latin typeface="Arial"/>
                <a:cs typeface="Arial"/>
              </a:rPr>
              <a:t>fundamentales</a:t>
            </a:r>
            <a:r>
              <a:rPr lang="es-CO" sz="1200" i="1" spc="-60" dirty="0">
                <a:latin typeface="Arial"/>
                <a:cs typeface="Arial"/>
              </a:rPr>
              <a:t> </a:t>
            </a:r>
            <a:r>
              <a:rPr lang="es-CO" sz="1200" i="1" dirty="0">
                <a:latin typeface="Arial"/>
                <a:cs typeface="Arial"/>
              </a:rPr>
              <a:t>en</a:t>
            </a:r>
            <a:r>
              <a:rPr lang="es-CO" sz="1200" i="1" spc="-25" dirty="0">
                <a:latin typeface="Arial"/>
                <a:cs typeface="Arial"/>
              </a:rPr>
              <a:t> </a:t>
            </a:r>
            <a:r>
              <a:rPr lang="es-CO" sz="1200" i="1" dirty="0">
                <a:latin typeface="Arial"/>
                <a:cs typeface="Arial"/>
              </a:rPr>
              <a:t>Inteligencia</a:t>
            </a:r>
            <a:r>
              <a:rPr lang="es-CO" sz="1200" i="1" spc="-45" dirty="0">
                <a:latin typeface="Arial"/>
                <a:cs typeface="Arial"/>
              </a:rPr>
              <a:t> </a:t>
            </a:r>
            <a:r>
              <a:rPr lang="es-CO" sz="1200" i="1" dirty="0">
                <a:latin typeface="Arial"/>
                <a:cs typeface="Arial"/>
              </a:rPr>
              <a:t>Artificial</a:t>
            </a:r>
            <a:r>
              <a:rPr lang="es-CO" sz="1200" i="1" spc="-20" dirty="0">
                <a:latin typeface="Arial"/>
                <a:cs typeface="Arial"/>
              </a:rPr>
              <a:t> </a:t>
            </a:r>
            <a:r>
              <a:rPr lang="es-CO" sz="1200" i="1" dirty="0">
                <a:latin typeface="Arial"/>
                <a:cs typeface="Arial"/>
              </a:rPr>
              <a:t>sobre</a:t>
            </a:r>
            <a:r>
              <a:rPr lang="es-CO" sz="1200" i="1" spc="-50" dirty="0">
                <a:latin typeface="Arial"/>
                <a:cs typeface="Arial"/>
              </a:rPr>
              <a:t> </a:t>
            </a:r>
            <a:r>
              <a:rPr lang="es-CO" sz="1200" i="1" dirty="0">
                <a:latin typeface="Arial"/>
                <a:cs typeface="Arial"/>
              </a:rPr>
              <a:t>la</a:t>
            </a:r>
            <a:r>
              <a:rPr lang="es-CO" sz="1200" i="1" spc="-25" dirty="0">
                <a:latin typeface="Arial"/>
                <a:cs typeface="Arial"/>
              </a:rPr>
              <a:t> </a:t>
            </a:r>
            <a:r>
              <a:rPr lang="es-CO" sz="1200" i="1" dirty="0">
                <a:latin typeface="Arial"/>
                <a:cs typeface="Arial"/>
              </a:rPr>
              <a:t>cual</a:t>
            </a:r>
            <a:r>
              <a:rPr lang="es-CO" sz="1200" i="1" spc="-35" dirty="0">
                <a:latin typeface="Arial"/>
                <a:cs typeface="Arial"/>
              </a:rPr>
              <a:t> </a:t>
            </a:r>
            <a:r>
              <a:rPr lang="es-CO" sz="1200" i="1" spc="-25" dirty="0">
                <a:latin typeface="Arial"/>
                <a:cs typeface="Arial"/>
              </a:rPr>
              <a:t>se </a:t>
            </a:r>
            <a:r>
              <a:rPr lang="es-CO" sz="1200" i="1" dirty="0">
                <a:latin typeface="Arial"/>
                <a:cs typeface="Arial"/>
              </a:rPr>
              <a:t>basan</a:t>
            </a:r>
            <a:r>
              <a:rPr lang="es-CO" sz="1200" i="1" spc="-30" dirty="0">
                <a:latin typeface="Arial"/>
                <a:cs typeface="Arial"/>
              </a:rPr>
              <a:t> </a:t>
            </a:r>
            <a:r>
              <a:rPr lang="es-CO" sz="1200" i="1" dirty="0">
                <a:latin typeface="Arial"/>
                <a:cs typeface="Arial"/>
              </a:rPr>
              <a:t>muchos</a:t>
            </a:r>
            <a:r>
              <a:rPr lang="es-CO" sz="1200" i="1" spc="-30" dirty="0">
                <a:latin typeface="Arial"/>
                <a:cs typeface="Arial"/>
              </a:rPr>
              <a:t> </a:t>
            </a:r>
            <a:r>
              <a:rPr lang="es-CO" sz="1200" i="1" spc="-10" dirty="0">
                <a:latin typeface="Arial"/>
                <a:cs typeface="Arial"/>
              </a:rPr>
              <a:t>temas.</a:t>
            </a:r>
            <a:endParaRPr lang="es-CO" sz="1200" dirty="0">
              <a:latin typeface="Arial"/>
              <a:cs typeface="Arial"/>
            </a:endParaRPr>
          </a:p>
          <a:p>
            <a:endParaRPr lang="es-CO" dirty="0"/>
          </a:p>
        </p:txBody>
      </p:sp>
      <p:sp>
        <p:nvSpPr>
          <p:cNvPr id="4" name="Slide Number Placeholder 3"/>
          <p:cNvSpPr>
            <a:spLocks noGrp="1"/>
          </p:cNvSpPr>
          <p:nvPr>
            <p:ph type="sldNum" sz="quarter" idx="5"/>
          </p:nvPr>
        </p:nvSpPr>
        <p:spPr/>
        <p:txBody>
          <a:bodyPr/>
          <a:lstStyle/>
          <a:p>
            <a:fld id="{F6782227-D544-4E5C-B19D-C44641C59EA3}" type="slidenum">
              <a:rPr lang="es-CO" smtClean="0"/>
              <a:t>4</a:t>
            </a:fld>
            <a:endParaRPr lang="es-CO"/>
          </a:p>
        </p:txBody>
      </p:sp>
    </p:spTree>
    <p:extLst>
      <p:ext uri="{BB962C8B-B14F-4D97-AF65-F5344CB8AC3E}">
        <p14:creationId xmlns:p14="http://schemas.microsoft.com/office/powerpoint/2010/main" val="135992791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22000-5CB7-B555-DAD2-ED1B913960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F60AC88-8D2C-21BA-F9E5-DE3530F3F0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B67D07-90FB-4E78-FE8D-A304ACC1F681}"/>
              </a:ext>
            </a:extLst>
          </p:cNvPr>
          <p:cNvSpPr>
            <a:spLocks noGrp="1"/>
          </p:cNvSpPr>
          <p:nvPr>
            <p:ph type="body" idx="1"/>
          </p:nvPr>
        </p:nvSpPr>
        <p:spPr/>
        <p:txBody>
          <a:bodyPr/>
          <a:lstStyle/>
          <a:p>
            <a:r>
              <a:rPr lang="es-CO" dirty="0"/>
              <a:t>El ratón robot puede realizar acciones, como girar a la izquierda o a la derecha y avanzar. En cada momento, puede observar el estado completo del laberinto para tomar una decisión sobre las acciones que debe realizar. </a:t>
            </a:r>
          </a:p>
        </p:txBody>
      </p:sp>
      <p:sp>
        <p:nvSpPr>
          <p:cNvPr id="4" name="Slide Number Placeholder 3">
            <a:extLst>
              <a:ext uri="{FF2B5EF4-FFF2-40B4-BE49-F238E27FC236}">
                <a16:creationId xmlns:a16="http://schemas.microsoft.com/office/drawing/2014/main" id="{C14F94BB-E147-840D-55A7-9B400BA8C70D}"/>
              </a:ext>
            </a:extLst>
          </p:cNvPr>
          <p:cNvSpPr>
            <a:spLocks noGrp="1"/>
          </p:cNvSpPr>
          <p:nvPr>
            <p:ph type="sldNum" sz="quarter" idx="5"/>
          </p:nvPr>
        </p:nvSpPr>
        <p:spPr/>
        <p:txBody>
          <a:bodyPr/>
          <a:lstStyle/>
          <a:p>
            <a:fld id="{F6782227-D544-4E5C-B19D-C44641C59EA3}" type="slidenum">
              <a:rPr lang="es-CO" smtClean="0"/>
              <a:t>5</a:t>
            </a:fld>
            <a:endParaRPr lang="es-CO"/>
          </a:p>
        </p:txBody>
      </p:sp>
    </p:spTree>
    <p:extLst>
      <p:ext uri="{BB962C8B-B14F-4D97-AF65-F5344CB8AC3E}">
        <p14:creationId xmlns:p14="http://schemas.microsoft.com/office/powerpoint/2010/main" val="10629909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D90F2A-6E04-C5CB-CA82-679E19B2B2E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4C268C-0CD2-3506-0266-F9767A28A1B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11405BC-0A0A-4474-C743-E160EF14C222}"/>
              </a:ext>
            </a:extLst>
          </p:cNvPr>
          <p:cNvSpPr>
            <a:spLocks noGrp="1"/>
          </p:cNvSpPr>
          <p:nvPr>
            <p:ph type="body" idx="1"/>
          </p:nvPr>
        </p:nvSpPr>
        <p:spPr/>
        <p:txBody>
          <a:bodyPr/>
          <a:lstStyle/>
          <a:p>
            <a:r>
              <a:rPr lang="en-US" dirty="0"/>
              <a:t>What we want is to have some magic set of methods that will allow our robot mouse to learn on its own how to avoid electricity and gather as much food as possible. RL is exactly this magic toolbox and it behaves differently from supervised and unsupervised learning methods; it doesn't work with predefined labels in the way that supervised learning does. </a:t>
            </a:r>
          </a:p>
          <a:p>
            <a:endParaRPr lang="en-US" dirty="0"/>
          </a:p>
          <a:p>
            <a:r>
              <a:rPr lang="en-US" dirty="0"/>
              <a:t>However, we're not completely blind as in an unsupervised learning setup—we have a reward system. The reward can be positive from gathering the food, negative from electric shocks, or neutral when nothing special happens.</a:t>
            </a:r>
          </a:p>
          <a:p>
            <a:endParaRPr lang="en-US" dirty="0"/>
          </a:p>
          <a:p>
            <a:r>
              <a:rPr lang="en-US" dirty="0"/>
              <a:t>By observing the reward and relating it to the actions taken, our agent learns how to perform an action better, gather more food, and get fewer electric shocks. Of course, RL generality and flexibility comes with a price. RL is considered to be a much more challenging area than supervised or unsupervised learning.</a:t>
            </a:r>
          </a:p>
          <a:p>
            <a:endParaRPr lang="en-US" dirty="0"/>
          </a:p>
        </p:txBody>
      </p:sp>
      <p:sp>
        <p:nvSpPr>
          <p:cNvPr id="4" name="Slide Number Placeholder 3">
            <a:extLst>
              <a:ext uri="{FF2B5EF4-FFF2-40B4-BE49-F238E27FC236}">
                <a16:creationId xmlns:a16="http://schemas.microsoft.com/office/drawing/2014/main" id="{5129712A-A4D5-880F-8207-6688BFEAAEFA}"/>
              </a:ext>
            </a:extLst>
          </p:cNvPr>
          <p:cNvSpPr>
            <a:spLocks noGrp="1"/>
          </p:cNvSpPr>
          <p:nvPr>
            <p:ph type="sldNum" sz="quarter" idx="5"/>
          </p:nvPr>
        </p:nvSpPr>
        <p:spPr/>
        <p:txBody>
          <a:bodyPr/>
          <a:lstStyle/>
          <a:p>
            <a:fld id="{F6782227-D544-4E5C-B19D-C44641C59EA3}" type="slidenum">
              <a:rPr lang="es-CO" smtClean="0"/>
              <a:t>6</a:t>
            </a:fld>
            <a:endParaRPr lang="es-CO"/>
          </a:p>
        </p:txBody>
      </p:sp>
    </p:spTree>
    <p:extLst>
      <p:ext uri="{BB962C8B-B14F-4D97-AF65-F5344CB8AC3E}">
        <p14:creationId xmlns:p14="http://schemas.microsoft.com/office/powerpoint/2010/main" val="151974544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23FE231-CDDF-8906-AA59-86A037ABB17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D8160EE-7953-7EAB-096B-6638EA8E86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7E449FE-8F6B-5BE9-246B-9892228B109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43D03D-E34B-D20C-FC08-BDDFCBD6DF3E}"/>
              </a:ext>
            </a:extLst>
          </p:cNvPr>
          <p:cNvSpPr>
            <a:spLocks noGrp="1"/>
          </p:cNvSpPr>
          <p:nvPr>
            <p:ph type="sldNum" sz="quarter" idx="5"/>
          </p:nvPr>
        </p:nvSpPr>
        <p:spPr/>
        <p:txBody>
          <a:bodyPr/>
          <a:lstStyle/>
          <a:p>
            <a:fld id="{F6782227-D544-4E5C-B19D-C44641C59EA3}" type="slidenum">
              <a:rPr lang="es-CO" smtClean="0"/>
              <a:t>7</a:t>
            </a:fld>
            <a:endParaRPr lang="es-CO"/>
          </a:p>
        </p:txBody>
      </p:sp>
    </p:spTree>
    <p:extLst>
      <p:ext uri="{BB962C8B-B14F-4D97-AF65-F5344CB8AC3E}">
        <p14:creationId xmlns:p14="http://schemas.microsoft.com/office/powerpoint/2010/main" val="1012746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559280-317C-F506-33C8-830A2DE06B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0266529-AB9D-8DF7-D93C-C1E10417444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DA962E-4CAE-87E0-337C-ACA735237C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843B88E-0D11-3B1F-007F-4FE224C3CFF3}"/>
              </a:ext>
            </a:extLst>
          </p:cNvPr>
          <p:cNvSpPr>
            <a:spLocks noGrp="1"/>
          </p:cNvSpPr>
          <p:nvPr>
            <p:ph type="sldNum" sz="quarter" idx="5"/>
          </p:nvPr>
        </p:nvSpPr>
        <p:spPr/>
        <p:txBody>
          <a:bodyPr/>
          <a:lstStyle/>
          <a:p>
            <a:fld id="{F6782227-D544-4E5C-B19D-C44641C59EA3}" type="slidenum">
              <a:rPr lang="es-CO" smtClean="0"/>
              <a:t>8</a:t>
            </a:fld>
            <a:endParaRPr lang="es-CO"/>
          </a:p>
        </p:txBody>
      </p:sp>
    </p:spTree>
    <p:extLst>
      <p:ext uri="{BB962C8B-B14F-4D97-AF65-F5344CB8AC3E}">
        <p14:creationId xmlns:p14="http://schemas.microsoft.com/office/powerpoint/2010/main" val="332240371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FA1B1-4180-E36C-2759-6FE61CB22DA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A7DD221-E71C-6911-711B-1CF6F2E9F6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89FA8A-2EB7-EBF1-ECE6-211191040E64}"/>
              </a:ext>
            </a:extLst>
          </p:cNvPr>
          <p:cNvSpPr>
            <a:spLocks noGrp="1"/>
          </p:cNvSpPr>
          <p:nvPr>
            <p:ph type="body" idx="1"/>
          </p:nvPr>
        </p:nvSpPr>
        <p:spPr/>
        <p:txBody>
          <a:bodyPr/>
          <a:lstStyle/>
          <a:p>
            <a:r>
              <a:rPr lang="en-US" dirty="0"/>
              <a:t>The problem is that too much exploration may also seriously decrease the reward (not to mention the agent can actually forget what it has learned before), so we need to find a balance between these two activities somehow. This exploration/exploitation dilemma is one of the open fundamental questions in RL.</a:t>
            </a:r>
          </a:p>
          <a:p>
            <a:endParaRPr lang="en-US" dirty="0"/>
          </a:p>
          <a:p>
            <a:r>
              <a:rPr lang="en-US" dirty="0"/>
              <a:t>People face this choice all the time—should I go to an already known place for dinner or try this fancy new restaurant? How frequently should I change jobs? Should I study a new field or keep working in my area? There are no universal answers to these questions.</a:t>
            </a:r>
          </a:p>
          <a:p>
            <a:endParaRPr lang="en-US" dirty="0"/>
          </a:p>
          <a:p>
            <a:r>
              <a:rPr lang="en-US" dirty="0"/>
              <a:t>Lapan, Maxim. Deep Reinforcement Learning Hands-On: Apply modern RL methods to practical problems of chatbots, robotics, discrete optimization, web automation, and more (English Edition) (p. 5). </a:t>
            </a:r>
            <a:r>
              <a:rPr lang="en-US" dirty="0" err="1"/>
              <a:t>Packt</a:t>
            </a:r>
            <a:r>
              <a:rPr lang="en-US" dirty="0"/>
              <a:t> Publishing. </a:t>
            </a:r>
            <a:r>
              <a:rPr lang="en-US" dirty="0" err="1"/>
              <a:t>Edición</a:t>
            </a:r>
            <a:r>
              <a:rPr lang="en-US" dirty="0"/>
              <a:t> de Kindle. </a:t>
            </a:r>
          </a:p>
        </p:txBody>
      </p:sp>
      <p:sp>
        <p:nvSpPr>
          <p:cNvPr id="4" name="Slide Number Placeholder 3">
            <a:extLst>
              <a:ext uri="{FF2B5EF4-FFF2-40B4-BE49-F238E27FC236}">
                <a16:creationId xmlns:a16="http://schemas.microsoft.com/office/drawing/2014/main" id="{4A916467-77E3-52DC-7E80-E0CD13AF22A1}"/>
              </a:ext>
            </a:extLst>
          </p:cNvPr>
          <p:cNvSpPr>
            <a:spLocks noGrp="1"/>
          </p:cNvSpPr>
          <p:nvPr>
            <p:ph type="sldNum" sz="quarter" idx="5"/>
          </p:nvPr>
        </p:nvSpPr>
        <p:spPr/>
        <p:txBody>
          <a:bodyPr/>
          <a:lstStyle/>
          <a:p>
            <a:fld id="{F6782227-D544-4E5C-B19D-C44641C59EA3}" type="slidenum">
              <a:rPr lang="es-CO" smtClean="0"/>
              <a:t>10</a:t>
            </a:fld>
            <a:endParaRPr lang="es-CO"/>
          </a:p>
        </p:txBody>
      </p:sp>
    </p:spTree>
    <p:extLst>
      <p:ext uri="{BB962C8B-B14F-4D97-AF65-F5344CB8AC3E}">
        <p14:creationId xmlns:p14="http://schemas.microsoft.com/office/powerpoint/2010/main" val="37709349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03A81E-30E2-0714-B3BB-0DC2B1AA25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DA7E3-7003-588E-68DA-965B651A292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FCF343-8B6B-3E42-262F-D237D83111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5E43DA6-42AA-E2BD-21AC-624FD057D807}"/>
              </a:ext>
            </a:extLst>
          </p:cNvPr>
          <p:cNvSpPr>
            <a:spLocks noGrp="1"/>
          </p:cNvSpPr>
          <p:nvPr>
            <p:ph type="sldNum" sz="quarter" idx="5"/>
          </p:nvPr>
        </p:nvSpPr>
        <p:spPr/>
        <p:txBody>
          <a:bodyPr/>
          <a:lstStyle/>
          <a:p>
            <a:fld id="{F6782227-D544-4E5C-B19D-C44641C59EA3}" type="slidenum">
              <a:rPr lang="es-CO" smtClean="0"/>
              <a:t>11</a:t>
            </a:fld>
            <a:endParaRPr lang="es-CO"/>
          </a:p>
        </p:txBody>
      </p:sp>
    </p:spTree>
    <p:extLst>
      <p:ext uri="{BB962C8B-B14F-4D97-AF65-F5344CB8AC3E}">
        <p14:creationId xmlns:p14="http://schemas.microsoft.com/office/powerpoint/2010/main" val="38070263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DEB72-A23C-1321-21FA-0CECE9577E0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1295923-7C27-8DF0-684A-3A6DF127D4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6DEEFC-1D40-F9B9-55BA-6021667582D1}"/>
              </a:ext>
            </a:extLst>
          </p:cNvPr>
          <p:cNvSpPr>
            <a:spLocks noGrp="1"/>
          </p:cNvSpPr>
          <p:nvPr>
            <p:ph type="body" idx="1"/>
          </p:nvPr>
        </p:nvSpPr>
        <p:spPr/>
        <p:txBody>
          <a:bodyPr/>
          <a:lstStyle/>
          <a:p>
            <a:r>
              <a:rPr lang="en-US" dirty="0"/>
              <a:t>how frequently the agent receives this reward; it can be every second or once in an agent's lifetime, although it's common practice to receive rewards every fixed timestamp or at every environment interaction, just for convenience. In the case of once-in-a-lifetime reward systems, all rewards except the last one will be zero.</a:t>
            </a:r>
          </a:p>
          <a:p>
            <a:endParaRPr lang="en-US" dirty="0"/>
          </a:p>
          <a:p>
            <a:r>
              <a:rPr lang="en-US" dirty="0"/>
              <a:t>Reward is local, meaning that it reflects the success of the agent's recent activity and not all the successes achieved by the agent so far.</a:t>
            </a:r>
          </a:p>
          <a:p>
            <a:endParaRPr lang="en-US" dirty="0"/>
          </a:p>
          <a:p>
            <a:r>
              <a:rPr lang="en-US" dirty="0"/>
              <a:t>Lapan, Maxim. Deep Reinforcement Learning Hands-On: Apply modern RL methods to practical problems of chatbots, robotics, discrete optimization, web automation, and more (English Edition) (p. 6). </a:t>
            </a:r>
            <a:r>
              <a:rPr lang="en-US" dirty="0" err="1"/>
              <a:t>Packt</a:t>
            </a:r>
            <a:r>
              <a:rPr lang="en-US" dirty="0"/>
              <a:t> Publishing. </a:t>
            </a:r>
            <a:r>
              <a:rPr lang="en-US" dirty="0" err="1"/>
              <a:t>Edición</a:t>
            </a:r>
            <a:r>
              <a:rPr lang="en-US" dirty="0"/>
              <a:t> de Kindle. </a:t>
            </a:r>
          </a:p>
        </p:txBody>
      </p:sp>
      <p:sp>
        <p:nvSpPr>
          <p:cNvPr id="4" name="Slide Number Placeholder 3">
            <a:extLst>
              <a:ext uri="{FF2B5EF4-FFF2-40B4-BE49-F238E27FC236}">
                <a16:creationId xmlns:a16="http://schemas.microsoft.com/office/drawing/2014/main" id="{486094C1-4B0D-A4C8-7539-CA7A09D3B80D}"/>
              </a:ext>
            </a:extLst>
          </p:cNvPr>
          <p:cNvSpPr>
            <a:spLocks noGrp="1"/>
          </p:cNvSpPr>
          <p:nvPr>
            <p:ph type="sldNum" sz="quarter" idx="5"/>
          </p:nvPr>
        </p:nvSpPr>
        <p:spPr/>
        <p:txBody>
          <a:bodyPr/>
          <a:lstStyle/>
          <a:p>
            <a:fld id="{F6782227-D544-4E5C-B19D-C44641C59EA3}" type="slidenum">
              <a:rPr lang="es-CO" smtClean="0"/>
              <a:t>13</a:t>
            </a:fld>
            <a:endParaRPr lang="es-CO"/>
          </a:p>
        </p:txBody>
      </p:sp>
    </p:spTree>
    <p:extLst>
      <p:ext uri="{BB962C8B-B14F-4D97-AF65-F5344CB8AC3E}">
        <p14:creationId xmlns:p14="http://schemas.microsoft.com/office/powerpoint/2010/main" val="29477488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DC8B6E-B45C-372F-F166-020DA1EEF07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6A35986-026B-5471-2536-501C2645B4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99649-6755-A4F2-D3F9-75B93F460974}"/>
              </a:ext>
            </a:extLst>
          </p:cNvPr>
          <p:cNvSpPr>
            <a:spLocks noGrp="1"/>
          </p:cNvSpPr>
          <p:nvPr>
            <p:ph type="body" idx="1"/>
          </p:nvPr>
        </p:nvSpPr>
        <p:spPr/>
        <p:txBody>
          <a:bodyPr/>
          <a:lstStyle/>
          <a:p>
            <a:r>
              <a:rPr lang="en-US" b="1" dirty="0"/>
              <a:t>Neural network (NN) architecture search</a:t>
            </a:r>
            <a:r>
              <a:rPr lang="en-US" dirty="0"/>
              <a:t>: RL has been successfully applied to the domain of NN architecture optimization, where the aim is to get the best performance metric on some dataset by tweaking the number of layers or their parameters, adding extra bypass connections, or making other changes to the NN architecture. The reward in this case is the performance (accuracy or another measure showing how accurate the NN predictions are).</a:t>
            </a:r>
          </a:p>
          <a:p>
            <a:endParaRPr lang="en-US" dirty="0"/>
          </a:p>
        </p:txBody>
      </p:sp>
      <p:sp>
        <p:nvSpPr>
          <p:cNvPr id="4" name="Slide Number Placeholder 3">
            <a:extLst>
              <a:ext uri="{FF2B5EF4-FFF2-40B4-BE49-F238E27FC236}">
                <a16:creationId xmlns:a16="http://schemas.microsoft.com/office/drawing/2014/main" id="{4F41CBFE-D67D-DE2D-69AF-DD1E72E5FE86}"/>
              </a:ext>
            </a:extLst>
          </p:cNvPr>
          <p:cNvSpPr>
            <a:spLocks noGrp="1"/>
          </p:cNvSpPr>
          <p:nvPr>
            <p:ph type="sldNum" sz="quarter" idx="5"/>
          </p:nvPr>
        </p:nvSpPr>
        <p:spPr/>
        <p:txBody>
          <a:bodyPr/>
          <a:lstStyle/>
          <a:p>
            <a:fld id="{F6782227-D544-4E5C-B19D-C44641C59EA3}" type="slidenum">
              <a:rPr lang="es-CO" smtClean="0"/>
              <a:t>14</a:t>
            </a:fld>
            <a:endParaRPr lang="es-CO"/>
          </a:p>
        </p:txBody>
      </p:sp>
    </p:spTree>
    <p:extLst>
      <p:ext uri="{BB962C8B-B14F-4D97-AF65-F5344CB8AC3E}">
        <p14:creationId xmlns:p14="http://schemas.microsoft.com/office/powerpoint/2010/main" val="110247382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72AEC-C31A-CC29-6909-2E2E85ACE59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F0FB7F-E7DD-D2C8-BDE2-20DDB103505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BF03CDF-E8D4-A868-C17B-4E353DA17B14}"/>
              </a:ext>
            </a:extLst>
          </p:cNvPr>
          <p:cNvSpPr>
            <a:spLocks noGrp="1"/>
          </p:cNvSpPr>
          <p:nvPr>
            <p:ph type="body" idx="1"/>
          </p:nvPr>
        </p:nvSpPr>
        <p:spPr/>
        <p:txBody>
          <a:bodyPr/>
          <a:lstStyle/>
          <a:p>
            <a:r>
              <a:rPr lang="en-US" dirty="0"/>
              <a:t>Andrej </a:t>
            </a:r>
            <a:r>
              <a:rPr lang="en-US" dirty="0" err="1"/>
              <a:t>Karpathy</a:t>
            </a:r>
            <a:r>
              <a:rPr lang="en-US" dirty="0"/>
              <a:t> : "we were supposed to make AI do all the work and we play games but we do all the work and the AI is playing games!"</a:t>
            </a:r>
          </a:p>
          <a:p>
            <a:endParaRPr lang="en-US" dirty="0"/>
          </a:p>
        </p:txBody>
      </p:sp>
      <p:sp>
        <p:nvSpPr>
          <p:cNvPr id="4" name="Slide Number Placeholder 3">
            <a:extLst>
              <a:ext uri="{FF2B5EF4-FFF2-40B4-BE49-F238E27FC236}">
                <a16:creationId xmlns:a16="http://schemas.microsoft.com/office/drawing/2014/main" id="{D9199591-D73A-C109-5F81-AF2B7D5CFE45}"/>
              </a:ext>
            </a:extLst>
          </p:cNvPr>
          <p:cNvSpPr>
            <a:spLocks noGrp="1"/>
          </p:cNvSpPr>
          <p:nvPr>
            <p:ph type="sldNum" sz="quarter" idx="5"/>
          </p:nvPr>
        </p:nvSpPr>
        <p:spPr/>
        <p:txBody>
          <a:bodyPr/>
          <a:lstStyle/>
          <a:p>
            <a:fld id="{F6782227-D544-4E5C-B19D-C44641C59EA3}" type="slidenum">
              <a:rPr lang="es-CO" smtClean="0"/>
              <a:t>15</a:t>
            </a:fld>
            <a:endParaRPr lang="es-CO"/>
          </a:p>
        </p:txBody>
      </p:sp>
    </p:spTree>
    <p:extLst>
      <p:ext uri="{BB962C8B-B14F-4D97-AF65-F5344CB8AC3E}">
        <p14:creationId xmlns:p14="http://schemas.microsoft.com/office/powerpoint/2010/main" val="202317702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1B7678-85AB-8D97-3E47-80276709A05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DE661F4-B706-EAD3-9CE3-A61EFEB6E0A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C3C42ED-4393-57FE-CEF6-1F41994DBA35}"/>
              </a:ext>
            </a:extLst>
          </p:cNvPr>
          <p:cNvSpPr>
            <a:spLocks noGrp="1"/>
          </p:cNvSpPr>
          <p:nvPr>
            <p:ph type="body" idx="1"/>
          </p:nvPr>
        </p:nvSpPr>
        <p:spPr/>
        <p:txBody>
          <a:bodyPr/>
          <a:lstStyle/>
          <a:p>
            <a:r>
              <a:rPr lang="en-US" b="1" dirty="0"/>
              <a:t>ACTIONS</a:t>
            </a:r>
          </a:p>
          <a:p>
            <a:r>
              <a:rPr lang="en-US" b="0" dirty="0"/>
              <a:t>They can be as simple as move pawn one space forward or as complicated as fill the tax form in for tomorrow morning.</a:t>
            </a:r>
          </a:p>
          <a:p>
            <a:r>
              <a:rPr lang="en-US" b="0" dirty="0"/>
              <a:t>In RL, we distinguish between two types of actions—discrete or continuous. Discrete actions form the finite set of mutually exclusive things an agent can do, such as move left or right. Continuous actions have some value attached to them, such as a car's action turn the wheel having an angle and direction of steering. Different angles could lead to a different scenario a second later, so just turn the wheel is definitely not enough.</a:t>
            </a:r>
          </a:p>
          <a:p>
            <a:endParaRPr lang="en-US" b="1" dirty="0"/>
          </a:p>
          <a:p>
            <a:r>
              <a:rPr lang="en-US" b="1" dirty="0"/>
              <a:t>OBSERVATIONS</a:t>
            </a:r>
          </a:p>
          <a:p>
            <a:r>
              <a:rPr lang="en-US" b="0" dirty="0"/>
              <a:t>It's also important to distinguish between an environment's state and observations. The state of an environment potentially includes every atom in the universe, which makes it impossible to measure everything about the environment.</a:t>
            </a:r>
          </a:p>
        </p:txBody>
      </p:sp>
      <p:sp>
        <p:nvSpPr>
          <p:cNvPr id="4" name="Slide Number Placeholder 3">
            <a:extLst>
              <a:ext uri="{FF2B5EF4-FFF2-40B4-BE49-F238E27FC236}">
                <a16:creationId xmlns:a16="http://schemas.microsoft.com/office/drawing/2014/main" id="{0AA6A645-1412-8DC2-67A7-654E3E19A269}"/>
              </a:ext>
            </a:extLst>
          </p:cNvPr>
          <p:cNvSpPr>
            <a:spLocks noGrp="1"/>
          </p:cNvSpPr>
          <p:nvPr>
            <p:ph type="sldNum" sz="quarter" idx="5"/>
          </p:nvPr>
        </p:nvSpPr>
        <p:spPr/>
        <p:txBody>
          <a:bodyPr/>
          <a:lstStyle/>
          <a:p>
            <a:fld id="{F6782227-D544-4E5C-B19D-C44641C59EA3}" type="slidenum">
              <a:rPr lang="es-CO" smtClean="0"/>
              <a:t>16</a:t>
            </a:fld>
            <a:endParaRPr lang="es-CO"/>
          </a:p>
        </p:txBody>
      </p:sp>
    </p:spTree>
    <p:extLst>
      <p:ext uri="{BB962C8B-B14F-4D97-AF65-F5344CB8AC3E}">
        <p14:creationId xmlns:p14="http://schemas.microsoft.com/office/powerpoint/2010/main" val="21331909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E5CF89-408B-DBCB-E567-328934B236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6FAF7-BA47-11D9-428B-E0F409F87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28F13A4-F3F0-05D0-BF0A-A21DE7A6A21E}"/>
              </a:ext>
            </a:extLst>
          </p:cNvPr>
          <p:cNvSpPr>
            <a:spLocks noGrp="1"/>
          </p:cNvSpPr>
          <p:nvPr>
            <p:ph type="body" idx="1"/>
          </p:nvPr>
        </p:nvSpPr>
        <p:spPr/>
        <p:txBody>
          <a:bodyPr/>
          <a:lstStyle/>
          <a:p>
            <a:r>
              <a:rPr lang="en-US" dirty="0"/>
              <a:t>ML: RL, being a subfield of ML, borrows lots of its machinery, tricks, and techniques from ML. Basically, the goal of RL is to learn how an agent should behave when it is given imperfect observational data.</a:t>
            </a:r>
          </a:p>
          <a:p>
            <a:r>
              <a:rPr lang="en-US" dirty="0"/>
              <a:t> Engineering (especially optimal control): This helps with taking a sequence of optimal actions to get the best result.</a:t>
            </a:r>
          </a:p>
          <a:p>
            <a:r>
              <a:rPr lang="en-US" dirty="0"/>
              <a:t> Neuroscience: We used the dopamine system as our example, and it has been shown that the human brain acts similarly to the RL model. Psychology: This studies behavior in various conditions, such as how people react and adapt, which is close to the RL topic.</a:t>
            </a:r>
          </a:p>
          <a:p>
            <a:r>
              <a:rPr lang="en-US" dirty="0"/>
              <a:t>Economics: One of the important topics is how to maximize reward in terms of imperfect knowledge and the changing conditions of the real world.</a:t>
            </a:r>
          </a:p>
          <a:p>
            <a:r>
              <a:rPr lang="en-US" dirty="0"/>
              <a:t> Mathematics: This works with idealized systems and also devotes significant attention to finding and reaching the optimal conditions in the field of operations research.</a:t>
            </a:r>
          </a:p>
          <a:p>
            <a:endParaRPr lang="en-US" dirty="0"/>
          </a:p>
        </p:txBody>
      </p:sp>
      <p:sp>
        <p:nvSpPr>
          <p:cNvPr id="4" name="Slide Number Placeholder 3">
            <a:extLst>
              <a:ext uri="{FF2B5EF4-FFF2-40B4-BE49-F238E27FC236}">
                <a16:creationId xmlns:a16="http://schemas.microsoft.com/office/drawing/2014/main" id="{AD4BC1F0-D7EF-357C-52BB-0A953F87C7BC}"/>
              </a:ext>
            </a:extLst>
          </p:cNvPr>
          <p:cNvSpPr>
            <a:spLocks noGrp="1"/>
          </p:cNvSpPr>
          <p:nvPr>
            <p:ph type="sldNum" sz="quarter" idx="5"/>
          </p:nvPr>
        </p:nvSpPr>
        <p:spPr/>
        <p:txBody>
          <a:bodyPr/>
          <a:lstStyle/>
          <a:p>
            <a:fld id="{F6782227-D544-4E5C-B19D-C44641C59EA3}" type="slidenum">
              <a:rPr lang="es-CO" smtClean="0"/>
              <a:t>17</a:t>
            </a:fld>
            <a:endParaRPr lang="es-CO"/>
          </a:p>
        </p:txBody>
      </p:sp>
    </p:spTree>
    <p:extLst>
      <p:ext uri="{BB962C8B-B14F-4D97-AF65-F5344CB8AC3E}">
        <p14:creationId xmlns:p14="http://schemas.microsoft.com/office/powerpoint/2010/main" val="4192375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C6FDDA-02F7-3F2E-AD93-B9A68AF5B0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E3256F4-2E21-2286-A4F4-ADD30D1CD4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B7D200-5524-0E4E-0FFF-CAE5730C96D3}"/>
              </a:ext>
            </a:extLst>
          </p:cNvPr>
          <p:cNvSpPr>
            <a:spLocks noGrp="1"/>
          </p:cNvSpPr>
          <p:nvPr>
            <p:ph type="body" idx="1"/>
          </p:nvPr>
        </p:nvSpPr>
        <p:spPr/>
        <p:txBody>
          <a:bodyPr/>
          <a:lstStyle/>
          <a:p>
            <a:r>
              <a:rPr lang="es-CO" dirty="0"/>
              <a:t>Todos los estados posibles de un sistema forman un conjunto denominado espacio de estados. Para los MP, requerimos que este conjunto de estados sea finito (pero puede ser extremadamente grande para compensar esta limitación).</a:t>
            </a:r>
            <a:endParaRPr lang="en-US" dirty="0"/>
          </a:p>
        </p:txBody>
      </p:sp>
      <p:sp>
        <p:nvSpPr>
          <p:cNvPr id="4" name="Slide Number Placeholder 3">
            <a:extLst>
              <a:ext uri="{FF2B5EF4-FFF2-40B4-BE49-F238E27FC236}">
                <a16:creationId xmlns:a16="http://schemas.microsoft.com/office/drawing/2014/main" id="{1C98D75B-8AEF-EF24-979A-FB7FB8B1B8CC}"/>
              </a:ext>
            </a:extLst>
          </p:cNvPr>
          <p:cNvSpPr>
            <a:spLocks noGrp="1"/>
          </p:cNvSpPr>
          <p:nvPr>
            <p:ph type="sldNum" sz="quarter" idx="5"/>
          </p:nvPr>
        </p:nvSpPr>
        <p:spPr/>
        <p:txBody>
          <a:bodyPr/>
          <a:lstStyle/>
          <a:p>
            <a:fld id="{F6782227-D544-4E5C-B19D-C44641C59EA3}" type="slidenum">
              <a:rPr lang="es-CO" smtClean="0"/>
              <a:t>19</a:t>
            </a:fld>
            <a:endParaRPr lang="es-CO"/>
          </a:p>
        </p:txBody>
      </p:sp>
    </p:spTree>
    <p:extLst>
      <p:ext uri="{BB962C8B-B14F-4D97-AF65-F5344CB8AC3E}">
        <p14:creationId xmlns:p14="http://schemas.microsoft.com/office/powerpoint/2010/main" val="95773523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AA0345-32FB-7034-4316-A5ECC76F696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52D046-E87A-9A2A-E774-B4659B7D76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A50E1E-4FB3-0166-78A8-587A22FBAD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4672564-5F5E-8444-C02B-4642719C6D05}"/>
              </a:ext>
            </a:extLst>
          </p:cNvPr>
          <p:cNvSpPr>
            <a:spLocks noGrp="1"/>
          </p:cNvSpPr>
          <p:nvPr>
            <p:ph type="sldNum" sz="quarter" idx="5"/>
          </p:nvPr>
        </p:nvSpPr>
        <p:spPr/>
        <p:txBody>
          <a:bodyPr/>
          <a:lstStyle/>
          <a:p>
            <a:fld id="{F6782227-D544-4E5C-B19D-C44641C59EA3}" type="slidenum">
              <a:rPr lang="es-CO" smtClean="0"/>
              <a:t>20</a:t>
            </a:fld>
            <a:endParaRPr lang="es-CO"/>
          </a:p>
        </p:txBody>
      </p:sp>
    </p:spTree>
    <p:extLst>
      <p:ext uri="{BB962C8B-B14F-4D97-AF65-F5344CB8AC3E}">
        <p14:creationId xmlns:p14="http://schemas.microsoft.com/office/powerpoint/2010/main" val="151166952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C10B37-D5C6-8542-1D4D-4E9C27CC8CC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9C5C61-F59E-8597-AFA1-BE4C12E911A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433EF72-5B60-1E64-53F0-D7064916E727}"/>
              </a:ext>
            </a:extLst>
          </p:cNvPr>
          <p:cNvSpPr>
            <a:spLocks noGrp="1"/>
          </p:cNvSpPr>
          <p:nvPr>
            <p:ph type="body" idx="1"/>
          </p:nvPr>
        </p:nvSpPr>
        <p:spPr/>
        <p:txBody>
          <a:bodyPr/>
          <a:lstStyle/>
          <a:p>
            <a:r>
              <a:rPr lang="en-US" dirty="0"/>
              <a:t>the Markov property, which means that the future system dynamics from any state have to depend on this state only.</a:t>
            </a:r>
            <a:br>
              <a:rPr lang="en-US" dirty="0"/>
            </a:br>
            <a:r>
              <a:rPr lang="es-CO" dirty="0"/>
              <a:t>En este caso, solo se necesita un estado para modelar la dinámica futura del sistema y no todo el historial o, por ejemplo, los últimos N estados. </a:t>
            </a:r>
            <a:br>
              <a:rPr lang="es-CO" dirty="0"/>
            </a:br>
            <a:r>
              <a:rPr lang="es-CO" dirty="0"/>
              <a:t>En el caso de nuestro ejemplo meteorológico ficticio, la propiedad de </a:t>
            </a:r>
            <a:r>
              <a:rPr lang="es-CO" dirty="0" err="1"/>
              <a:t>Markov</a:t>
            </a:r>
            <a:r>
              <a:rPr lang="es-CO" dirty="0"/>
              <a:t> limita nuestro modelo a representar solo los casos en los que un día soleado puede ir seguido de uno lluvioso con la misma probabilidad, independientemente de la cantidad de días soleados que hayamos visto en el pasado.</a:t>
            </a:r>
          </a:p>
          <a:p>
            <a:endParaRPr lang="es-CO" dirty="0"/>
          </a:p>
          <a:p>
            <a:r>
              <a:rPr lang="es-CO" dirty="0"/>
              <a:t>nuestro ejemplo es realmente ingenuo, pero es importante comprender las limitaciones y tomar decisiones conscientes al respecto.</a:t>
            </a:r>
            <a:endParaRPr lang="en-US" dirty="0"/>
          </a:p>
          <a:p>
            <a:endParaRPr lang="en-US" dirty="0"/>
          </a:p>
        </p:txBody>
      </p:sp>
      <p:sp>
        <p:nvSpPr>
          <p:cNvPr id="4" name="Slide Number Placeholder 3">
            <a:extLst>
              <a:ext uri="{FF2B5EF4-FFF2-40B4-BE49-F238E27FC236}">
                <a16:creationId xmlns:a16="http://schemas.microsoft.com/office/drawing/2014/main" id="{D9B7C119-928F-7C87-898A-EE90B6621F7C}"/>
              </a:ext>
            </a:extLst>
          </p:cNvPr>
          <p:cNvSpPr>
            <a:spLocks noGrp="1"/>
          </p:cNvSpPr>
          <p:nvPr>
            <p:ph type="sldNum" sz="quarter" idx="5"/>
          </p:nvPr>
        </p:nvSpPr>
        <p:spPr/>
        <p:txBody>
          <a:bodyPr/>
          <a:lstStyle/>
          <a:p>
            <a:fld id="{F6782227-D544-4E5C-B19D-C44641C59EA3}" type="slidenum">
              <a:rPr lang="es-CO" smtClean="0"/>
              <a:t>21</a:t>
            </a:fld>
            <a:endParaRPr lang="es-CO"/>
          </a:p>
        </p:txBody>
      </p:sp>
    </p:spTree>
    <p:extLst>
      <p:ext uri="{BB962C8B-B14F-4D97-AF65-F5344CB8AC3E}">
        <p14:creationId xmlns:p14="http://schemas.microsoft.com/office/powerpoint/2010/main" val="330918103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789771-7C3F-15E2-C26F-F14CE09BBB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5A8AB62-254D-6C30-ADDE-C0782C9CF1B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C10A1D7-6293-BB2A-0D9D-03043A0A566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E3696CF-3B74-620A-B8EA-7C5CB4C12850}"/>
              </a:ext>
            </a:extLst>
          </p:cNvPr>
          <p:cNvSpPr>
            <a:spLocks noGrp="1"/>
          </p:cNvSpPr>
          <p:nvPr>
            <p:ph type="sldNum" sz="quarter" idx="5"/>
          </p:nvPr>
        </p:nvSpPr>
        <p:spPr/>
        <p:txBody>
          <a:bodyPr/>
          <a:lstStyle/>
          <a:p>
            <a:fld id="{F6782227-D544-4E5C-B19D-C44641C59EA3}" type="slidenum">
              <a:rPr lang="es-CO" smtClean="0"/>
              <a:t>22</a:t>
            </a:fld>
            <a:endParaRPr lang="es-CO"/>
          </a:p>
        </p:txBody>
      </p:sp>
    </p:spTree>
    <p:extLst>
      <p:ext uri="{BB962C8B-B14F-4D97-AF65-F5344CB8AC3E}">
        <p14:creationId xmlns:p14="http://schemas.microsoft.com/office/powerpoint/2010/main" val="183954405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ABB731-87DC-F88D-9F70-E6F6E9A54F1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B3B0DE-80D5-B0AA-BC1B-AFC463B6B98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9F0C59-3C69-C491-867D-5E3C086B24C1}"/>
              </a:ext>
            </a:extLst>
          </p:cNvPr>
          <p:cNvSpPr>
            <a:spLocks noGrp="1"/>
          </p:cNvSpPr>
          <p:nvPr>
            <p:ph type="body" idx="1"/>
          </p:nvPr>
        </p:nvSpPr>
        <p:spPr/>
        <p:txBody>
          <a:bodyPr/>
          <a:lstStyle/>
          <a:p>
            <a:r>
              <a:rPr lang="en-US" dirty="0"/>
              <a:t>A useful visual representation of an MP is a graph with nodes corresponding to system states and edges, labeled with probabilities representing a possible transition from state to state. If the probability of a transition is 0, we don't draw an edge (there is no way to go from one state to another). </a:t>
            </a:r>
          </a:p>
        </p:txBody>
      </p:sp>
      <p:sp>
        <p:nvSpPr>
          <p:cNvPr id="4" name="Slide Number Placeholder 3">
            <a:extLst>
              <a:ext uri="{FF2B5EF4-FFF2-40B4-BE49-F238E27FC236}">
                <a16:creationId xmlns:a16="http://schemas.microsoft.com/office/drawing/2014/main" id="{619CA772-C85A-D024-3B9E-5BFA9D84FE39}"/>
              </a:ext>
            </a:extLst>
          </p:cNvPr>
          <p:cNvSpPr>
            <a:spLocks noGrp="1"/>
          </p:cNvSpPr>
          <p:nvPr>
            <p:ph type="sldNum" sz="quarter" idx="5"/>
          </p:nvPr>
        </p:nvSpPr>
        <p:spPr/>
        <p:txBody>
          <a:bodyPr/>
          <a:lstStyle/>
          <a:p>
            <a:fld id="{F6782227-D544-4E5C-B19D-C44641C59EA3}" type="slidenum">
              <a:rPr lang="es-CO" smtClean="0"/>
              <a:t>23</a:t>
            </a:fld>
            <a:endParaRPr lang="es-CO"/>
          </a:p>
        </p:txBody>
      </p:sp>
    </p:spTree>
    <p:extLst>
      <p:ext uri="{BB962C8B-B14F-4D97-AF65-F5344CB8AC3E}">
        <p14:creationId xmlns:p14="http://schemas.microsoft.com/office/powerpoint/2010/main" val="3058262027"/>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E71EEB-80F3-6DC6-F79C-179E925CAD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D4362B-801D-30F5-D3C3-D97FA1F7058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B2D9079-F502-F988-BB9F-0BB77071AFDD}"/>
              </a:ext>
            </a:extLst>
          </p:cNvPr>
          <p:cNvSpPr>
            <a:spLocks noGrp="1"/>
          </p:cNvSpPr>
          <p:nvPr>
            <p:ph type="body" idx="1"/>
          </p:nvPr>
        </p:nvSpPr>
        <p:spPr/>
        <p:txBody>
          <a:bodyPr/>
          <a:lstStyle/>
          <a:p>
            <a:r>
              <a:rPr lang="es-CO" dirty="0"/>
              <a:t>En la práctica, rara vez tenemos el lujo de conocer la matriz de transición exacta. Una situación mucho más realista es cuando solo tenemos observaciones de los estados de nuestro sistema, también llamados episodios: no es complicado estimar la matriz de transición a partir de nuestras observaciones, solo tenemos que contar todas las transiciones de cada estado y normalizarlas a una suma de 1.</a:t>
            </a:r>
            <a:endParaRPr lang="en-US" dirty="0"/>
          </a:p>
        </p:txBody>
      </p:sp>
      <p:sp>
        <p:nvSpPr>
          <p:cNvPr id="4" name="Slide Number Placeholder 3">
            <a:extLst>
              <a:ext uri="{FF2B5EF4-FFF2-40B4-BE49-F238E27FC236}">
                <a16:creationId xmlns:a16="http://schemas.microsoft.com/office/drawing/2014/main" id="{65FEA5F5-6B8F-9A3C-D82D-4326F5F36287}"/>
              </a:ext>
            </a:extLst>
          </p:cNvPr>
          <p:cNvSpPr>
            <a:spLocks noGrp="1"/>
          </p:cNvSpPr>
          <p:nvPr>
            <p:ph type="sldNum" sz="quarter" idx="5"/>
          </p:nvPr>
        </p:nvSpPr>
        <p:spPr/>
        <p:txBody>
          <a:bodyPr/>
          <a:lstStyle/>
          <a:p>
            <a:fld id="{F6782227-D544-4E5C-B19D-C44641C59EA3}" type="slidenum">
              <a:rPr lang="es-CO" smtClean="0"/>
              <a:t>24</a:t>
            </a:fld>
            <a:endParaRPr lang="es-CO"/>
          </a:p>
        </p:txBody>
      </p:sp>
    </p:spTree>
    <p:extLst>
      <p:ext uri="{BB962C8B-B14F-4D97-AF65-F5344CB8AC3E}">
        <p14:creationId xmlns:p14="http://schemas.microsoft.com/office/powerpoint/2010/main" val="211868033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F2378D-E4CA-D5C6-DE33-93F39E0CB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BB56CF3-0A23-0AEA-87F0-8D5425ECF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7F4F01C-F819-375A-A7C4-84B4F045C93B}"/>
              </a:ext>
            </a:extLst>
          </p:cNvPr>
          <p:cNvSpPr>
            <a:spLocks noGrp="1"/>
          </p:cNvSpPr>
          <p:nvPr>
            <p:ph type="body" idx="1"/>
          </p:nvPr>
        </p:nvSpPr>
        <p:spPr/>
        <p:txBody>
          <a:bodyPr/>
          <a:lstStyle/>
          <a:p>
            <a:r>
              <a:rPr lang="es-CO" dirty="0"/>
              <a:t>En la práctica, rara vez tenemos el lujo de conocer la matriz de transición exacta. Una situación mucho más realista es cuando solo tenemos observaciones de los estados de nuestro sistema, también llamados episodios: no es complicado estimar la matriz de transición a partir de nuestras observaciones, solo tenemos que contar todas las transiciones de cada estado y normalizarlas a una suma de 1.</a:t>
            </a:r>
          </a:p>
          <a:p>
            <a:pPr marL="0" marR="0" lvl="0" indent="0" algn="l" defTabSz="914400" rtl="0" eaLnBrk="1" fontAlgn="auto" latinLnBrk="0" hangingPunct="1">
              <a:lnSpc>
                <a:spcPct val="100000"/>
              </a:lnSpc>
              <a:spcBef>
                <a:spcPts val="0"/>
              </a:spcBef>
              <a:spcAft>
                <a:spcPts val="0"/>
              </a:spcAft>
              <a:buClrTx/>
              <a:buSzTx/>
              <a:buFontTx/>
              <a:buNone/>
              <a:tabLst/>
              <a:defRPr/>
            </a:pPr>
            <a:r>
              <a:rPr lang="es-CO" dirty="0"/>
              <a:t>. Los episodios concretos que observamos se muestrean aleatoriamente a partir de la distribución del modelo, por lo que pueden diferir de un episodio a otro. Sin embargo, la probabilidad de que se muestree la transición concreta sigue siendo la misma. </a:t>
            </a:r>
            <a:endParaRPr lang="en-US" dirty="0"/>
          </a:p>
          <a:p>
            <a:endParaRPr lang="en-US" dirty="0"/>
          </a:p>
        </p:txBody>
      </p:sp>
      <p:sp>
        <p:nvSpPr>
          <p:cNvPr id="4" name="Slide Number Placeholder 3">
            <a:extLst>
              <a:ext uri="{FF2B5EF4-FFF2-40B4-BE49-F238E27FC236}">
                <a16:creationId xmlns:a16="http://schemas.microsoft.com/office/drawing/2014/main" id="{B9CA66E3-485D-097D-1AAD-C03925EECB5A}"/>
              </a:ext>
            </a:extLst>
          </p:cNvPr>
          <p:cNvSpPr>
            <a:spLocks noGrp="1"/>
          </p:cNvSpPr>
          <p:nvPr>
            <p:ph type="sldNum" sz="quarter" idx="5"/>
          </p:nvPr>
        </p:nvSpPr>
        <p:spPr/>
        <p:txBody>
          <a:bodyPr/>
          <a:lstStyle/>
          <a:p>
            <a:fld id="{F6782227-D544-4E5C-B19D-C44641C59EA3}" type="slidenum">
              <a:rPr lang="es-CO" smtClean="0"/>
              <a:t>25</a:t>
            </a:fld>
            <a:endParaRPr lang="es-CO"/>
          </a:p>
        </p:txBody>
      </p:sp>
    </p:spTree>
    <p:extLst>
      <p:ext uri="{BB962C8B-B14F-4D97-AF65-F5344CB8AC3E}">
        <p14:creationId xmlns:p14="http://schemas.microsoft.com/office/powerpoint/2010/main" val="328921572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3DFD84-4114-1765-82C2-6A078D0250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E3FDF2-54E0-9BF3-2500-5D9F4D3A6DE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E58BE8-47CE-1BB0-6C13-CF2CD3E2806F}"/>
              </a:ext>
            </a:extLst>
          </p:cNvPr>
          <p:cNvSpPr>
            <a:spLocks noGrp="1"/>
          </p:cNvSpPr>
          <p:nvPr>
            <p:ph type="body" idx="1"/>
          </p:nvPr>
        </p:nvSpPr>
        <p:spPr/>
        <p:txBody>
          <a:bodyPr/>
          <a:lstStyle/>
          <a:p>
            <a:r>
              <a:rPr lang="es-CO" dirty="0"/>
              <a:t>la recompensa puede ser positiva o negativa, grande o pequeña. En algunos casos, esta representación es redundante y se puede simplificar. Por ejemplo, si se da una recompensa por alcanzar el estado independientemente del estado anterior, podemos mantener solo los pares, que son una representación más compacta. Sin embargo, esto solo es aplicable si el valor de la recompensa depende únicamente del estado objetivo, lo que no siempre es el caso.</a:t>
            </a:r>
            <a:endParaRPr lang="en-US" dirty="0"/>
          </a:p>
        </p:txBody>
      </p:sp>
      <p:sp>
        <p:nvSpPr>
          <p:cNvPr id="4" name="Slide Number Placeholder 3">
            <a:extLst>
              <a:ext uri="{FF2B5EF4-FFF2-40B4-BE49-F238E27FC236}">
                <a16:creationId xmlns:a16="http://schemas.microsoft.com/office/drawing/2014/main" id="{84DE2C53-3238-010E-82BA-2472367D5C64}"/>
              </a:ext>
            </a:extLst>
          </p:cNvPr>
          <p:cNvSpPr>
            <a:spLocks noGrp="1"/>
          </p:cNvSpPr>
          <p:nvPr>
            <p:ph type="sldNum" sz="quarter" idx="5"/>
          </p:nvPr>
        </p:nvSpPr>
        <p:spPr/>
        <p:txBody>
          <a:bodyPr/>
          <a:lstStyle/>
          <a:p>
            <a:fld id="{F6782227-D544-4E5C-B19D-C44641C59EA3}" type="slidenum">
              <a:rPr lang="es-CO" smtClean="0"/>
              <a:t>26</a:t>
            </a:fld>
            <a:endParaRPr lang="es-CO"/>
          </a:p>
        </p:txBody>
      </p:sp>
    </p:spTree>
    <p:extLst>
      <p:ext uri="{BB962C8B-B14F-4D97-AF65-F5344CB8AC3E}">
        <p14:creationId xmlns:p14="http://schemas.microsoft.com/office/powerpoint/2010/main" val="238257813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F3451-DB8E-FB60-EE43-52221AD566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A9149E-8ADF-8C56-E18A-855D6CB057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6BD72EE-4A2D-0187-3D7C-80A7F522541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64853D-9AEF-5540-DE19-F5969565D1E9}"/>
              </a:ext>
            </a:extLst>
          </p:cNvPr>
          <p:cNvSpPr>
            <a:spLocks noGrp="1"/>
          </p:cNvSpPr>
          <p:nvPr>
            <p:ph type="sldNum" sz="quarter" idx="5"/>
          </p:nvPr>
        </p:nvSpPr>
        <p:spPr/>
        <p:txBody>
          <a:bodyPr/>
          <a:lstStyle/>
          <a:p>
            <a:fld id="{F6782227-D544-4E5C-B19D-C44641C59EA3}" type="slidenum">
              <a:rPr lang="es-CO" smtClean="0"/>
              <a:t>27</a:t>
            </a:fld>
            <a:endParaRPr lang="es-CO"/>
          </a:p>
        </p:txBody>
      </p:sp>
    </p:spTree>
    <p:extLst>
      <p:ext uri="{BB962C8B-B14F-4D97-AF65-F5344CB8AC3E}">
        <p14:creationId xmlns:p14="http://schemas.microsoft.com/office/powerpoint/2010/main" val="380814237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15F4AC-787D-883E-4F39-894F816A92D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EA9B8-AC3C-30D3-0D75-25CC87D58C3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3620B0A-898F-42A8-9E19-3BCB543DB1C1}"/>
              </a:ext>
            </a:extLst>
          </p:cNvPr>
          <p:cNvSpPr>
            <a:spLocks noGrp="1"/>
          </p:cNvSpPr>
          <p:nvPr>
            <p:ph type="body" idx="1"/>
          </p:nvPr>
        </p:nvSpPr>
        <p:spPr/>
        <p:txBody>
          <a:bodyPr/>
          <a:lstStyle/>
          <a:p>
            <a:r>
              <a:rPr lang="es-CO" dirty="0"/>
              <a:t>Estos valores extremos solo son útiles en casos extremos, y la mayoría de las veces, gamma se establece en un valor intermedio, como 0.9 o 0.99. la idea es, mirar hacia las recompensas futuras, pero no demasiado lejos. El valor de γ = 1 podría aplicarse en situaciones de episodios cortos y finitos</a:t>
            </a:r>
          </a:p>
          <a:p>
            <a:endParaRPr lang="es-CO" dirty="0"/>
          </a:p>
          <a:p>
            <a:r>
              <a:rPr lang="es-CO" dirty="0"/>
              <a:t>gamma es importante en </a:t>
            </a:r>
            <a:r>
              <a:rPr lang="es-CO" b="1" dirty="0"/>
              <a:t>aprendizaje por refuerzo (RL)</a:t>
            </a:r>
            <a:r>
              <a:rPr lang="es-CO" dirty="0"/>
              <a:t>,. Por ahora, piensa en él como una medida de qué tan lejos en el futuro mira el agente.</a:t>
            </a:r>
            <a:endParaRPr lang="en-US" dirty="0"/>
          </a:p>
        </p:txBody>
      </p:sp>
      <p:sp>
        <p:nvSpPr>
          <p:cNvPr id="4" name="Slide Number Placeholder 3">
            <a:extLst>
              <a:ext uri="{FF2B5EF4-FFF2-40B4-BE49-F238E27FC236}">
                <a16:creationId xmlns:a16="http://schemas.microsoft.com/office/drawing/2014/main" id="{4C9DA244-1690-F1A5-441D-EE416381B879}"/>
              </a:ext>
            </a:extLst>
          </p:cNvPr>
          <p:cNvSpPr>
            <a:spLocks noGrp="1"/>
          </p:cNvSpPr>
          <p:nvPr>
            <p:ph type="sldNum" sz="quarter" idx="5"/>
          </p:nvPr>
        </p:nvSpPr>
        <p:spPr/>
        <p:txBody>
          <a:bodyPr/>
          <a:lstStyle/>
          <a:p>
            <a:fld id="{F6782227-D544-4E5C-B19D-C44641C59EA3}" type="slidenum">
              <a:rPr lang="es-CO" smtClean="0"/>
              <a:t>28</a:t>
            </a:fld>
            <a:endParaRPr lang="es-CO"/>
          </a:p>
        </p:txBody>
      </p:sp>
    </p:spTree>
    <p:extLst>
      <p:ext uri="{BB962C8B-B14F-4D97-AF65-F5344CB8AC3E}">
        <p14:creationId xmlns:p14="http://schemas.microsoft.com/office/powerpoint/2010/main" val="133335143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CA9716-9670-4AA0-EA58-366D24DEA1F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2A398FD-187C-1B44-B1CB-CB8F0F4275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7B8B0C-5ECD-962B-34DC-1043FCADD91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4E12360-8A3F-E24A-4EFE-5E5F6F81AF34}"/>
              </a:ext>
            </a:extLst>
          </p:cNvPr>
          <p:cNvSpPr>
            <a:spLocks noGrp="1"/>
          </p:cNvSpPr>
          <p:nvPr>
            <p:ph type="sldNum" sz="quarter" idx="5"/>
          </p:nvPr>
        </p:nvSpPr>
        <p:spPr/>
        <p:txBody>
          <a:bodyPr/>
          <a:lstStyle/>
          <a:p>
            <a:fld id="{F6782227-D544-4E5C-B19D-C44641C59EA3}" type="slidenum">
              <a:rPr lang="es-CO" smtClean="0"/>
              <a:t>29</a:t>
            </a:fld>
            <a:endParaRPr lang="es-CO"/>
          </a:p>
        </p:txBody>
      </p:sp>
    </p:spTree>
    <p:extLst>
      <p:ext uri="{BB962C8B-B14F-4D97-AF65-F5344CB8AC3E}">
        <p14:creationId xmlns:p14="http://schemas.microsoft.com/office/powerpoint/2010/main" val="192788263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9124A8-0B12-E287-64A3-1C45F6B5ED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B0A2B5D-9015-8AD2-6926-947C4F906C2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2EB8AB-0144-FCE6-DF3D-479C9C2356D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3A8A015-3FDD-AE09-4611-57747D33CA54}"/>
              </a:ext>
            </a:extLst>
          </p:cNvPr>
          <p:cNvSpPr>
            <a:spLocks noGrp="1"/>
          </p:cNvSpPr>
          <p:nvPr>
            <p:ph type="sldNum" sz="quarter" idx="5"/>
          </p:nvPr>
        </p:nvSpPr>
        <p:spPr/>
        <p:txBody>
          <a:bodyPr/>
          <a:lstStyle/>
          <a:p>
            <a:fld id="{F6782227-D544-4E5C-B19D-C44641C59EA3}" type="slidenum">
              <a:rPr lang="es-CO" smtClean="0"/>
              <a:t>30</a:t>
            </a:fld>
            <a:endParaRPr lang="es-CO"/>
          </a:p>
        </p:txBody>
      </p:sp>
    </p:spTree>
    <p:extLst>
      <p:ext uri="{BB962C8B-B14F-4D97-AF65-F5344CB8AC3E}">
        <p14:creationId xmlns:p14="http://schemas.microsoft.com/office/powerpoint/2010/main" val="193684050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5CF9702-A181-D3D1-D2F2-AB5F290BA17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F97505-4903-40E4-4BF9-1608A91CC1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3057AE3-F7D3-2AD2-ED5F-DBDB7CEB80CD}"/>
              </a:ext>
            </a:extLst>
          </p:cNvPr>
          <p:cNvSpPr>
            <a:spLocks noGrp="1"/>
          </p:cNvSpPr>
          <p:nvPr>
            <p:ph type="body" idx="1"/>
          </p:nvPr>
        </p:nvSpPr>
        <p:spPr/>
        <p:txBody>
          <a:bodyPr/>
          <a:lstStyle/>
          <a:p>
            <a:r>
              <a:rPr lang="es-CO" dirty="0"/>
              <a:t>Cuando gamma = 0, nuestro retorno es igual únicamente al valor del siguiente estado inmediato. Entonces, si queremos calcular el valor del estado </a:t>
            </a:r>
            <a:r>
              <a:rPr lang="es-CO" b="1" dirty="0"/>
              <a:t>Chat</a:t>
            </a:r>
            <a:r>
              <a:rPr lang="es-CO" dirty="0"/>
              <a:t>, necesitamos sumar todos los valores de transición y multiplicarlos por sus probabilidades</a:t>
            </a:r>
          </a:p>
          <a:p>
            <a:endParaRPr lang="es-CO" dirty="0"/>
          </a:p>
          <a:p>
            <a:r>
              <a:rPr lang="es-CO" dirty="0"/>
              <a:t>¿cuál es el valor cuando gamma = 1? La respuesta es que el valor es infinito para todos los estados. Nuestro diagrama no contiene </a:t>
            </a:r>
            <a:r>
              <a:rPr lang="es-CO" i="1" dirty="0" err="1"/>
              <a:t>sink</a:t>
            </a:r>
            <a:r>
              <a:rPr lang="es-CO" i="1" dirty="0"/>
              <a:t> </a:t>
            </a:r>
            <a:r>
              <a:rPr lang="es-CO" i="1" dirty="0" err="1"/>
              <a:t>states</a:t>
            </a:r>
            <a:r>
              <a:rPr lang="es-CO" dirty="0"/>
              <a:t> (estados sin transiciones de salida), y cuando nuestro descuento es igual a 1, nos importa un número potencialmente infinito de transiciones en el futuro. Como viste en el caso de gamma = 0, todos nuestros valores son positivos en el corto plazo, por lo que la suma de un número infinito de valores positivos nos dará un valor infinito, sin importar el estado inicial.</a:t>
            </a:r>
          </a:p>
          <a:p>
            <a:r>
              <a:rPr lang="es-CO" dirty="0"/>
              <a:t>Este resultado infinito nos muestra una de las razones para introducir gamma en un proceso de recompensa de </a:t>
            </a:r>
            <a:r>
              <a:rPr lang="es-CO" dirty="0" err="1"/>
              <a:t>Markov</a:t>
            </a:r>
            <a:r>
              <a:rPr lang="es-CO" dirty="0"/>
              <a:t> en lugar de simplemente sumar todas las recompensas futuras. En la mayoría de los casos, el proceso puede tener una cantidad infinita (o grande) de transiciones. Como no es muy práctico tratar con valores infinitos, nos gustaría limitar el horizonte para el cual calculamos valores. </a:t>
            </a:r>
          </a:p>
          <a:p>
            <a:endParaRPr lang="en-US" dirty="0"/>
          </a:p>
        </p:txBody>
      </p:sp>
      <p:sp>
        <p:nvSpPr>
          <p:cNvPr id="4" name="Slide Number Placeholder 3">
            <a:extLst>
              <a:ext uri="{FF2B5EF4-FFF2-40B4-BE49-F238E27FC236}">
                <a16:creationId xmlns:a16="http://schemas.microsoft.com/office/drawing/2014/main" id="{63412BF1-665F-7A57-CDB8-98961104BBA9}"/>
              </a:ext>
            </a:extLst>
          </p:cNvPr>
          <p:cNvSpPr>
            <a:spLocks noGrp="1"/>
          </p:cNvSpPr>
          <p:nvPr>
            <p:ph type="sldNum" sz="quarter" idx="5"/>
          </p:nvPr>
        </p:nvSpPr>
        <p:spPr/>
        <p:txBody>
          <a:bodyPr/>
          <a:lstStyle/>
          <a:p>
            <a:fld id="{F6782227-D544-4E5C-B19D-C44641C59EA3}" type="slidenum">
              <a:rPr lang="es-CO" smtClean="0"/>
              <a:t>31</a:t>
            </a:fld>
            <a:endParaRPr lang="es-CO"/>
          </a:p>
        </p:txBody>
      </p:sp>
    </p:spTree>
    <p:extLst>
      <p:ext uri="{BB962C8B-B14F-4D97-AF65-F5344CB8AC3E}">
        <p14:creationId xmlns:p14="http://schemas.microsoft.com/office/powerpoint/2010/main" val="260554941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1B4F8-B62D-4193-EEBD-89BC0FF2CB8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8B9175-FD8B-DF43-1E17-AE4767E4240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0F0A025-995F-E2B3-0FEB-327AD7D76CF1}"/>
              </a:ext>
            </a:extLst>
          </p:cNvPr>
          <p:cNvSpPr>
            <a:spLocks noGrp="1"/>
          </p:cNvSpPr>
          <p:nvPr>
            <p:ph type="body" idx="1"/>
          </p:nvPr>
        </p:nvSpPr>
        <p:spPr/>
        <p:txBody>
          <a:bodyPr/>
          <a:lstStyle/>
          <a:p>
            <a:r>
              <a:rPr lang="es-CO" dirty="0"/>
              <a:t>ACCIONES</a:t>
            </a:r>
          </a:p>
          <a:p>
            <a:endParaRPr lang="en-US" dirty="0"/>
          </a:p>
        </p:txBody>
      </p:sp>
      <p:sp>
        <p:nvSpPr>
          <p:cNvPr id="4" name="Slide Number Placeholder 3">
            <a:extLst>
              <a:ext uri="{FF2B5EF4-FFF2-40B4-BE49-F238E27FC236}">
                <a16:creationId xmlns:a16="http://schemas.microsoft.com/office/drawing/2014/main" id="{468D8BCA-D442-1076-8F40-C085822FA423}"/>
              </a:ext>
            </a:extLst>
          </p:cNvPr>
          <p:cNvSpPr>
            <a:spLocks noGrp="1"/>
          </p:cNvSpPr>
          <p:nvPr>
            <p:ph type="sldNum" sz="quarter" idx="5"/>
          </p:nvPr>
        </p:nvSpPr>
        <p:spPr/>
        <p:txBody>
          <a:bodyPr/>
          <a:lstStyle/>
          <a:p>
            <a:fld id="{F6782227-D544-4E5C-B19D-C44641C59EA3}" type="slidenum">
              <a:rPr lang="es-CO" smtClean="0"/>
              <a:t>32</a:t>
            </a:fld>
            <a:endParaRPr lang="es-CO"/>
          </a:p>
        </p:txBody>
      </p:sp>
    </p:spTree>
    <p:extLst>
      <p:ext uri="{BB962C8B-B14F-4D97-AF65-F5344CB8AC3E}">
        <p14:creationId xmlns:p14="http://schemas.microsoft.com/office/powerpoint/2010/main" val="332365026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EE71B9-A699-1D88-206D-6581385891C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E4453D-AB89-4316-D743-32401660B76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15A2BFB-AA4C-F913-FBAD-FA0F40DFBBD1}"/>
              </a:ext>
            </a:extLst>
          </p:cNvPr>
          <p:cNvSpPr>
            <a:spLocks noGrp="1"/>
          </p:cNvSpPr>
          <p:nvPr>
            <p:ph type="body" idx="1"/>
          </p:nvPr>
        </p:nvSpPr>
        <p:spPr/>
        <p:txBody>
          <a:bodyPr/>
          <a:lstStyle/>
          <a:p>
            <a:r>
              <a:rPr lang="es-CO" dirty="0"/>
              <a:t>ACCIONES</a:t>
            </a:r>
          </a:p>
          <a:p>
            <a:endParaRPr lang="en-US" dirty="0"/>
          </a:p>
        </p:txBody>
      </p:sp>
      <p:sp>
        <p:nvSpPr>
          <p:cNvPr id="4" name="Slide Number Placeholder 3">
            <a:extLst>
              <a:ext uri="{FF2B5EF4-FFF2-40B4-BE49-F238E27FC236}">
                <a16:creationId xmlns:a16="http://schemas.microsoft.com/office/drawing/2014/main" id="{42DE3941-0388-3F08-5029-324FB8146078}"/>
              </a:ext>
            </a:extLst>
          </p:cNvPr>
          <p:cNvSpPr>
            <a:spLocks noGrp="1"/>
          </p:cNvSpPr>
          <p:nvPr>
            <p:ph type="sldNum" sz="quarter" idx="5"/>
          </p:nvPr>
        </p:nvSpPr>
        <p:spPr/>
        <p:txBody>
          <a:bodyPr/>
          <a:lstStyle/>
          <a:p>
            <a:fld id="{F6782227-D544-4E5C-B19D-C44641C59EA3}" type="slidenum">
              <a:rPr lang="es-CO" smtClean="0"/>
              <a:t>33</a:t>
            </a:fld>
            <a:endParaRPr lang="es-CO"/>
          </a:p>
        </p:txBody>
      </p:sp>
    </p:spTree>
    <p:extLst>
      <p:ext uri="{BB962C8B-B14F-4D97-AF65-F5344CB8AC3E}">
        <p14:creationId xmlns:p14="http://schemas.microsoft.com/office/powerpoint/2010/main" val="42864971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8ED274-CDF3-9467-1149-96F376D8741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D8A6F01-A381-D5A0-3841-4BA4E18256E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CE1AFD0-E1EE-D0EE-1F4B-0D8AD5ADCA4B}"/>
              </a:ext>
            </a:extLst>
          </p:cNvPr>
          <p:cNvSpPr>
            <a:spLocks noGrp="1"/>
          </p:cNvSpPr>
          <p:nvPr>
            <p:ph type="body" idx="1"/>
          </p:nvPr>
        </p:nvSpPr>
        <p:spPr/>
        <p:txBody>
          <a:bodyPr/>
          <a:lstStyle/>
          <a:p>
            <a:r>
              <a:rPr lang="es-CO" dirty="0"/>
              <a:t>ACCIONES</a:t>
            </a:r>
          </a:p>
          <a:p>
            <a:endParaRPr lang="en-US" dirty="0"/>
          </a:p>
        </p:txBody>
      </p:sp>
      <p:sp>
        <p:nvSpPr>
          <p:cNvPr id="4" name="Slide Number Placeholder 3">
            <a:extLst>
              <a:ext uri="{FF2B5EF4-FFF2-40B4-BE49-F238E27FC236}">
                <a16:creationId xmlns:a16="http://schemas.microsoft.com/office/drawing/2014/main" id="{25938C4E-4A02-578F-7A2C-E18CC870D49F}"/>
              </a:ext>
            </a:extLst>
          </p:cNvPr>
          <p:cNvSpPr>
            <a:spLocks noGrp="1"/>
          </p:cNvSpPr>
          <p:nvPr>
            <p:ph type="sldNum" sz="quarter" idx="5"/>
          </p:nvPr>
        </p:nvSpPr>
        <p:spPr/>
        <p:txBody>
          <a:bodyPr/>
          <a:lstStyle/>
          <a:p>
            <a:fld id="{F6782227-D544-4E5C-B19D-C44641C59EA3}" type="slidenum">
              <a:rPr lang="es-CO" smtClean="0"/>
              <a:t>34</a:t>
            </a:fld>
            <a:endParaRPr lang="es-CO"/>
          </a:p>
        </p:txBody>
      </p:sp>
    </p:spTree>
    <p:extLst>
      <p:ext uri="{BB962C8B-B14F-4D97-AF65-F5344CB8AC3E}">
        <p14:creationId xmlns:p14="http://schemas.microsoft.com/office/powerpoint/2010/main" val="384018837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B20270-B31E-2636-5C77-7DA2496253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2454FC-D108-57CB-9020-778A34F890F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6E1A26C-56D7-6B14-1528-CE6734115F0A}"/>
              </a:ext>
            </a:extLst>
          </p:cNvPr>
          <p:cNvSpPr>
            <a:spLocks noGrp="1"/>
          </p:cNvSpPr>
          <p:nvPr>
            <p:ph type="body" idx="1"/>
          </p:nvPr>
        </p:nvSpPr>
        <p:spPr/>
        <p:txBody>
          <a:bodyPr/>
          <a:lstStyle/>
          <a:p>
            <a:r>
              <a:rPr lang="es-CO" dirty="0"/>
              <a:t>ACCIONES</a:t>
            </a:r>
          </a:p>
          <a:p>
            <a:endParaRPr lang="en-US" dirty="0"/>
          </a:p>
        </p:txBody>
      </p:sp>
      <p:sp>
        <p:nvSpPr>
          <p:cNvPr id="4" name="Slide Number Placeholder 3">
            <a:extLst>
              <a:ext uri="{FF2B5EF4-FFF2-40B4-BE49-F238E27FC236}">
                <a16:creationId xmlns:a16="http://schemas.microsoft.com/office/drawing/2014/main" id="{125AF28A-D525-8506-87DF-48880F23EEA7}"/>
              </a:ext>
            </a:extLst>
          </p:cNvPr>
          <p:cNvSpPr>
            <a:spLocks noGrp="1"/>
          </p:cNvSpPr>
          <p:nvPr>
            <p:ph type="sldNum" sz="quarter" idx="5"/>
          </p:nvPr>
        </p:nvSpPr>
        <p:spPr/>
        <p:txBody>
          <a:bodyPr/>
          <a:lstStyle/>
          <a:p>
            <a:fld id="{F6782227-D544-4E5C-B19D-C44641C59EA3}" type="slidenum">
              <a:rPr lang="es-CO" smtClean="0"/>
              <a:t>35</a:t>
            </a:fld>
            <a:endParaRPr lang="es-CO"/>
          </a:p>
        </p:txBody>
      </p:sp>
    </p:spTree>
    <p:extLst>
      <p:ext uri="{BB962C8B-B14F-4D97-AF65-F5344CB8AC3E}">
        <p14:creationId xmlns:p14="http://schemas.microsoft.com/office/powerpoint/2010/main" val="1988671407"/>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114659-8CDB-F493-5A03-81041A4A5E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F520DFD-FCB2-9D18-1ADF-7BD313027C5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A4D5493-EF70-BBFB-7485-AE2951E147E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946CC35-1A8A-6B6E-3A33-C7EF651005E8}"/>
              </a:ext>
            </a:extLst>
          </p:cNvPr>
          <p:cNvSpPr>
            <a:spLocks noGrp="1"/>
          </p:cNvSpPr>
          <p:nvPr>
            <p:ph type="sldNum" sz="quarter" idx="5"/>
          </p:nvPr>
        </p:nvSpPr>
        <p:spPr/>
        <p:txBody>
          <a:bodyPr/>
          <a:lstStyle/>
          <a:p>
            <a:fld id="{F6782227-D544-4E5C-B19D-C44641C59EA3}" type="slidenum">
              <a:rPr lang="es-CO" smtClean="0"/>
              <a:t>37</a:t>
            </a:fld>
            <a:endParaRPr lang="es-CO"/>
          </a:p>
        </p:txBody>
      </p:sp>
    </p:spTree>
    <p:extLst>
      <p:ext uri="{BB962C8B-B14F-4D97-AF65-F5344CB8AC3E}">
        <p14:creationId xmlns:p14="http://schemas.microsoft.com/office/powerpoint/2010/main" val="2985852917"/>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A64BD4-02F2-994E-9221-6EAA8887D9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A7F50BF-F111-605D-EB89-9B5B01FE20C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66FCF7-6F20-2301-BE67-19C0E022498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782BF7-57A3-B03F-3CD5-B6671F1F2BD9}"/>
              </a:ext>
            </a:extLst>
          </p:cNvPr>
          <p:cNvSpPr>
            <a:spLocks noGrp="1"/>
          </p:cNvSpPr>
          <p:nvPr>
            <p:ph type="sldNum" sz="quarter" idx="5"/>
          </p:nvPr>
        </p:nvSpPr>
        <p:spPr/>
        <p:txBody>
          <a:bodyPr/>
          <a:lstStyle/>
          <a:p>
            <a:fld id="{F6782227-D544-4E5C-B19D-C44641C59EA3}" type="slidenum">
              <a:rPr lang="es-CO" smtClean="0"/>
              <a:t>38</a:t>
            </a:fld>
            <a:endParaRPr lang="es-CO"/>
          </a:p>
        </p:txBody>
      </p:sp>
    </p:spTree>
    <p:extLst>
      <p:ext uri="{BB962C8B-B14F-4D97-AF65-F5344CB8AC3E}">
        <p14:creationId xmlns:p14="http://schemas.microsoft.com/office/powerpoint/2010/main" val="307760191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E17EAB-1DA0-3B7E-B801-BD8F848F2D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5DB2C08-B85A-57ED-E2B9-811CFAD5F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5D19773-28AD-D268-05BF-F5CD731FEDC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621A9AD-EC0E-D86A-BF7D-A57626792F87}"/>
              </a:ext>
            </a:extLst>
          </p:cNvPr>
          <p:cNvSpPr>
            <a:spLocks noGrp="1"/>
          </p:cNvSpPr>
          <p:nvPr>
            <p:ph type="sldNum" sz="quarter" idx="5"/>
          </p:nvPr>
        </p:nvSpPr>
        <p:spPr/>
        <p:txBody>
          <a:bodyPr/>
          <a:lstStyle/>
          <a:p>
            <a:fld id="{F6782227-D544-4E5C-B19D-C44641C59EA3}" type="slidenum">
              <a:rPr lang="es-CO" smtClean="0"/>
              <a:t>39</a:t>
            </a:fld>
            <a:endParaRPr lang="es-CO"/>
          </a:p>
        </p:txBody>
      </p:sp>
    </p:spTree>
    <p:extLst>
      <p:ext uri="{BB962C8B-B14F-4D97-AF65-F5344CB8AC3E}">
        <p14:creationId xmlns:p14="http://schemas.microsoft.com/office/powerpoint/2010/main" val="2112809184"/>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BB52D7-7F9B-356B-D75B-88C23675CF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6708E0-6C92-82E6-3753-B8894FC520D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888525B-8A38-ED51-87EE-915C0A7FFEE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0D64A44-EA02-7CE4-B861-45C211C22908}"/>
              </a:ext>
            </a:extLst>
          </p:cNvPr>
          <p:cNvSpPr>
            <a:spLocks noGrp="1"/>
          </p:cNvSpPr>
          <p:nvPr>
            <p:ph type="sldNum" sz="quarter" idx="5"/>
          </p:nvPr>
        </p:nvSpPr>
        <p:spPr/>
        <p:txBody>
          <a:bodyPr/>
          <a:lstStyle/>
          <a:p>
            <a:fld id="{F6782227-D544-4E5C-B19D-C44641C59EA3}" type="slidenum">
              <a:rPr lang="es-CO" smtClean="0"/>
              <a:t>40</a:t>
            </a:fld>
            <a:endParaRPr lang="es-CO"/>
          </a:p>
        </p:txBody>
      </p:sp>
    </p:spTree>
    <p:extLst>
      <p:ext uri="{BB962C8B-B14F-4D97-AF65-F5344CB8AC3E}">
        <p14:creationId xmlns:p14="http://schemas.microsoft.com/office/powerpoint/2010/main" val="311174581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82215-1281-44C1-C7DB-72EEA70D2A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8B0CE3-614D-0168-AA62-47BE6AB6F8E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276E2-D4E3-8A25-6D48-A831F47994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39C33D5-4CB2-1363-AB9E-F626C5F2EDD4}"/>
              </a:ext>
            </a:extLst>
          </p:cNvPr>
          <p:cNvSpPr>
            <a:spLocks noGrp="1"/>
          </p:cNvSpPr>
          <p:nvPr>
            <p:ph type="sldNum" sz="quarter" idx="5"/>
          </p:nvPr>
        </p:nvSpPr>
        <p:spPr/>
        <p:txBody>
          <a:bodyPr/>
          <a:lstStyle/>
          <a:p>
            <a:fld id="{F6782227-D544-4E5C-B19D-C44641C59EA3}" type="slidenum">
              <a:rPr lang="es-CO" smtClean="0"/>
              <a:t>41</a:t>
            </a:fld>
            <a:endParaRPr lang="es-CO"/>
          </a:p>
        </p:txBody>
      </p:sp>
    </p:spTree>
    <p:extLst>
      <p:ext uri="{BB962C8B-B14F-4D97-AF65-F5344CB8AC3E}">
        <p14:creationId xmlns:p14="http://schemas.microsoft.com/office/powerpoint/2010/main" val="73196835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31877-693B-00C7-0B3D-F820990727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497224-0416-F0A5-1EF2-75819FD35C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516B57D-DACB-D30F-2C19-AB4429575EF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7BE48D8-A028-6249-66AB-A9D7C7508622}"/>
              </a:ext>
            </a:extLst>
          </p:cNvPr>
          <p:cNvSpPr>
            <a:spLocks noGrp="1"/>
          </p:cNvSpPr>
          <p:nvPr>
            <p:ph type="sldNum" sz="quarter" idx="5"/>
          </p:nvPr>
        </p:nvSpPr>
        <p:spPr/>
        <p:txBody>
          <a:bodyPr/>
          <a:lstStyle/>
          <a:p>
            <a:fld id="{F6782227-D544-4E5C-B19D-C44641C59EA3}" type="slidenum">
              <a:rPr lang="es-CO" smtClean="0"/>
              <a:t>42</a:t>
            </a:fld>
            <a:endParaRPr lang="es-CO"/>
          </a:p>
        </p:txBody>
      </p:sp>
    </p:spTree>
    <p:extLst>
      <p:ext uri="{BB962C8B-B14F-4D97-AF65-F5344CB8AC3E}">
        <p14:creationId xmlns:p14="http://schemas.microsoft.com/office/powerpoint/2010/main" val="38201054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23F531-6A40-4A6D-62A6-7FFF8968DCC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057300-D69E-38B7-BFD8-36BDA8E772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1E3B8C7-33D8-2756-2158-782A21DAD9A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E0CA328-8483-D7EF-C5FC-DE7197DCD504}"/>
              </a:ext>
            </a:extLst>
          </p:cNvPr>
          <p:cNvSpPr>
            <a:spLocks noGrp="1"/>
          </p:cNvSpPr>
          <p:nvPr>
            <p:ph type="sldNum" sz="quarter" idx="5"/>
          </p:nvPr>
        </p:nvSpPr>
        <p:spPr/>
        <p:txBody>
          <a:bodyPr/>
          <a:lstStyle/>
          <a:p>
            <a:fld id="{F6782227-D544-4E5C-B19D-C44641C59EA3}" type="slidenum">
              <a:rPr lang="es-CO" smtClean="0"/>
              <a:t>43</a:t>
            </a:fld>
            <a:endParaRPr lang="es-CO"/>
          </a:p>
        </p:txBody>
      </p:sp>
    </p:spTree>
    <p:extLst>
      <p:ext uri="{BB962C8B-B14F-4D97-AF65-F5344CB8AC3E}">
        <p14:creationId xmlns:p14="http://schemas.microsoft.com/office/powerpoint/2010/main" val="62484964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0DD117-5CC5-4B5E-4A04-E9C0658F86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FE89128-AF77-9449-8914-C18F4EDC13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26A5E9-6CE5-B08B-56D6-02546B382BF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9D34EF3-343F-9C83-1757-85A07922D14B}"/>
              </a:ext>
            </a:extLst>
          </p:cNvPr>
          <p:cNvSpPr>
            <a:spLocks noGrp="1"/>
          </p:cNvSpPr>
          <p:nvPr>
            <p:ph type="sldNum" sz="quarter" idx="5"/>
          </p:nvPr>
        </p:nvSpPr>
        <p:spPr/>
        <p:txBody>
          <a:bodyPr/>
          <a:lstStyle/>
          <a:p>
            <a:fld id="{F6782227-D544-4E5C-B19D-C44641C59EA3}" type="slidenum">
              <a:rPr lang="es-CO" smtClean="0"/>
              <a:t>44</a:t>
            </a:fld>
            <a:endParaRPr lang="es-CO"/>
          </a:p>
        </p:txBody>
      </p:sp>
    </p:spTree>
    <p:extLst>
      <p:ext uri="{BB962C8B-B14F-4D97-AF65-F5344CB8AC3E}">
        <p14:creationId xmlns:p14="http://schemas.microsoft.com/office/powerpoint/2010/main" val="184295716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Gráfico 2">
    <p:spTree>
      <p:nvGrpSpPr>
        <p:cNvPr id="1" name=""/>
        <p:cNvGrpSpPr/>
        <p:nvPr/>
      </p:nvGrpSpPr>
      <p:grpSpPr>
        <a:xfrm>
          <a:off x="0" y="0"/>
          <a:ext cx="0" cy="0"/>
          <a:chOff x="0" y="0"/>
          <a:chExt cx="0" cy="0"/>
        </a:xfrm>
      </p:grpSpPr>
      <p:sp>
        <p:nvSpPr>
          <p:cNvPr id="10" name="Título 11">
            <a:extLst>
              <a:ext uri="{FF2B5EF4-FFF2-40B4-BE49-F238E27FC236}">
                <a16:creationId xmlns:a16="http://schemas.microsoft.com/office/drawing/2014/main" id="{DFA4A507-6359-4161-B796-E87D2E86A9B2}"/>
              </a:ext>
            </a:extLst>
          </p:cNvPr>
          <p:cNvSpPr>
            <a:spLocks noGrp="1"/>
          </p:cNvSpPr>
          <p:nvPr>
            <p:ph type="title" hasCustomPrompt="1"/>
          </p:nvPr>
        </p:nvSpPr>
        <p:spPr>
          <a:xfrm>
            <a:off x="1259167" y="3074126"/>
            <a:ext cx="8699629" cy="709747"/>
          </a:xfrm>
        </p:spPr>
        <p:txBody>
          <a:bodyPr>
            <a:noAutofit/>
          </a:bodyPr>
          <a:lstStyle>
            <a:lvl1pPr algn="l">
              <a:defRPr lang="es-CO" sz="5400" b="0" kern="1200" dirty="0">
                <a:solidFill>
                  <a:schemeClr val="tx1"/>
                </a:solidFill>
                <a:latin typeface="+mj-lt"/>
                <a:ea typeface="+mj-ea"/>
                <a:cs typeface="Arial"/>
              </a:defRPr>
            </a:lvl1pPr>
          </a:lstStyle>
          <a:p>
            <a:r>
              <a:rPr lang="es-ES" dirty="0"/>
              <a:t>Título</a:t>
            </a:r>
            <a:endParaRPr lang="es-CO" dirty="0"/>
          </a:p>
        </p:txBody>
      </p:sp>
      <p:pic>
        <p:nvPicPr>
          <p:cNvPr id="3" name="Imagen 8">
            <a:extLst>
              <a:ext uri="{FF2B5EF4-FFF2-40B4-BE49-F238E27FC236}">
                <a16:creationId xmlns:a16="http://schemas.microsoft.com/office/drawing/2014/main" id="{5E8335B1-AA84-3A4E-4299-C713171F1C8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21149" y="6251713"/>
            <a:ext cx="770851" cy="606287"/>
          </a:xfrm>
          <a:prstGeom prst="rect">
            <a:avLst/>
          </a:prstGeom>
        </p:spPr>
      </p:pic>
    </p:spTree>
    <p:extLst>
      <p:ext uri="{BB962C8B-B14F-4D97-AF65-F5344CB8AC3E}">
        <p14:creationId xmlns:p14="http://schemas.microsoft.com/office/powerpoint/2010/main" val="243697955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Mapa">
    <p:spTree>
      <p:nvGrpSpPr>
        <p:cNvPr id="1" name=""/>
        <p:cNvGrpSpPr/>
        <p:nvPr/>
      </p:nvGrpSpPr>
      <p:grpSpPr>
        <a:xfrm>
          <a:off x="0" y="0"/>
          <a:ext cx="0" cy="0"/>
          <a:chOff x="0" y="0"/>
          <a:chExt cx="0" cy="0"/>
        </a:xfrm>
      </p:grpSpPr>
      <p:pic>
        <p:nvPicPr>
          <p:cNvPr id="5" name="Imagen 8">
            <a:extLst>
              <a:ext uri="{FF2B5EF4-FFF2-40B4-BE49-F238E27FC236}">
                <a16:creationId xmlns:a16="http://schemas.microsoft.com/office/drawing/2014/main" id="{68422550-D7C5-8D4E-DDCB-745F98529B71}"/>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11421149" y="6251713"/>
            <a:ext cx="770851" cy="606287"/>
          </a:xfrm>
          <a:prstGeom prst="rect">
            <a:avLst/>
          </a:prstGeom>
        </p:spPr>
      </p:pic>
    </p:spTree>
    <p:extLst>
      <p:ext uri="{BB962C8B-B14F-4D97-AF65-F5344CB8AC3E}">
        <p14:creationId xmlns:p14="http://schemas.microsoft.com/office/powerpoint/2010/main" val="410172562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92942F9-55B1-4EE5-8182-A4EBE401211A}"/>
              </a:ext>
            </a:extLst>
          </p:cNvPr>
          <p:cNvSpPr>
            <a:spLocks noGrp="1"/>
          </p:cNvSpPr>
          <p:nvPr>
            <p:ph type="title"/>
          </p:nvPr>
        </p:nvSpPr>
        <p:spPr/>
        <p:txBody>
          <a:bodyPr/>
          <a:lstStyle/>
          <a:p>
            <a:r>
              <a:rPr lang="es-ES"/>
              <a:t>Haga clic para modificar el estilo de título del patrón</a:t>
            </a:r>
            <a:endParaRPr lang="es-CO"/>
          </a:p>
        </p:txBody>
      </p:sp>
      <p:sp>
        <p:nvSpPr>
          <p:cNvPr id="3" name="Marcador de contenido 2">
            <a:extLst>
              <a:ext uri="{FF2B5EF4-FFF2-40B4-BE49-F238E27FC236}">
                <a16:creationId xmlns:a16="http://schemas.microsoft.com/office/drawing/2014/main" id="{473D2584-FE1E-4053-85CF-8C585B164AD1}"/>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A1DFA835-CDCA-48B6-A9D2-33790D70C792}"/>
              </a:ext>
            </a:extLst>
          </p:cNvPr>
          <p:cNvSpPr>
            <a:spLocks noGrp="1"/>
          </p:cNvSpPr>
          <p:nvPr>
            <p:ph type="dt" sz="half" idx="10"/>
          </p:nvPr>
        </p:nvSpPr>
        <p:spPr/>
        <p:txBody>
          <a:bodyPr/>
          <a:lstStyle/>
          <a:p>
            <a:fld id="{EA22DB4D-705E-4707-98C4-08733469EA95}" type="datetimeFigureOut">
              <a:rPr lang="es-CO" smtClean="0"/>
              <a:t>25/09/2025</a:t>
            </a:fld>
            <a:endParaRPr lang="es-CO"/>
          </a:p>
        </p:txBody>
      </p:sp>
      <p:sp>
        <p:nvSpPr>
          <p:cNvPr id="5" name="Marcador de pie de página 4">
            <a:extLst>
              <a:ext uri="{FF2B5EF4-FFF2-40B4-BE49-F238E27FC236}">
                <a16:creationId xmlns:a16="http://schemas.microsoft.com/office/drawing/2014/main" id="{E0CCFC0B-AF94-4268-BE87-6A2E0E5B6B10}"/>
              </a:ext>
            </a:extLst>
          </p:cNvPr>
          <p:cNvSpPr>
            <a:spLocks noGrp="1"/>
          </p:cNvSpPr>
          <p:nvPr>
            <p:ph type="ftr" sz="quarter" idx="11"/>
          </p:nvPr>
        </p:nvSpPr>
        <p:spPr/>
        <p:txBody>
          <a:bodyPr/>
          <a:lstStyle/>
          <a:p>
            <a:endParaRPr lang="es-CO"/>
          </a:p>
        </p:txBody>
      </p:sp>
      <p:sp>
        <p:nvSpPr>
          <p:cNvPr id="6" name="Marcador de número de diapositiva 5">
            <a:extLst>
              <a:ext uri="{FF2B5EF4-FFF2-40B4-BE49-F238E27FC236}">
                <a16:creationId xmlns:a16="http://schemas.microsoft.com/office/drawing/2014/main" id="{5205BE81-476D-4C98-BF91-DC02594E11AE}"/>
              </a:ext>
            </a:extLst>
          </p:cNvPr>
          <p:cNvSpPr>
            <a:spLocks noGrp="1"/>
          </p:cNvSpPr>
          <p:nvPr>
            <p:ph type="sldNum" sz="quarter" idx="12"/>
          </p:nvPr>
        </p:nvSpPr>
        <p:spPr/>
        <p:txBody>
          <a:bodyPr/>
          <a:lstStyle/>
          <a:p>
            <a:fld id="{DF6E57C7-A1B8-41CC-83DB-E1784559199F}" type="slidenum">
              <a:rPr lang="es-CO" smtClean="0"/>
              <a:t>‹#›</a:t>
            </a:fld>
            <a:endParaRPr lang="es-CO"/>
          </a:p>
        </p:txBody>
      </p:sp>
    </p:spTree>
    <p:extLst>
      <p:ext uri="{BB962C8B-B14F-4D97-AF65-F5344CB8AC3E}">
        <p14:creationId xmlns:p14="http://schemas.microsoft.com/office/powerpoint/2010/main" val="23601278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2.png"/><Relationship Id="rId5" Type="http://schemas.openxmlformats.org/officeDocument/2006/relationships/image" Target="../media/image1.pn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F277EFF-81D6-4399-94F5-9050367D642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dirty="0"/>
              <a:t>Haga clic para modificar el estilo de título del patrón</a:t>
            </a:r>
            <a:endParaRPr lang="es-CO" dirty="0"/>
          </a:p>
        </p:txBody>
      </p:sp>
      <p:sp>
        <p:nvSpPr>
          <p:cNvPr id="3" name="Marcador de texto 2">
            <a:extLst>
              <a:ext uri="{FF2B5EF4-FFF2-40B4-BE49-F238E27FC236}">
                <a16:creationId xmlns:a16="http://schemas.microsoft.com/office/drawing/2014/main" id="{B08E3F45-73BC-49DA-B1F6-C887C8536A0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4" name="Marcador de fecha 3">
            <a:extLst>
              <a:ext uri="{FF2B5EF4-FFF2-40B4-BE49-F238E27FC236}">
                <a16:creationId xmlns:a16="http://schemas.microsoft.com/office/drawing/2014/main" id="{12F51B61-2B69-4058-BC72-3AE26B4DE24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22DB4D-705E-4707-98C4-08733469EA95}" type="datetimeFigureOut">
              <a:rPr lang="es-CO" smtClean="0"/>
              <a:t>25/09/2025</a:t>
            </a:fld>
            <a:endParaRPr lang="es-CO"/>
          </a:p>
        </p:txBody>
      </p:sp>
      <p:sp>
        <p:nvSpPr>
          <p:cNvPr id="5" name="Marcador de pie de página 4">
            <a:extLst>
              <a:ext uri="{FF2B5EF4-FFF2-40B4-BE49-F238E27FC236}">
                <a16:creationId xmlns:a16="http://schemas.microsoft.com/office/drawing/2014/main" id="{6E298DFF-B8CC-4501-AD3A-15C25872DA6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CO"/>
          </a:p>
        </p:txBody>
      </p:sp>
      <p:sp>
        <p:nvSpPr>
          <p:cNvPr id="6" name="Marcador de número de diapositiva 5">
            <a:extLst>
              <a:ext uri="{FF2B5EF4-FFF2-40B4-BE49-F238E27FC236}">
                <a16:creationId xmlns:a16="http://schemas.microsoft.com/office/drawing/2014/main" id="{B5A70FBC-AF32-475A-87BF-B685E2C84782}"/>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F6E57C7-A1B8-41CC-83DB-E1784559199F}" type="slidenum">
              <a:rPr lang="es-CO" smtClean="0"/>
              <a:t>‹#›</a:t>
            </a:fld>
            <a:endParaRPr lang="es-CO"/>
          </a:p>
        </p:txBody>
      </p:sp>
      <p:pic>
        <p:nvPicPr>
          <p:cNvPr id="11" name="Imagen 10">
            <a:extLst>
              <a:ext uri="{FF2B5EF4-FFF2-40B4-BE49-F238E27FC236}">
                <a16:creationId xmlns:a16="http://schemas.microsoft.com/office/drawing/2014/main" id="{3CF523C5-58C9-4DAA-B9A6-4FC02A29CB86}"/>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8720429" y="204470"/>
            <a:ext cx="3471572" cy="961390"/>
          </a:xfrm>
          <a:prstGeom prst="rect">
            <a:avLst/>
          </a:prstGeom>
        </p:spPr>
      </p:pic>
      <p:pic>
        <p:nvPicPr>
          <p:cNvPr id="7" name="Imagen 8">
            <a:extLst>
              <a:ext uri="{FF2B5EF4-FFF2-40B4-BE49-F238E27FC236}">
                <a16:creationId xmlns:a16="http://schemas.microsoft.com/office/drawing/2014/main" id="{4D49C564-70FC-ACC1-E5BB-4AD5229EB1F5}"/>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11421149" y="6251713"/>
            <a:ext cx="770851" cy="606287"/>
          </a:xfrm>
          <a:prstGeom prst="rect">
            <a:avLst/>
          </a:prstGeom>
        </p:spPr>
      </p:pic>
    </p:spTree>
    <p:extLst>
      <p:ext uri="{BB962C8B-B14F-4D97-AF65-F5344CB8AC3E}">
        <p14:creationId xmlns:p14="http://schemas.microsoft.com/office/powerpoint/2010/main" val="1373931679"/>
      </p:ext>
    </p:extLst>
  </p:cSld>
  <p:clrMap bg1="lt1" tx1="dk1" bg2="lt2" tx2="dk2" accent1="accent1" accent2="accent2" accent3="accent3" accent4="accent4" accent5="accent5" accent6="accent6" hlink="hlink" folHlink="folHlink"/>
  <p:sldLayoutIdLst>
    <p:sldLayoutId id="2147483666" r:id="rId1"/>
    <p:sldLayoutId id="2147483667" r:id="rId2"/>
    <p:sldLayoutId id="2147483668" r:id="rId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CO"/>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6.jpg"/></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6.xml"/><Relationship Id="rId1" Type="http://schemas.openxmlformats.org/officeDocument/2006/relationships/slideLayout" Target="../slideLayouts/slideLayout3.xml"/><Relationship Id="rId4" Type="http://schemas.openxmlformats.org/officeDocument/2006/relationships/image" Target="../media/image12.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7.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17.png"/><Relationship Id="rId4" Type="http://schemas.openxmlformats.org/officeDocument/2006/relationships/image" Target="../media/image22.png"/></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3.xml"/><Relationship Id="rId5" Type="http://schemas.openxmlformats.org/officeDocument/2006/relationships/image" Target="../media/image24.png"/><Relationship Id="rId4" Type="http://schemas.openxmlformats.org/officeDocument/2006/relationships/image" Target="../media/image23.png"/></Relationships>
</file>

<file path=ppt/slides/_rels/slide3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3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29.jp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30.jpg"/><Relationship Id="rId2" Type="http://schemas.openxmlformats.org/officeDocument/2006/relationships/notesSlide" Target="../notesSlides/notesSlide31.xml"/><Relationship Id="rId1" Type="http://schemas.openxmlformats.org/officeDocument/2006/relationships/slideLayout" Target="../slideLayouts/slideLayout3.xml"/><Relationship Id="rId4" Type="http://schemas.openxmlformats.org/officeDocument/2006/relationships/image" Target="../media/image31.png"/></Relationships>
</file>

<file path=ppt/slides/_rels/slide39.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0.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32.jp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33.jp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3">
            <a:extLst>
              <a:ext uri="{FF2B5EF4-FFF2-40B4-BE49-F238E27FC236}">
                <a16:creationId xmlns:a16="http://schemas.microsoft.com/office/drawing/2014/main" id="{C2B5380B-BB08-58DD-3FE4-E83A39469C47}"/>
              </a:ext>
            </a:extLst>
          </p:cNvPr>
          <p:cNvSpPr>
            <a:spLocks noGrp="1"/>
          </p:cNvSpPr>
          <p:nvPr>
            <p:ph type="title"/>
          </p:nvPr>
        </p:nvSpPr>
        <p:spPr>
          <a:xfrm>
            <a:off x="1297022" y="3429000"/>
            <a:ext cx="8712658" cy="709747"/>
          </a:xfrm>
        </p:spPr>
        <p:txBody>
          <a:bodyPr>
            <a:normAutofit fontScale="90000"/>
          </a:bodyPr>
          <a:lstStyle/>
          <a:p>
            <a:br>
              <a:rPr lang="es-ES_tradnl" dirty="0">
                <a:solidFill>
                  <a:srgbClr val="0070C0"/>
                </a:solidFill>
                <a:latin typeface="Consolas" panose="020B0609020204030204" pitchFamily="49" charset="0"/>
              </a:rPr>
            </a:br>
            <a:br>
              <a:rPr lang="es-ES_tradnl" sz="4800" dirty="0">
                <a:solidFill>
                  <a:srgbClr val="0070C0"/>
                </a:solidFill>
                <a:latin typeface="Consolas" panose="020B0609020204030204" pitchFamily="49" charset="0"/>
              </a:rPr>
            </a:br>
            <a:r>
              <a:rPr lang="es-ES_tradnl" sz="4800" dirty="0">
                <a:solidFill>
                  <a:srgbClr val="0070C0"/>
                </a:solidFill>
                <a:latin typeface="Consolas" panose="020B0609020204030204" pitchFamily="49" charset="0"/>
              </a:rPr>
              <a:t>Artificial </a:t>
            </a:r>
            <a:r>
              <a:rPr lang="es-ES_tradnl" sz="4800" dirty="0" err="1">
                <a:solidFill>
                  <a:srgbClr val="0070C0"/>
                </a:solidFill>
                <a:latin typeface="Consolas" panose="020B0609020204030204" pitchFamily="49" charset="0"/>
              </a:rPr>
              <a:t>Intelligence</a:t>
            </a:r>
            <a:br>
              <a:rPr lang="es-ES_tradnl" sz="4800" dirty="0">
                <a:solidFill>
                  <a:srgbClr val="0070C0"/>
                </a:solidFill>
              </a:rPr>
            </a:br>
            <a:br>
              <a:rPr lang="es-ES_tradnl" sz="4800" dirty="0">
                <a:solidFill>
                  <a:srgbClr val="0070C0"/>
                </a:solidFill>
              </a:rPr>
            </a:br>
            <a:r>
              <a:rPr lang="es-MX" sz="4800" dirty="0">
                <a:latin typeface="Consolas" panose="020B0609020204030204" pitchFamily="49" charset="0"/>
              </a:rPr>
              <a:t>Lecture10 – </a:t>
            </a:r>
            <a:r>
              <a:rPr lang="es-ES" sz="4800" dirty="0" err="1">
                <a:latin typeface="Consolas" panose="020B0609020204030204" pitchFamily="49" charset="0"/>
              </a:rPr>
              <a:t>Reinforcement</a:t>
            </a:r>
            <a:r>
              <a:rPr lang="es-ES" sz="4800" dirty="0">
                <a:latin typeface="Consolas" panose="020B0609020204030204" pitchFamily="49" charset="0"/>
              </a:rPr>
              <a:t> </a:t>
            </a:r>
            <a:r>
              <a:rPr lang="es-ES" sz="4800" dirty="0" err="1">
                <a:latin typeface="Consolas" panose="020B0609020204030204" pitchFamily="49" charset="0"/>
              </a:rPr>
              <a:t>Learning</a:t>
            </a:r>
            <a:br>
              <a:rPr lang="es-ES_tradnl" dirty="0">
                <a:solidFill>
                  <a:srgbClr val="0070C0"/>
                </a:solidFill>
              </a:rPr>
            </a:br>
            <a:endParaRPr lang="es-ES_tradnl" dirty="0">
              <a:solidFill>
                <a:srgbClr val="0070C0"/>
              </a:solidFill>
            </a:endParaRPr>
          </a:p>
        </p:txBody>
      </p:sp>
    </p:spTree>
    <p:extLst>
      <p:ext uri="{BB962C8B-B14F-4D97-AF65-F5344CB8AC3E}">
        <p14:creationId xmlns:p14="http://schemas.microsoft.com/office/powerpoint/2010/main" val="3555348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1">
            <a:extLst>
              <a:ext uri="{FF2B5EF4-FFF2-40B4-BE49-F238E27FC236}">
                <a16:creationId xmlns:a16="http://schemas.microsoft.com/office/drawing/2014/main" id="{D8EC195D-EA10-038F-B0F2-21098DF647A0}"/>
              </a:ext>
            </a:extLst>
          </p:cNvPr>
          <p:cNvSpPr txBox="1">
            <a:spLocks/>
          </p:cNvSpPr>
          <p:nvPr/>
        </p:nvSpPr>
        <p:spPr>
          <a:xfrm>
            <a:off x="745435" y="1486106"/>
            <a:ext cx="10823712" cy="502402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endParaRPr lang="es-ES_tradnl" dirty="0"/>
          </a:p>
        </p:txBody>
      </p:sp>
      <p:sp>
        <p:nvSpPr>
          <p:cNvPr id="4" name="Title 2">
            <a:extLst>
              <a:ext uri="{FF2B5EF4-FFF2-40B4-BE49-F238E27FC236}">
                <a16:creationId xmlns:a16="http://schemas.microsoft.com/office/drawing/2014/main" id="{3E3C840A-39BE-A4AA-7DB9-83EA83A1E2C0}"/>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ES_tradnl" dirty="0">
                <a:solidFill>
                  <a:srgbClr val="0070C0"/>
                </a:solidFill>
                <a:latin typeface="Consolas" panose="020B0609020204030204" pitchFamily="49" charset="0"/>
                <a:cs typeface="Arial"/>
              </a:rPr>
              <a:t>Contenido</a:t>
            </a:r>
          </a:p>
        </p:txBody>
      </p:sp>
      <p:sp>
        <p:nvSpPr>
          <p:cNvPr id="5" name="Content Placeholder 1">
            <a:extLst>
              <a:ext uri="{FF2B5EF4-FFF2-40B4-BE49-F238E27FC236}">
                <a16:creationId xmlns:a16="http://schemas.microsoft.com/office/drawing/2014/main" id="{7391C1AF-F934-BC68-6CE5-49E0E46B4D45}"/>
              </a:ext>
            </a:extLst>
          </p:cNvPr>
          <p:cNvSpPr txBox="1">
            <a:spLocks/>
          </p:cNvSpPr>
          <p:nvPr/>
        </p:nvSpPr>
        <p:spPr>
          <a:xfrm>
            <a:off x="745435" y="1550505"/>
            <a:ext cx="10823712" cy="5024024"/>
          </a:xfrm>
          <a:prstGeom prst="rect">
            <a:avLst/>
          </a:prstGeom>
        </p:spPr>
        <p:txBody>
          <a:bodyPr>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514350" indent="-514350">
              <a:buFont typeface="+mj-lt"/>
              <a:buAutoNum type="arabicPeriod"/>
            </a:pPr>
            <a:r>
              <a:rPr lang="es-ES_tradnl" dirty="0">
                <a:latin typeface="Consolas" panose="020B0609020204030204" pitchFamily="49" charset="0"/>
              </a:rPr>
              <a:t>Introducción</a:t>
            </a:r>
          </a:p>
          <a:p>
            <a:pPr marL="514350" indent="-514350">
              <a:buFont typeface="+mj-lt"/>
              <a:buAutoNum type="arabicPeriod"/>
            </a:pPr>
            <a:r>
              <a:rPr lang="es-ES_tradnl" dirty="0">
                <a:latin typeface="Consolas" panose="020B0609020204030204" pitchFamily="49" charset="0"/>
              </a:rPr>
              <a:t>Complicaciones del RL</a:t>
            </a:r>
          </a:p>
          <a:p>
            <a:pPr marL="514350" indent="-514350">
              <a:buFont typeface="+mj-lt"/>
              <a:buAutoNum type="arabicPeriod"/>
            </a:pPr>
            <a:r>
              <a:rPr lang="es-ES_tradnl" dirty="0">
                <a:latin typeface="Consolas" panose="020B0609020204030204" pitchFamily="49" charset="0"/>
              </a:rPr>
              <a:t>Fundamentos del RL</a:t>
            </a:r>
          </a:p>
          <a:p>
            <a:pPr marL="514350" indent="-514350">
              <a:buFont typeface="+mj-lt"/>
              <a:buAutoNum type="arabicPeriod"/>
            </a:pPr>
            <a:r>
              <a:rPr lang="es-ES_tradnl" dirty="0">
                <a:latin typeface="Consolas" panose="020B0609020204030204" pitchFamily="49" charset="0"/>
              </a:rPr>
              <a:t>Q </a:t>
            </a:r>
            <a:r>
              <a:rPr lang="es-ES_tradnl" dirty="0" err="1">
                <a:latin typeface="Consolas" panose="020B0609020204030204" pitchFamily="49" charset="0"/>
              </a:rPr>
              <a:t>Learning</a:t>
            </a:r>
            <a:endParaRPr lang="es-ES_tradnl" dirty="0">
              <a:latin typeface="Consolas" panose="020B0609020204030204" pitchFamily="49" charset="0"/>
            </a:endParaRPr>
          </a:p>
          <a:p>
            <a:pPr marL="514350" indent="-514350">
              <a:buFont typeface="+mj-lt"/>
              <a:buAutoNum type="arabicPeriod"/>
            </a:pPr>
            <a:endParaRPr lang="es-ES_tradnl" dirty="0">
              <a:latin typeface="Consolas" panose="020B0609020204030204" pitchFamily="49" charset="0"/>
            </a:endParaRPr>
          </a:p>
          <a:p>
            <a:pPr marL="514350" indent="-514350">
              <a:buFont typeface="+mj-lt"/>
              <a:buAutoNum type="arabicPeriod"/>
            </a:pPr>
            <a:endParaRPr lang="es-ES_tradnl" dirty="0">
              <a:latin typeface="Consolas" panose="020B0609020204030204" pitchFamily="49" charset="0"/>
            </a:endParaRPr>
          </a:p>
          <a:p>
            <a:pPr marL="514350" indent="-514350">
              <a:buFont typeface="+mj-lt"/>
              <a:buAutoNum type="arabicPeriod"/>
            </a:pPr>
            <a:endParaRPr lang="es-ES_tradnl" dirty="0">
              <a:latin typeface="Consolas" panose="020B0609020204030204" pitchFamily="49" charset="0"/>
            </a:endParaRPr>
          </a:p>
          <a:p>
            <a:pPr marL="514350" indent="-514350">
              <a:buFont typeface="+mj-lt"/>
              <a:buAutoNum type="arabicPeriod"/>
            </a:pPr>
            <a:endParaRPr lang="es-ES_tradnl" dirty="0">
              <a:latin typeface="Consolas" panose="020B0609020204030204" pitchFamily="49" charset="0"/>
            </a:endParaRPr>
          </a:p>
          <a:p>
            <a:pPr marL="514350" indent="-514350">
              <a:buFont typeface="+mj-lt"/>
              <a:buAutoNum type="arabicPeriod"/>
            </a:pPr>
            <a:endParaRPr lang="es-ES_tradnl" dirty="0">
              <a:latin typeface="Consolas" panose="020B0609020204030204" pitchFamily="49" charset="0"/>
            </a:endParaRPr>
          </a:p>
        </p:txBody>
      </p:sp>
    </p:spTree>
    <p:extLst>
      <p:ext uri="{BB962C8B-B14F-4D97-AF65-F5344CB8AC3E}">
        <p14:creationId xmlns:p14="http://schemas.microsoft.com/office/powerpoint/2010/main" val="41336890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A241FF-9E33-7407-871B-BA2E552A3F37}"/>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76011903-11F2-4CF5-78B5-15C7E52DA205}"/>
              </a:ext>
            </a:extLst>
          </p:cNvPr>
          <p:cNvSpPr>
            <a:spLocks noGrp="1"/>
          </p:cNvSpPr>
          <p:nvPr>
            <p:ph type="title"/>
          </p:nvPr>
        </p:nvSpPr>
        <p:spPr>
          <a:xfrm>
            <a:off x="1297022" y="3429000"/>
            <a:ext cx="8712658" cy="709747"/>
          </a:xfrm>
        </p:spPr>
        <p:txBody>
          <a:bodyPr>
            <a:normAutofit fontScale="90000"/>
          </a:bodyPr>
          <a:lstStyle/>
          <a:p>
            <a:br>
              <a:rPr lang="es-ES_tradnl" dirty="0">
                <a:solidFill>
                  <a:srgbClr val="0070C0"/>
                </a:solidFill>
                <a:latin typeface="Consolas" panose="020B0609020204030204" pitchFamily="49" charset="0"/>
              </a:rPr>
            </a:br>
            <a:br>
              <a:rPr lang="es-ES_tradnl" sz="4800" dirty="0">
                <a:solidFill>
                  <a:srgbClr val="0070C0"/>
                </a:solidFill>
                <a:latin typeface="Consolas" panose="020B0609020204030204" pitchFamily="49" charset="0"/>
              </a:rPr>
            </a:br>
            <a:r>
              <a:rPr lang="es-ES_tradnl" sz="4800" dirty="0">
                <a:solidFill>
                  <a:srgbClr val="0070C0"/>
                </a:solidFill>
                <a:latin typeface="Consolas" panose="020B0609020204030204" pitchFamily="49" charset="0"/>
              </a:rPr>
              <a:t>INTRODUCCIÓN</a:t>
            </a:r>
            <a:br>
              <a:rPr lang="es-ES_tradnl" sz="4800" dirty="0">
                <a:solidFill>
                  <a:srgbClr val="0070C0"/>
                </a:solidFill>
              </a:rPr>
            </a:br>
            <a:br>
              <a:rPr lang="es-ES_tradnl" sz="4800" dirty="0">
                <a:solidFill>
                  <a:srgbClr val="0070C0"/>
                </a:solidFill>
              </a:rPr>
            </a:br>
            <a:br>
              <a:rPr lang="es-ES_tradnl" dirty="0">
                <a:solidFill>
                  <a:srgbClr val="0070C0"/>
                </a:solidFill>
              </a:rPr>
            </a:br>
            <a:endParaRPr lang="es-ES_tradnl" dirty="0">
              <a:solidFill>
                <a:srgbClr val="0070C0"/>
              </a:solidFill>
            </a:endParaRPr>
          </a:p>
        </p:txBody>
      </p:sp>
    </p:spTree>
    <p:extLst>
      <p:ext uri="{BB962C8B-B14F-4D97-AF65-F5344CB8AC3E}">
        <p14:creationId xmlns:p14="http://schemas.microsoft.com/office/powerpoint/2010/main" val="256423662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2">
            <a:extLst>
              <a:ext uri="{FF2B5EF4-FFF2-40B4-BE49-F238E27FC236}">
                <a16:creationId xmlns:a16="http://schemas.microsoft.com/office/drawing/2014/main" id="{FA831A97-0108-730E-CD8F-C06EA4C7EE29}"/>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Introducción</a:t>
            </a:r>
          </a:p>
        </p:txBody>
      </p:sp>
      <p:sp>
        <p:nvSpPr>
          <p:cNvPr id="2" name="Title 2">
            <a:extLst>
              <a:ext uri="{FF2B5EF4-FFF2-40B4-BE49-F238E27FC236}">
                <a16:creationId xmlns:a16="http://schemas.microsoft.com/office/drawing/2014/main" id="{D1218FE5-E85A-1B91-0921-485B53F00470}"/>
              </a:ext>
            </a:extLst>
          </p:cNvPr>
          <p:cNvSpPr txBox="1">
            <a:spLocks/>
          </p:cNvSpPr>
          <p:nvPr/>
        </p:nvSpPr>
        <p:spPr>
          <a:xfrm>
            <a:off x="745435" y="1827066"/>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Que es el </a:t>
            </a:r>
            <a:r>
              <a:rPr lang="es-MX" sz="3200" dirty="0" err="1">
                <a:solidFill>
                  <a:srgbClr val="0070C0"/>
                </a:solidFill>
                <a:latin typeface="Consolas" panose="020B0609020204030204" pitchFamily="49" charset="0"/>
                <a:cs typeface="Arial"/>
              </a:rPr>
              <a:t>reinforcement</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learning</a:t>
            </a:r>
            <a:r>
              <a:rPr lang="es-MX" sz="3200" dirty="0">
                <a:solidFill>
                  <a:srgbClr val="0070C0"/>
                </a:solidFill>
                <a:latin typeface="Consolas" panose="020B0609020204030204" pitchFamily="49" charset="0"/>
                <a:cs typeface="Arial"/>
              </a:rPr>
              <a:t>?</a:t>
            </a:r>
          </a:p>
        </p:txBody>
      </p:sp>
      <p:sp>
        <p:nvSpPr>
          <p:cNvPr id="5" name="TextBox 4">
            <a:extLst>
              <a:ext uri="{FF2B5EF4-FFF2-40B4-BE49-F238E27FC236}">
                <a16:creationId xmlns:a16="http://schemas.microsoft.com/office/drawing/2014/main" id="{F3D68D42-9FF4-F459-7DB7-1757D0D13FEB}"/>
              </a:ext>
            </a:extLst>
          </p:cNvPr>
          <p:cNvSpPr txBox="1"/>
          <p:nvPr/>
        </p:nvSpPr>
        <p:spPr>
          <a:xfrm>
            <a:off x="745434" y="2942871"/>
            <a:ext cx="10805589" cy="2272417"/>
          </a:xfrm>
          <a:prstGeom prst="rect">
            <a:avLst/>
          </a:prstGeom>
          <a:noFill/>
        </p:spPr>
        <p:txBody>
          <a:bodyPr wrap="square">
            <a:spAutoFit/>
          </a:bodyPr>
          <a:lstStyle/>
          <a:p>
            <a:pPr marL="12700" marR="509905" algn="just">
              <a:lnSpc>
                <a:spcPct val="100000"/>
              </a:lnSpc>
              <a:spcBef>
                <a:spcPts val="105"/>
              </a:spcBef>
            </a:pPr>
            <a:r>
              <a:rPr lang="es-CO" sz="2000" dirty="0">
                <a:latin typeface="Consolas" panose="020B0609020204030204" pitchFamily="49" charset="0"/>
                <a:cs typeface="Arial MT"/>
              </a:rPr>
              <a:t>Se</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refiere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al</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proceso</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5" dirty="0">
                <a:latin typeface="Consolas" panose="020B0609020204030204" pitchFamily="49" charset="0"/>
                <a:cs typeface="Arial MT"/>
              </a:rPr>
              <a:t> </a:t>
            </a:r>
            <a:r>
              <a:rPr lang="es-CO" sz="2000" dirty="0">
                <a:latin typeface="Consolas" panose="020B0609020204030204" pitchFamily="49" charset="0"/>
                <a:cs typeface="Arial MT"/>
              </a:rPr>
              <a:t>aprender</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qué</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hacer</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mapear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situaciones</a:t>
            </a:r>
            <a:r>
              <a:rPr lang="es-CO" sz="2000" spc="-40" dirty="0">
                <a:latin typeface="Consolas" panose="020B0609020204030204" pitchFamily="49" charset="0"/>
                <a:cs typeface="Arial MT"/>
              </a:rPr>
              <a:t> </a:t>
            </a:r>
            <a:r>
              <a:rPr lang="es-CO" sz="2000" spc="-50" dirty="0">
                <a:latin typeface="Consolas" panose="020B0609020204030204" pitchFamily="49" charset="0"/>
                <a:cs typeface="Arial MT"/>
              </a:rPr>
              <a:t>a </a:t>
            </a:r>
            <a:r>
              <a:rPr lang="es-CO" sz="2000" dirty="0">
                <a:latin typeface="Consolas" panose="020B0609020204030204" pitchFamily="49" charset="0"/>
                <a:cs typeface="Arial MT"/>
              </a:rPr>
              <a:t>ciertas</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acciones</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para</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maximizar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recompensa.</a:t>
            </a:r>
            <a:r>
              <a:rPr lang="es-CO" sz="2000" spc="-70" dirty="0">
                <a:latin typeface="Consolas" panose="020B0609020204030204" pitchFamily="49" charset="0"/>
                <a:cs typeface="Arial MT"/>
              </a:rPr>
              <a:t> </a:t>
            </a: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r>
              <a:rPr lang="es-CO" sz="2000" dirty="0">
                <a:latin typeface="Consolas" panose="020B0609020204030204" pitchFamily="49" charset="0"/>
                <a:cs typeface="Arial MT"/>
              </a:rPr>
              <a:t>En</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mayoría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15" dirty="0">
                <a:latin typeface="Consolas" panose="020B0609020204030204" pitchFamily="49" charset="0"/>
                <a:cs typeface="Arial MT"/>
              </a:rPr>
              <a:t> </a:t>
            </a:r>
            <a:r>
              <a:rPr lang="es-CO" sz="2000" spc="-25" dirty="0">
                <a:latin typeface="Consolas" panose="020B0609020204030204" pitchFamily="49" charset="0"/>
                <a:cs typeface="Arial MT"/>
              </a:rPr>
              <a:t>los </a:t>
            </a:r>
            <a:r>
              <a:rPr lang="es-CO" sz="2000" dirty="0">
                <a:latin typeface="Consolas" panose="020B0609020204030204" pitchFamily="49" charset="0"/>
                <a:cs typeface="Arial MT"/>
              </a:rPr>
              <a:t>paradigmas</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aprendizaje</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automático,</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un</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agente</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aprendizaje</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se</a:t>
            </a:r>
            <a:r>
              <a:rPr lang="es-CO" sz="2000" spc="-30" dirty="0">
                <a:latin typeface="Consolas" panose="020B0609020204030204" pitchFamily="49" charset="0"/>
                <a:cs typeface="Arial MT"/>
              </a:rPr>
              <a:t> </a:t>
            </a:r>
            <a:r>
              <a:rPr lang="es-CO" sz="2000" spc="-25" dirty="0">
                <a:latin typeface="Consolas" panose="020B0609020204030204" pitchFamily="49" charset="0"/>
                <a:cs typeface="Arial MT"/>
              </a:rPr>
              <a:t>le </a:t>
            </a:r>
            <a:r>
              <a:rPr lang="es-CO" sz="2000" dirty="0">
                <a:latin typeface="Consolas" panose="020B0609020204030204" pitchFamily="49" charset="0"/>
                <a:cs typeface="Arial MT"/>
              </a:rPr>
              <a:t>dice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qué</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acciones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tomar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para</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lograr</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ciertos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resultados.</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caso</a:t>
            </a:r>
            <a:r>
              <a:rPr lang="es-CO" sz="2000" spc="-40" dirty="0">
                <a:latin typeface="Consolas" panose="020B0609020204030204" pitchFamily="49" charset="0"/>
                <a:cs typeface="Arial MT"/>
              </a:rPr>
              <a:t> </a:t>
            </a:r>
            <a:r>
              <a:rPr lang="es-CO" sz="2000" spc="-25" dirty="0">
                <a:latin typeface="Consolas" panose="020B0609020204030204" pitchFamily="49" charset="0"/>
                <a:cs typeface="Arial MT"/>
              </a:rPr>
              <a:t>del </a:t>
            </a:r>
            <a:r>
              <a:rPr lang="es-CO" sz="2000" dirty="0">
                <a:latin typeface="Consolas" panose="020B0609020204030204" pitchFamily="49" charset="0"/>
                <a:cs typeface="Arial MT"/>
              </a:rPr>
              <a:t>aprendizaje</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por</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refuerzo,</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no</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se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le</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dice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al</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agente</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aprendizaje</a:t>
            </a:r>
            <a:r>
              <a:rPr lang="es-CO" sz="2000" spc="-55" dirty="0">
                <a:latin typeface="Consolas" panose="020B0609020204030204" pitchFamily="49" charset="0"/>
                <a:cs typeface="Arial MT"/>
              </a:rPr>
              <a:t> </a:t>
            </a:r>
            <a:r>
              <a:rPr lang="es-CO" sz="2000" spc="-25" dirty="0">
                <a:latin typeface="Consolas" panose="020B0609020204030204" pitchFamily="49" charset="0"/>
                <a:cs typeface="Arial MT"/>
              </a:rPr>
              <a:t>qué </a:t>
            </a:r>
            <a:r>
              <a:rPr lang="es-CO" sz="2000" dirty="0">
                <a:latin typeface="Consolas" panose="020B0609020204030204" pitchFamily="49" charset="0"/>
                <a:cs typeface="Arial MT"/>
              </a:rPr>
              <a:t>acciones</a:t>
            </a:r>
            <a:r>
              <a:rPr lang="es-CO" sz="2000" spc="-40" dirty="0">
                <a:latin typeface="Consolas" panose="020B0609020204030204" pitchFamily="49" charset="0"/>
                <a:cs typeface="Arial MT"/>
              </a:rPr>
              <a:t> </a:t>
            </a:r>
            <a:r>
              <a:rPr lang="es-CO" sz="2000" spc="-10" dirty="0">
                <a:latin typeface="Consolas" panose="020B0609020204030204" pitchFamily="49" charset="0"/>
                <a:cs typeface="Arial MT"/>
              </a:rPr>
              <a:t>tomar.</a:t>
            </a:r>
            <a:endParaRPr lang="es-CO" sz="2000" dirty="0">
              <a:latin typeface="Consolas" panose="020B0609020204030204" pitchFamily="49" charset="0"/>
              <a:cs typeface="Arial MT"/>
            </a:endParaRPr>
          </a:p>
        </p:txBody>
      </p:sp>
    </p:spTree>
    <p:extLst>
      <p:ext uri="{BB962C8B-B14F-4D97-AF65-F5344CB8AC3E}">
        <p14:creationId xmlns:p14="http://schemas.microsoft.com/office/powerpoint/2010/main" val="23630721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F51275-9330-42CD-1CA9-C11BEE168DB3}"/>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58AFAC4C-AC83-D607-D246-963C27559502}"/>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Introducción</a:t>
            </a:r>
          </a:p>
        </p:txBody>
      </p:sp>
      <p:sp>
        <p:nvSpPr>
          <p:cNvPr id="2" name="Title 2">
            <a:extLst>
              <a:ext uri="{FF2B5EF4-FFF2-40B4-BE49-F238E27FC236}">
                <a16:creationId xmlns:a16="http://schemas.microsoft.com/office/drawing/2014/main" id="{4D9470EC-081D-4D32-2F65-03A77C4908A1}"/>
              </a:ext>
            </a:extLst>
          </p:cNvPr>
          <p:cNvSpPr txBox="1">
            <a:spLocks/>
          </p:cNvSpPr>
          <p:nvPr/>
        </p:nvSpPr>
        <p:spPr>
          <a:xfrm>
            <a:off x="745435" y="1181607"/>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Que es el </a:t>
            </a:r>
            <a:r>
              <a:rPr lang="es-MX" sz="3200" dirty="0" err="1">
                <a:solidFill>
                  <a:srgbClr val="0070C0"/>
                </a:solidFill>
                <a:latin typeface="Consolas" panose="020B0609020204030204" pitchFamily="49" charset="0"/>
                <a:cs typeface="Arial"/>
              </a:rPr>
              <a:t>reinforcement</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learning</a:t>
            </a:r>
            <a:r>
              <a:rPr lang="es-MX" sz="3200" dirty="0">
                <a:solidFill>
                  <a:srgbClr val="0070C0"/>
                </a:solidFill>
                <a:latin typeface="Consolas" panose="020B0609020204030204" pitchFamily="49" charset="0"/>
                <a:cs typeface="Arial"/>
              </a:rPr>
              <a:t>?</a:t>
            </a:r>
          </a:p>
        </p:txBody>
      </p:sp>
      <p:sp>
        <p:nvSpPr>
          <p:cNvPr id="5" name="TextBox 4">
            <a:extLst>
              <a:ext uri="{FF2B5EF4-FFF2-40B4-BE49-F238E27FC236}">
                <a16:creationId xmlns:a16="http://schemas.microsoft.com/office/drawing/2014/main" id="{6F882678-43E7-B754-9A3C-255D6BCE96DD}"/>
              </a:ext>
            </a:extLst>
          </p:cNvPr>
          <p:cNvSpPr txBox="1"/>
          <p:nvPr/>
        </p:nvSpPr>
        <p:spPr>
          <a:xfrm>
            <a:off x="745435" y="2105561"/>
            <a:ext cx="4687177" cy="1323439"/>
          </a:xfrm>
          <a:prstGeom prst="rect">
            <a:avLst/>
          </a:prstGeom>
          <a:noFill/>
        </p:spPr>
        <p:txBody>
          <a:bodyPr wrap="square">
            <a:spAutoFit/>
          </a:bodyPr>
          <a:lstStyle/>
          <a:p>
            <a:pPr marL="12700" marR="509905" algn="just">
              <a:lnSpc>
                <a:spcPct val="100000"/>
              </a:lnSpc>
              <a:spcBef>
                <a:spcPts val="105"/>
              </a:spcBef>
            </a:pPr>
            <a:r>
              <a:rPr lang="es-CO" sz="2000" dirty="0">
                <a:latin typeface="Consolas" panose="020B0609020204030204" pitchFamily="49" charset="0"/>
                <a:cs typeface="Arial MT"/>
              </a:rPr>
              <a:t>Imagina que tienes un agente que necesita realizar acciones en un entorno determinado. </a:t>
            </a:r>
          </a:p>
        </p:txBody>
      </p:sp>
      <p:pic>
        <p:nvPicPr>
          <p:cNvPr id="6" name="Picture 5">
            <a:extLst>
              <a:ext uri="{FF2B5EF4-FFF2-40B4-BE49-F238E27FC236}">
                <a16:creationId xmlns:a16="http://schemas.microsoft.com/office/drawing/2014/main" id="{00D0BCFE-DEBC-59C9-AB1B-5071AC54DFA0}"/>
              </a:ext>
            </a:extLst>
          </p:cNvPr>
          <p:cNvPicPr>
            <a:picLocks noChangeAspect="1"/>
          </p:cNvPicPr>
          <p:nvPr/>
        </p:nvPicPr>
        <p:blipFill>
          <a:blip r:embed="rId3"/>
          <a:stretch>
            <a:fillRect/>
          </a:stretch>
        </p:blipFill>
        <p:spPr>
          <a:xfrm>
            <a:off x="1433353" y="3708025"/>
            <a:ext cx="3004175" cy="2803897"/>
          </a:xfrm>
          <a:prstGeom prst="rect">
            <a:avLst/>
          </a:prstGeom>
        </p:spPr>
      </p:pic>
      <p:sp>
        <p:nvSpPr>
          <p:cNvPr id="8" name="TextBox 7">
            <a:extLst>
              <a:ext uri="{FF2B5EF4-FFF2-40B4-BE49-F238E27FC236}">
                <a16:creationId xmlns:a16="http://schemas.microsoft.com/office/drawing/2014/main" id="{1F8070B2-A44A-E6A1-8826-A6C25EE10C77}"/>
              </a:ext>
            </a:extLst>
          </p:cNvPr>
          <p:cNvSpPr txBox="1"/>
          <p:nvPr/>
        </p:nvSpPr>
        <p:spPr>
          <a:xfrm>
            <a:off x="6271763" y="2441738"/>
            <a:ext cx="4413997" cy="3477875"/>
          </a:xfrm>
          <a:prstGeom prst="rect">
            <a:avLst/>
          </a:prstGeom>
          <a:noFill/>
        </p:spPr>
        <p:txBody>
          <a:bodyPr wrap="square">
            <a:spAutoFit/>
          </a:bodyPr>
          <a:lstStyle/>
          <a:p>
            <a:pPr algn="just"/>
            <a:r>
              <a:rPr lang="es-CO" sz="2000" dirty="0">
                <a:latin typeface="Consolas" panose="020B0609020204030204" pitchFamily="49" charset="0"/>
              </a:rPr>
              <a:t>El ratón robot intenta encontrar tanta comida como sea posible, evitando recibir descargas eléctricas siempre que sea posible. Estas señales de comida y electricidad son la recompensa que el entorno otorga al agente (ratón robot) como retroalimentación adicional sobre las acciones del agente</a:t>
            </a:r>
          </a:p>
        </p:txBody>
      </p:sp>
    </p:spTree>
    <p:extLst>
      <p:ext uri="{BB962C8B-B14F-4D97-AF65-F5344CB8AC3E}">
        <p14:creationId xmlns:p14="http://schemas.microsoft.com/office/powerpoint/2010/main" val="21181821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E7F9B-D20F-F804-7756-66E47C510CDE}"/>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48F094B1-94F9-D0A3-53CB-33A9B9E2D9CE}"/>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Introducción</a:t>
            </a:r>
          </a:p>
        </p:txBody>
      </p:sp>
      <p:sp>
        <p:nvSpPr>
          <p:cNvPr id="2" name="Title 2">
            <a:extLst>
              <a:ext uri="{FF2B5EF4-FFF2-40B4-BE49-F238E27FC236}">
                <a16:creationId xmlns:a16="http://schemas.microsoft.com/office/drawing/2014/main" id="{39D68D01-AF25-AD64-3D6F-CA5AC6CFDF82}"/>
              </a:ext>
            </a:extLst>
          </p:cNvPr>
          <p:cNvSpPr txBox="1">
            <a:spLocks/>
          </p:cNvSpPr>
          <p:nvPr/>
        </p:nvSpPr>
        <p:spPr>
          <a:xfrm>
            <a:off x="745435" y="1181607"/>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Que son las recompensas en RL?</a:t>
            </a:r>
          </a:p>
        </p:txBody>
      </p:sp>
      <p:sp>
        <p:nvSpPr>
          <p:cNvPr id="5" name="TextBox 4">
            <a:extLst>
              <a:ext uri="{FF2B5EF4-FFF2-40B4-BE49-F238E27FC236}">
                <a16:creationId xmlns:a16="http://schemas.microsoft.com/office/drawing/2014/main" id="{A3415EE6-8C90-3716-C139-E2B55A596D5D}"/>
              </a:ext>
            </a:extLst>
          </p:cNvPr>
          <p:cNvSpPr txBox="1"/>
          <p:nvPr/>
        </p:nvSpPr>
        <p:spPr>
          <a:xfrm>
            <a:off x="745434" y="2004646"/>
            <a:ext cx="6757782" cy="707886"/>
          </a:xfrm>
          <a:prstGeom prst="rect">
            <a:avLst/>
          </a:prstGeom>
          <a:noFill/>
        </p:spPr>
        <p:txBody>
          <a:bodyPr wrap="square">
            <a:spAutoFit/>
          </a:bodyPr>
          <a:lstStyle/>
          <a:p>
            <a:pPr marL="12700" marR="509905" algn="just">
              <a:lnSpc>
                <a:spcPct val="100000"/>
              </a:lnSpc>
              <a:spcBef>
                <a:spcPts val="105"/>
              </a:spcBef>
            </a:pPr>
            <a:r>
              <a:rPr lang="es-CO" sz="2000" dirty="0">
                <a:latin typeface="Consolas" panose="020B0609020204030204" pitchFamily="49" charset="0"/>
              </a:rPr>
              <a:t>Una recompensa es un numero (generalmente un escalar) que el entorno envía al agente.</a:t>
            </a:r>
            <a:endParaRPr lang="es-CO" sz="2000" dirty="0">
              <a:latin typeface="Consolas" panose="020B0609020204030204" pitchFamily="49" charset="0"/>
              <a:cs typeface="Arial MT"/>
            </a:endParaRPr>
          </a:p>
        </p:txBody>
      </p:sp>
      <p:sp>
        <p:nvSpPr>
          <p:cNvPr id="8" name="TextBox 7">
            <a:extLst>
              <a:ext uri="{FF2B5EF4-FFF2-40B4-BE49-F238E27FC236}">
                <a16:creationId xmlns:a16="http://schemas.microsoft.com/office/drawing/2014/main" id="{BDABC624-F2ED-65A1-1AF3-A744616FDBAB}"/>
              </a:ext>
            </a:extLst>
          </p:cNvPr>
          <p:cNvSpPr txBox="1"/>
          <p:nvPr/>
        </p:nvSpPr>
        <p:spPr>
          <a:xfrm>
            <a:off x="7503216" y="2512477"/>
            <a:ext cx="4413997" cy="3477875"/>
          </a:xfrm>
          <a:prstGeom prst="rect">
            <a:avLst/>
          </a:prstGeom>
          <a:noFill/>
        </p:spPr>
        <p:txBody>
          <a:bodyPr wrap="square">
            <a:spAutoFit/>
          </a:bodyPr>
          <a:lstStyle/>
          <a:p>
            <a:pPr algn="just"/>
            <a:r>
              <a:rPr lang="es-CO" sz="2000" dirty="0">
                <a:latin typeface="Consolas" panose="020B0609020204030204" pitchFamily="49" charset="0"/>
              </a:rPr>
              <a:t>El objetivo final del agente es obtener la mayor recompensa total posible. En nuestro ejemplo concreto, el ratón robot podría sufrir una ligera descarga eléctrica para llegar a un lugar con mucha comida, lo que sería un resultado mejor para el ratón robot que quedarse quieto y no ganar nada.</a:t>
            </a:r>
          </a:p>
        </p:txBody>
      </p:sp>
      <p:pic>
        <p:nvPicPr>
          <p:cNvPr id="9" name="Picture 8">
            <a:extLst>
              <a:ext uri="{FF2B5EF4-FFF2-40B4-BE49-F238E27FC236}">
                <a16:creationId xmlns:a16="http://schemas.microsoft.com/office/drawing/2014/main" id="{52F4D065-7895-A35C-63FE-44654C68EEC6}"/>
              </a:ext>
            </a:extLst>
          </p:cNvPr>
          <p:cNvPicPr>
            <a:picLocks noChangeAspect="1"/>
          </p:cNvPicPr>
          <p:nvPr/>
        </p:nvPicPr>
        <p:blipFill>
          <a:blip r:embed="rId3"/>
          <a:stretch>
            <a:fillRect/>
          </a:stretch>
        </p:blipFill>
        <p:spPr>
          <a:xfrm>
            <a:off x="745432" y="2956213"/>
            <a:ext cx="6278848" cy="3477875"/>
          </a:xfrm>
          <a:prstGeom prst="rect">
            <a:avLst/>
          </a:prstGeom>
        </p:spPr>
      </p:pic>
    </p:spTree>
    <p:extLst>
      <p:ext uri="{BB962C8B-B14F-4D97-AF65-F5344CB8AC3E}">
        <p14:creationId xmlns:p14="http://schemas.microsoft.com/office/powerpoint/2010/main" val="5926985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70C607-5748-8857-D523-C9E7B6301602}"/>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B8CBA880-D20C-31EE-26F8-9022942622B5}"/>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Introducción</a:t>
            </a:r>
          </a:p>
        </p:txBody>
      </p:sp>
      <p:sp>
        <p:nvSpPr>
          <p:cNvPr id="2" name="Title 2">
            <a:extLst>
              <a:ext uri="{FF2B5EF4-FFF2-40B4-BE49-F238E27FC236}">
                <a16:creationId xmlns:a16="http://schemas.microsoft.com/office/drawing/2014/main" id="{A085BC29-4088-AF17-F069-859EA2F510DC}"/>
              </a:ext>
            </a:extLst>
          </p:cNvPr>
          <p:cNvSpPr txBox="1">
            <a:spLocks/>
          </p:cNvSpPr>
          <p:nvPr/>
        </p:nvSpPr>
        <p:spPr>
          <a:xfrm>
            <a:off x="745435" y="1181607"/>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Aplicaciones del RL</a:t>
            </a:r>
          </a:p>
        </p:txBody>
      </p:sp>
      <p:sp>
        <p:nvSpPr>
          <p:cNvPr id="5" name="TextBox 4">
            <a:extLst>
              <a:ext uri="{FF2B5EF4-FFF2-40B4-BE49-F238E27FC236}">
                <a16:creationId xmlns:a16="http://schemas.microsoft.com/office/drawing/2014/main" id="{B3FC39D5-8787-CDEF-35ED-83884E559553}"/>
              </a:ext>
            </a:extLst>
          </p:cNvPr>
          <p:cNvSpPr txBox="1"/>
          <p:nvPr/>
        </p:nvSpPr>
        <p:spPr>
          <a:xfrm>
            <a:off x="745435" y="1975096"/>
            <a:ext cx="5526328" cy="1323439"/>
          </a:xfrm>
          <a:prstGeom prst="rect">
            <a:avLst/>
          </a:prstGeom>
          <a:noFill/>
        </p:spPr>
        <p:txBody>
          <a:bodyPr wrap="square">
            <a:spAutoFit/>
          </a:bodyPr>
          <a:lstStyle/>
          <a:p>
            <a:pPr marL="354965" indent="-342265">
              <a:lnSpc>
                <a:spcPct val="100000"/>
              </a:lnSpc>
              <a:spcBef>
                <a:spcPts val="105"/>
              </a:spcBef>
              <a:buChar char="•"/>
              <a:tabLst>
                <a:tab pos="354965" algn="l"/>
              </a:tabLst>
            </a:pPr>
            <a:r>
              <a:rPr lang="es-CO" sz="2000" dirty="0">
                <a:latin typeface="Consolas" panose="020B0609020204030204" pitchFamily="49" charset="0"/>
                <a:cs typeface="Arial MT"/>
              </a:rPr>
              <a:t>Juegos</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de </a:t>
            </a:r>
            <a:r>
              <a:rPr lang="es-CO" sz="2000" spc="-20" dirty="0">
                <a:latin typeface="Consolas" panose="020B0609020204030204" pitchFamily="49" charset="0"/>
                <a:cs typeface="Arial MT"/>
              </a:rPr>
              <a:t>mesa</a:t>
            </a:r>
            <a:endParaRPr lang="es-CO" sz="2000" dirty="0">
              <a:latin typeface="Consolas" panose="020B0609020204030204" pitchFamily="49" charset="0"/>
              <a:cs typeface="Arial MT"/>
            </a:endParaRPr>
          </a:p>
          <a:p>
            <a:pPr marL="354965" indent="-342265">
              <a:lnSpc>
                <a:spcPct val="100000"/>
              </a:lnSpc>
              <a:buChar char="•"/>
              <a:tabLst>
                <a:tab pos="354965" algn="l"/>
              </a:tabLst>
            </a:pPr>
            <a:r>
              <a:rPr lang="es-CO" sz="2000" spc="-10" dirty="0">
                <a:latin typeface="Consolas" panose="020B0609020204030204" pitchFamily="49" charset="0"/>
                <a:cs typeface="Arial MT"/>
              </a:rPr>
              <a:t>Robótica</a:t>
            </a:r>
            <a:endParaRPr lang="es-CO" sz="2000" dirty="0">
              <a:latin typeface="Consolas" panose="020B0609020204030204" pitchFamily="49" charset="0"/>
              <a:cs typeface="Arial MT"/>
            </a:endParaRPr>
          </a:p>
          <a:p>
            <a:pPr marL="354965" indent="-342265">
              <a:lnSpc>
                <a:spcPct val="100000"/>
              </a:lnSpc>
              <a:buChar char="•"/>
              <a:tabLst>
                <a:tab pos="354965" algn="l"/>
              </a:tabLst>
            </a:pPr>
            <a:r>
              <a:rPr lang="es-CO" sz="2000" dirty="0">
                <a:latin typeface="Consolas" panose="020B0609020204030204" pitchFamily="49" charset="0"/>
                <a:cs typeface="Arial MT"/>
              </a:rPr>
              <a:t>Controladores</a:t>
            </a:r>
            <a:r>
              <a:rPr lang="es-CO" sz="2000" spc="-120" dirty="0">
                <a:latin typeface="Consolas" panose="020B0609020204030204" pitchFamily="49" charset="0"/>
                <a:cs typeface="Arial MT"/>
              </a:rPr>
              <a:t> </a:t>
            </a:r>
            <a:r>
              <a:rPr lang="es-CO" sz="2000" spc="-10" dirty="0">
                <a:latin typeface="Consolas" panose="020B0609020204030204" pitchFamily="49" charset="0"/>
                <a:cs typeface="Arial MT"/>
              </a:rPr>
              <a:t>Industriales</a:t>
            </a:r>
            <a:endParaRPr lang="es-CO" sz="2000" dirty="0">
              <a:latin typeface="Consolas" panose="020B0609020204030204" pitchFamily="49" charset="0"/>
              <a:cs typeface="Arial MT"/>
            </a:endParaRPr>
          </a:p>
          <a:p>
            <a:pPr marL="354965" indent="-342265">
              <a:lnSpc>
                <a:spcPct val="100000"/>
              </a:lnSpc>
              <a:buChar char="•"/>
              <a:tabLst>
                <a:tab pos="354965" algn="l"/>
              </a:tabLst>
            </a:pPr>
            <a:r>
              <a:rPr lang="es-CO" sz="2000" spc="-10" dirty="0">
                <a:latin typeface="Consolas" panose="020B0609020204030204" pitchFamily="49" charset="0"/>
                <a:cs typeface="Arial MT"/>
              </a:rPr>
              <a:t>Bebés</a:t>
            </a:r>
            <a:endParaRPr lang="es-CO" sz="2000" dirty="0">
              <a:latin typeface="Consolas" panose="020B0609020204030204" pitchFamily="49" charset="0"/>
              <a:cs typeface="Arial MT"/>
            </a:endParaRPr>
          </a:p>
        </p:txBody>
      </p:sp>
      <p:pic>
        <p:nvPicPr>
          <p:cNvPr id="6" name="object 5">
            <a:extLst>
              <a:ext uri="{FF2B5EF4-FFF2-40B4-BE49-F238E27FC236}">
                <a16:creationId xmlns:a16="http://schemas.microsoft.com/office/drawing/2014/main" id="{3C5C1172-E74F-5BA1-AD8F-1CC66F60ADAB}"/>
              </a:ext>
            </a:extLst>
          </p:cNvPr>
          <p:cNvPicPr/>
          <p:nvPr/>
        </p:nvPicPr>
        <p:blipFill>
          <a:blip r:embed="rId3" cstate="print"/>
          <a:stretch>
            <a:fillRect/>
          </a:stretch>
        </p:blipFill>
        <p:spPr>
          <a:xfrm>
            <a:off x="6096000" y="2297412"/>
            <a:ext cx="4030079" cy="2700174"/>
          </a:xfrm>
          <a:prstGeom prst="rect">
            <a:avLst/>
          </a:prstGeom>
        </p:spPr>
      </p:pic>
      <p:pic>
        <p:nvPicPr>
          <p:cNvPr id="7" name="object 4">
            <a:extLst>
              <a:ext uri="{FF2B5EF4-FFF2-40B4-BE49-F238E27FC236}">
                <a16:creationId xmlns:a16="http://schemas.microsoft.com/office/drawing/2014/main" id="{E6AB7B82-C530-370D-5037-F0125721209F}"/>
              </a:ext>
            </a:extLst>
          </p:cNvPr>
          <p:cNvPicPr/>
          <p:nvPr/>
        </p:nvPicPr>
        <p:blipFill>
          <a:blip r:embed="rId4" cstate="print"/>
          <a:stretch>
            <a:fillRect/>
          </a:stretch>
        </p:blipFill>
        <p:spPr>
          <a:xfrm>
            <a:off x="1183298" y="3559466"/>
            <a:ext cx="3106314" cy="2634974"/>
          </a:xfrm>
          <a:prstGeom prst="rect">
            <a:avLst/>
          </a:prstGeom>
        </p:spPr>
      </p:pic>
    </p:spTree>
    <p:extLst>
      <p:ext uri="{BB962C8B-B14F-4D97-AF65-F5344CB8AC3E}">
        <p14:creationId xmlns:p14="http://schemas.microsoft.com/office/powerpoint/2010/main" val="239102943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2D5F5E-8C70-D70C-CA2F-42B903CCEEA0}"/>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9F9B0AF-D1EB-A984-B92F-CFFBF5D6EDC9}"/>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Introducción</a:t>
            </a:r>
          </a:p>
        </p:txBody>
      </p:sp>
      <p:sp>
        <p:nvSpPr>
          <p:cNvPr id="2" name="Title 2">
            <a:extLst>
              <a:ext uri="{FF2B5EF4-FFF2-40B4-BE49-F238E27FC236}">
                <a16:creationId xmlns:a16="http://schemas.microsoft.com/office/drawing/2014/main" id="{6B736F09-2000-9E7F-2205-C0BFAACDC0ED}"/>
              </a:ext>
            </a:extLst>
          </p:cNvPr>
          <p:cNvSpPr txBox="1">
            <a:spLocks/>
          </p:cNvSpPr>
          <p:nvPr/>
        </p:nvSpPr>
        <p:spPr>
          <a:xfrm>
            <a:off x="745435" y="1181607"/>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Componentes del RL</a:t>
            </a:r>
          </a:p>
        </p:txBody>
      </p:sp>
      <p:sp>
        <p:nvSpPr>
          <p:cNvPr id="3" name="object 3">
            <a:extLst>
              <a:ext uri="{FF2B5EF4-FFF2-40B4-BE49-F238E27FC236}">
                <a16:creationId xmlns:a16="http://schemas.microsoft.com/office/drawing/2014/main" id="{9D076435-0088-0D34-E593-C73B54FB4FD1}"/>
              </a:ext>
            </a:extLst>
          </p:cNvPr>
          <p:cNvSpPr/>
          <p:nvPr/>
        </p:nvSpPr>
        <p:spPr>
          <a:xfrm>
            <a:off x="1364815" y="1906025"/>
            <a:ext cx="1815114" cy="1907604"/>
          </a:xfrm>
          <a:custGeom>
            <a:avLst/>
            <a:gdLst/>
            <a:ahLst/>
            <a:cxnLst/>
            <a:rect l="l" t="t" r="r" b="b"/>
            <a:pathLst>
              <a:path w="1365885" h="1472564">
                <a:moveTo>
                  <a:pt x="1229017" y="0"/>
                </a:moveTo>
                <a:lnTo>
                  <a:pt x="136563" y="0"/>
                </a:lnTo>
                <a:lnTo>
                  <a:pt x="93398" y="6956"/>
                </a:lnTo>
                <a:lnTo>
                  <a:pt x="55909" y="26330"/>
                </a:lnTo>
                <a:lnTo>
                  <a:pt x="26348" y="55878"/>
                </a:lnTo>
                <a:lnTo>
                  <a:pt x="6961" y="93358"/>
                </a:lnTo>
                <a:lnTo>
                  <a:pt x="0" y="136525"/>
                </a:lnTo>
                <a:lnTo>
                  <a:pt x="0" y="1335659"/>
                </a:lnTo>
                <a:lnTo>
                  <a:pt x="6961" y="1378825"/>
                </a:lnTo>
                <a:lnTo>
                  <a:pt x="26348" y="1416305"/>
                </a:lnTo>
                <a:lnTo>
                  <a:pt x="55909" y="1445853"/>
                </a:lnTo>
                <a:lnTo>
                  <a:pt x="93398" y="1465227"/>
                </a:lnTo>
                <a:lnTo>
                  <a:pt x="136563" y="1472184"/>
                </a:lnTo>
                <a:lnTo>
                  <a:pt x="1229017" y="1472184"/>
                </a:lnTo>
                <a:lnTo>
                  <a:pt x="1272184" y="1465227"/>
                </a:lnTo>
                <a:lnTo>
                  <a:pt x="1309664" y="1445853"/>
                </a:lnTo>
                <a:lnTo>
                  <a:pt x="1339212" y="1416305"/>
                </a:lnTo>
                <a:lnTo>
                  <a:pt x="1358586" y="1378825"/>
                </a:lnTo>
                <a:lnTo>
                  <a:pt x="1365542" y="1335659"/>
                </a:lnTo>
                <a:lnTo>
                  <a:pt x="1365542" y="136525"/>
                </a:lnTo>
                <a:lnTo>
                  <a:pt x="1358586" y="93358"/>
                </a:lnTo>
                <a:lnTo>
                  <a:pt x="1339212" y="55878"/>
                </a:lnTo>
                <a:lnTo>
                  <a:pt x="1309664" y="26330"/>
                </a:lnTo>
                <a:lnTo>
                  <a:pt x="1272184" y="6956"/>
                </a:lnTo>
                <a:lnTo>
                  <a:pt x="1229017" y="0"/>
                </a:lnTo>
                <a:close/>
              </a:path>
            </a:pathLst>
          </a:custGeom>
          <a:solidFill>
            <a:srgbClr val="202020"/>
          </a:solidFill>
        </p:spPr>
        <p:txBody>
          <a:bodyPr wrap="square" lIns="0" tIns="0" rIns="0" bIns="0" rtlCol="0"/>
          <a:lstStyle/>
          <a:p>
            <a:endParaRPr b="1">
              <a:latin typeface="Consolas" panose="020B0609020204030204" pitchFamily="49" charset="0"/>
            </a:endParaRPr>
          </a:p>
        </p:txBody>
      </p:sp>
      <p:sp>
        <p:nvSpPr>
          <p:cNvPr id="8" name="object 4">
            <a:extLst>
              <a:ext uri="{FF2B5EF4-FFF2-40B4-BE49-F238E27FC236}">
                <a16:creationId xmlns:a16="http://schemas.microsoft.com/office/drawing/2014/main" id="{4A5DA027-8059-87E2-25DE-09B7BBC48681}"/>
              </a:ext>
            </a:extLst>
          </p:cNvPr>
          <p:cNvSpPr txBox="1"/>
          <p:nvPr/>
        </p:nvSpPr>
        <p:spPr>
          <a:xfrm>
            <a:off x="1459265" y="1963939"/>
            <a:ext cx="1563648" cy="1104789"/>
          </a:xfrm>
          <a:prstGeom prst="rect">
            <a:avLst/>
          </a:prstGeom>
        </p:spPr>
        <p:txBody>
          <a:bodyPr vert="horz" wrap="square" lIns="0" tIns="45719" rIns="0" bIns="0" rtlCol="0">
            <a:spAutoFit/>
          </a:bodyPr>
          <a:lstStyle/>
          <a:p>
            <a:pPr marL="12700" marR="5080" indent="-1270" algn="ctr">
              <a:lnSpc>
                <a:spcPct val="86300"/>
              </a:lnSpc>
              <a:spcBef>
                <a:spcPts val="359"/>
              </a:spcBef>
            </a:pPr>
            <a:r>
              <a:rPr sz="1600" b="1" dirty="0">
                <a:solidFill>
                  <a:srgbClr val="FFFFFF"/>
                </a:solidFill>
                <a:latin typeface="Consolas" panose="020B0609020204030204" pitchFamily="49" charset="0"/>
                <a:cs typeface="Arial MT"/>
              </a:rPr>
              <a:t>Conjunto</a:t>
            </a:r>
            <a:r>
              <a:rPr sz="1600" b="1" spc="-55"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de </a:t>
            </a:r>
            <a:r>
              <a:rPr sz="1600" b="1" spc="-10" dirty="0">
                <a:solidFill>
                  <a:srgbClr val="FFFFFF"/>
                </a:solidFill>
                <a:latin typeface="Consolas" panose="020B0609020204030204" pitchFamily="49" charset="0"/>
                <a:cs typeface="Arial MT"/>
              </a:rPr>
              <a:t>estados relacionados </a:t>
            </a:r>
            <a:r>
              <a:rPr sz="1600" b="1" dirty="0">
                <a:solidFill>
                  <a:srgbClr val="FFFFFF"/>
                </a:solidFill>
                <a:latin typeface="Consolas" panose="020B0609020204030204" pitchFamily="49" charset="0"/>
                <a:cs typeface="Arial MT"/>
              </a:rPr>
              <a:t>con</a:t>
            </a:r>
            <a:r>
              <a:rPr sz="1600" b="1" spc="-20"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el </a:t>
            </a:r>
            <a:r>
              <a:rPr sz="1600" b="1" dirty="0">
                <a:solidFill>
                  <a:srgbClr val="FFFFFF"/>
                </a:solidFill>
                <a:latin typeface="Consolas" panose="020B0609020204030204" pitchFamily="49" charset="0"/>
                <a:cs typeface="Arial MT"/>
              </a:rPr>
              <a:t>agente</a:t>
            </a:r>
            <a:r>
              <a:rPr sz="1600" b="1" spc="-15" dirty="0">
                <a:solidFill>
                  <a:srgbClr val="FFFFFF"/>
                </a:solidFill>
                <a:latin typeface="Consolas" panose="020B0609020204030204" pitchFamily="49" charset="0"/>
                <a:cs typeface="Arial MT"/>
              </a:rPr>
              <a:t> </a:t>
            </a:r>
            <a:r>
              <a:rPr sz="1600" b="1" dirty="0">
                <a:solidFill>
                  <a:srgbClr val="FFFFFF"/>
                </a:solidFill>
                <a:latin typeface="Consolas" panose="020B0609020204030204" pitchFamily="49" charset="0"/>
                <a:cs typeface="Arial MT"/>
              </a:rPr>
              <a:t>y</a:t>
            </a:r>
            <a:r>
              <a:rPr sz="1600" b="1" spc="-15"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el </a:t>
            </a:r>
            <a:r>
              <a:rPr sz="1600" b="1" spc="-10" dirty="0">
                <a:solidFill>
                  <a:srgbClr val="FFFFFF"/>
                </a:solidFill>
                <a:latin typeface="Consolas" panose="020B0609020204030204" pitchFamily="49" charset="0"/>
                <a:cs typeface="Arial MT"/>
              </a:rPr>
              <a:t>entorno</a:t>
            </a:r>
            <a:endParaRPr sz="1600" b="1" dirty="0">
              <a:latin typeface="Consolas" panose="020B0609020204030204" pitchFamily="49" charset="0"/>
              <a:cs typeface="Arial MT"/>
            </a:endParaRPr>
          </a:p>
        </p:txBody>
      </p:sp>
      <p:sp>
        <p:nvSpPr>
          <p:cNvPr id="9" name="object 5">
            <a:extLst>
              <a:ext uri="{FF2B5EF4-FFF2-40B4-BE49-F238E27FC236}">
                <a16:creationId xmlns:a16="http://schemas.microsoft.com/office/drawing/2014/main" id="{89F2B948-D257-304B-9754-BCF443DE4E38}"/>
              </a:ext>
            </a:extLst>
          </p:cNvPr>
          <p:cNvSpPr/>
          <p:nvPr/>
        </p:nvSpPr>
        <p:spPr>
          <a:xfrm>
            <a:off x="2867009" y="2472825"/>
            <a:ext cx="384794" cy="439267"/>
          </a:xfrm>
          <a:custGeom>
            <a:avLst/>
            <a:gdLst/>
            <a:ahLst/>
            <a:cxnLst/>
            <a:rect l="l" t="t" r="r" b="b"/>
            <a:pathLst>
              <a:path w="289560" h="339089">
                <a:moveTo>
                  <a:pt x="144653" y="0"/>
                </a:moveTo>
                <a:lnTo>
                  <a:pt x="144653" y="67691"/>
                </a:lnTo>
                <a:lnTo>
                  <a:pt x="0" y="67691"/>
                </a:lnTo>
                <a:lnTo>
                  <a:pt x="0" y="270891"/>
                </a:lnTo>
                <a:lnTo>
                  <a:pt x="144653" y="270891"/>
                </a:lnTo>
                <a:lnTo>
                  <a:pt x="144653" y="338582"/>
                </a:lnTo>
                <a:lnTo>
                  <a:pt x="289432" y="169291"/>
                </a:lnTo>
                <a:lnTo>
                  <a:pt x="144653" y="0"/>
                </a:lnTo>
                <a:close/>
              </a:path>
            </a:pathLst>
          </a:custGeom>
          <a:solidFill>
            <a:srgbClr val="202020"/>
          </a:solidFill>
        </p:spPr>
        <p:txBody>
          <a:bodyPr wrap="square" lIns="0" tIns="0" rIns="0" bIns="0" rtlCol="0"/>
          <a:lstStyle/>
          <a:p>
            <a:endParaRPr b="1">
              <a:latin typeface="Consolas" panose="020B0609020204030204" pitchFamily="49" charset="0"/>
            </a:endParaRPr>
          </a:p>
        </p:txBody>
      </p:sp>
      <p:sp>
        <p:nvSpPr>
          <p:cNvPr id="10" name="object 6">
            <a:extLst>
              <a:ext uri="{FF2B5EF4-FFF2-40B4-BE49-F238E27FC236}">
                <a16:creationId xmlns:a16="http://schemas.microsoft.com/office/drawing/2014/main" id="{ECD943AB-6376-CDDD-C342-8215E3D03B49}"/>
              </a:ext>
            </a:extLst>
          </p:cNvPr>
          <p:cNvSpPr/>
          <p:nvPr/>
        </p:nvSpPr>
        <p:spPr>
          <a:xfrm>
            <a:off x="3276585" y="1906025"/>
            <a:ext cx="1815114" cy="1907604"/>
          </a:xfrm>
          <a:custGeom>
            <a:avLst/>
            <a:gdLst/>
            <a:ahLst/>
            <a:cxnLst/>
            <a:rect l="l" t="t" r="r" b="b"/>
            <a:pathLst>
              <a:path w="1365885" h="1472564">
                <a:moveTo>
                  <a:pt x="1229106" y="0"/>
                </a:moveTo>
                <a:lnTo>
                  <a:pt x="136651" y="0"/>
                </a:lnTo>
                <a:lnTo>
                  <a:pt x="93471" y="6956"/>
                </a:lnTo>
                <a:lnTo>
                  <a:pt x="55961" y="26330"/>
                </a:lnTo>
                <a:lnTo>
                  <a:pt x="26375" y="55878"/>
                </a:lnTo>
                <a:lnTo>
                  <a:pt x="6969" y="93358"/>
                </a:lnTo>
                <a:lnTo>
                  <a:pt x="0" y="136525"/>
                </a:lnTo>
                <a:lnTo>
                  <a:pt x="0" y="1335659"/>
                </a:lnTo>
                <a:lnTo>
                  <a:pt x="6969" y="1378825"/>
                </a:lnTo>
                <a:lnTo>
                  <a:pt x="26375" y="1416305"/>
                </a:lnTo>
                <a:lnTo>
                  <a:pt x="55961" y="1445853"/>
                </a:lnTo>
                <a:lnTo>
                  <a:pt x="93471" y="1465227"/>
                </a:lnTo>
                <a:lnTo>
                  <a:pt x="136651" y="1472184"/>
                </a:lnTo>
                <a:lnTo>
                  <a:pt x="1229106" y="1472184"/>
                </a:lnTo>
                <a:lnTo>
                  <a:pt x="1272224" y="1465227"/>
                </a:lnTo>
                <a:lnTo>
                  <a:pt x="1309697" y="1445853"/>
                </a:lnTo>
                <a:lnTo>
                  <a:pt x="1339263" y="1416305"/>
                </a:lnTo>
                <a:lnTo>
                  <a:pt x="1358662" y="1378825"/>
                </a:lnTo>
                <a:lnTo>
                  <a:pt x="1365631" y="1335659"/>
                </a:lnTo>
                <a:lnTo>
                  <a:pt x="1365631" y="136525"/>
                </a:lnTo>
                <a:lnTo>
                  <a:pt x="1358662" y="93358"/>
                </a:lnTo>
                <a:lnTo>
                  <a:pt x="1339263" y="55878"/>
                </a:lnTo>
                <a:lnTo>
                  <a:pt x="1309697" y="26330"/>
                </a:lnTo>
                <a:lnTo>
                  <a:pt x="1272224" y="6956"/>
                </a:lnTo>
                <a:lnTo>
                  <a:pt x="1229106" y="0"/>
                </a:lnTo>
                <a:close/>
              </a:path>
            </a:pathLst>
          </a:custGeom>
          <a:solidFill>
            <a:srgbClr val="78909C"/>
          </a:solidFill>
        </p:spPr>
        <p:txBody>
          <a:bodyPr wrap="square" lIns="0" tIns="0" rIns="0" bIns="0" rtlCol="0"/>
          <a:lstStyle/>
          <a:p>
            <a:endParaRPr b="1">
              <a:latin typeface="Consolas" panose="020B0609020204030204" pitchFamily="49" charset="0"/>
            </a:endParaRPr>
          </a:p>
        </p:txBody>
      </p:sp>
      <p:sp>
        <p:nvSpPr>
          <p:cNvPr id="11" name="object 7">
            <a:extLst>
              <a:ext uri="{FF2B5EF4-FFF2-40B4-BE49-F238E27FC236}">
                <a16:creationId xmlns:a16="http://schemas.microsoft.com/office/drawing/2014/main" id="{9F5D3216-498D-31F3-6571-C6E9E9F51632}"/>
              </a:ext>
            </a:extLst>
          </p:cNvPr>
          <p:cNvSpPr txBox="1"/>
          <p:nvPr/>
        </p:nvSpPr>
        <p:spPr>
          <a:xfrm>
            <a:off x="3365230" y="2069095"/>
            <a:ext cx="1577993" cy="893064"/>
          </a:xfrm>
          <a:prstGeom prst="rect">
            <a:avLst/>
          </a:prstGeom>
        </p:spPr>
        <p:txBody>
          <a:bodyPr vert="horz" wrap="square" lIns="0" tIns="45719" rIns="0" bIns="0" rtlCol="0">
            <a:spAutoFit/>
          </a:bodyPr>
          <a:lstStyle/>
          <a:p>
            <a:pPr marL="12700" marR="5080" algn="ctr">
              <a:lnSpc>
                <a:spcPct val="86300"/>
              </a:lnSpc>
              <a:spcBef>
                <a:spcPts val="359"/>
              </a:spcBef>
            </a:pPr>
            <a:r>
              <a:rPr sz="1600" b="1" dirty="0">
                <a:solidFill>
                  <a:srgbClr val="FFFFFF"/>
                </a:solidFill>
                <a:latin typeface="Consolas" panose="020B0609020204030204" pitchFamily="49" charset="0"/>
                <a:cs typeface="Arial MT"/>
              </a:rPr>
              <a:t>Políticas</a:t>
            </a:r>
            <a:r>
              <a:rPr sz="1600" b="1" spc="-65"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que </a:t>
            </a:r>
            <a:r>
              <a:rPr sz="1600" b="1" spc="-10" dirty="0">
                <a:solidFill>
                  <a:srgbClr val="FFFFFF"/>
                </a:solidFill>
                <a:latin typeface="Consolas" panose="020B0609020204030204" pitchFamily="49" charset="0"/>
                <a:cs typeface="Arial MT"/>
              </a:rPr>
              <a:t>determinan </a:t>
            </a:r>
            <a:r>
              <a:rPr sz="1600" b="1" dirty="0">
                <a:solidFill>
                  <a:srgbClr val="FFFFFF"/>
                </a:solidFill>
                <a:latin typeface="Consolas" panose="020B0609020204030204" pitchFamily="49" charset="0"/>
                <a:cs typeface="Arial MT"/>
              </a:rPr>
              <a:t>qué</a:t>
            </a:r>
            <a:r>
              <a:rPr sz="1600" b="1" spc="-10" dirty="0">
                <a:solidFill>
                  <a:srgbClr val="FFFFFF"/>
                </a:solidFill>
                <a:latin typeface="Consolas" panose="020B0609020204030204" pitchFamily="49" charset="0"/>
                <a:cs typeface="Arial MT"/>
              </a:rPr>
              <a:t> acción </a:t>
            </a:r>
            <a:r>
              <a:rPr sz="1600" b="1" spc="-20" dirty="0">
                <a:solidFill>
                  <a:srgbClr val="FFFFFF"/>
                </a:solidFill>
                <a:latin typeface="Consolas" panose="020B0609020204030204" pitchFamily="49" charset="0"/>
                <a:cs typeface="Arial MT"/>
              </a:rPr>
              <a:t>debe </a:t>
            </a:r>
            <a:r>
              <a:rPr sz="1600" b="1" spc="-10" dirty="0">
                <a:solidFill>
                  <a:srgbClr val="FFFFFF"/>
                </a:solidFill>
                <a:latin typeface="Consolas" panose="020B0609020204030204" pitchFamily="49" charset="0"/>
                <a:cs typeface="Arial MT"/>
              </a:rPr>
              <a:t>tomarse</a:t>
            </a:r>
            <a:endParaRPr sz="1600" b="1">
              <a:latin typeface="Consolas" panose="020B0609020204030204" pitchFamily="49" charset="0"/>
              <a:cs typeface="Arial MT"/>
            </a:endParaRPr>
          </a:p>
        </p:txBody>
      </p:sp>
      <p:sp>
        <p:nvSpPr>
          <p:cNvPr id="12" name="object 8">
            <a:extLst>
              <a:ext uri="{FF2B5EF4-FFF2-40B4-BE49-F238E27FC236}">
                <a16:creationId xmlns:a16="http://schemas.microsoft.com/office/drawing/2014/main" id="{63C9B484-D7C8-6BF0-C4BD-456768976B01}"/>
              </a:ext>
            </a:extLst>
          </p:cNvPr>
          <p:cNvSpPr/>
          <p:nvPr/>
        </p:nvSpPr>
        <p:spPr>
          <a:xfrm>
            <a:off x="4778741" y="2472825"/>
            <a:ext cx="384794" cy="439267"/>
          </a:xfrm>
          <a:custGeom>
            <a:avLst/>
            <a:gdLst/>
            <a:ahLst/>
            <a:cxnLst/>
            <a:rect l="l" t="t" r="r" b="b"/>
            <a:pathLst>
              <a:path w="289560" h="339089">
                <a:moveTo>
                  <a:pt x="144779" y="0"/>
                </a:moveTo>
                <a:lnTo>
                  <a:pt x="144779" y="67691"/>
                </a:lnTo>
                <a:lnTo>
                  <a:pt x="0" y="67691"/>
                </a:lnTo>
                <a:lnTo>
                  <a:pt x="0" y="270891"/>
                </a:lnTo>
                <a:lnTo>
                  <a:pt x="144779" y="270891"/>
                </a:lnTo>
                <a:lnTo>
                  <a:pt x="144779" y="338582"/>
                </a:lnTo>
                <a:lnTo>
                  <a:pt x="289559" y="169291"/>
                </a:lnTo>
                <a:lnTo>
                  <a:pt x="144779" y="0"/>
                </a:lnTo>
                <a:close/>
              </a:path>
            </a:pathLst>
          </a:custGeom>
          <a:solidFill>
            <a:srgbClr val="78909C"/>
          </a:solidFill>
        </p:spPr>
        <p:txBody>
          <a:bodyPr wrap="square" lIns="0" tIns="0" rIns="0" bIns="0" rtlCol="0"/>
          <a:lstStyle/>
          <a:p>
            <a:endParaRPr b="1">
              <a:latin typeface="Consolas" panose="020B0609020204030204" pitchFamily="49" charset="0"/>
            </a:endParaRPr>
          </a:p>
        </p:txBody>
      </p:sp>
      <p:sp>
        <p:nvSpPr>
          <p:cNvPr id="13" name="object 9">
            <a:extLst>
              <a:ext uri="{FF2B5EF4-FFF2-40B4-BE49-F238E27FC236}">
                <a16:creationId xmlns:a16="http://schemas.microsoft.com/office/drawing/2014/main" id="{554AB82B-3316-5B95-8303-7CA07769C6FE}"/>
              </a:ext>
            </a:extLst>
          </p:cNvPr>
          <p:cNvSpPr/>
          <p:nvPr/>
        </p:nvSpPr>
        <p:spPr>
          <a:xfrm>
            <a:off x="5188443" y="1906025"/>
            <a:ext cx="1815114" cy="1907604"/>
          </a:xfrm>
          <a:custGeom>
            <a:avLst/>
            <a:gdLst/>
            <a:ahLst/>
            <a:cxnLst/>
            <a:rect l="l" t="t" r="r" b="b"/>
            <a:pathLst>
              <a:path w="1365885" h="1472564">
                <a:moveTo>
                  <a:pt x="1228978" y="0"/>
                </a:moveTo>
                <a:lnTo>
                  <a:pt x="136525" y="0"/>
                </a:lnTo>
                <a:lnTo>
                  <a:pt x="93358" y="6956"/>
                </a:lnTo>
                <a:lnTo>
                  <a:pt x="55878" y="26330"/>
                </a:lnTo>
                <a:lnTo>
                  <a:pt x="26330" y="55878"/>
                </a:lnTo>
                <a:lnTo>
                  <a:pt x="6956" y="93358"/>
                </a:lnTo>
                <a:lnTo>
                  <a:pt x="0" y="136525"/>
                </a:lnTo>
                <a:lnTo>
                  <a:pt x="0" y="1335659"/>
                </a:lnTo>
                <a:lnTo>
                  <a:pt x="6956" y="1378825"/>
                </a:lnTo>
                <a:lnTo>
                  <a:pt x="26330" y="1416305"/>
                </a:lnTo>
                <a:lnTo>
                  <a:pt x="55878" y="1445853"/>
                </a:lnTo>
                <a:lnTo>
                  <a:pt x="93358" y="1465227"/>
                </a:lnTo>
                <a:lnTo>
                  <a:pt x="136525" y="1472184"/>
                </a:lnTo>
                <a:lnTo>
                  <a:pt x="1228978" y="1472184"/>
                </a:lnTo>
                <a:lnTo>
                  <a:pt x="1272145" y="1465227"/>
                </a:lnTo>
                <a:lnTo>
                  <a:pt x="1309625" y="1445853"/>
                </a:lnTo>
                <a:lnTo>
                  <a:pt x="1339173" y="1416305"/>
                </a:lnTo>
                <a:lnTo>
                  <a:pt x="1358547" y="1378825"/>
                </a:lnTo>
                <a:lnTo>
                  <a:pt x="1365503" y="1335659"/>
                </a:lnTo>
                <a:lnTo>
                  <a:pt x="1365503" y="136525"/>
                </a:lnTo>
                <a:lnTo>
                  <a:pt x="1358547" y="93358"/>
                </a:lnTo>
                <a:lnTo>
                  <a:pt x="1339173" y="55878"/>
                </a:lnTo>
                <a:lnTo>
                  <a:pt x="1309625" y="26330"/>
                </a:lnTo>
                <a:lnTo>
                  <a:pt x="1272145" y="6956"/>
                </a:lnTo>
                <a:lnTo>
                  <a:pt x="1228978" y="0"/>
                </a:lnTo>
                <a:close/>
              </a:path>
            </a:pathLst>
          </a:custGeom>
          <a:solidFill>
            <a:srgbClr val="FFAB40"/>
          </a:solidFill>
        </p:spPr>
        <p:txBody>
          <a:bodyPr wrap="square" lIns="0" tIns="0" rIns="0" bIns="0" rtlCol="0"/>
          <a:lstStyle/>
          <a:p>
            <a:endParaRPr b="1">
              <a:latin typeface="Consolas" panose="020B0609020204030204" pitchFamily="49" charset="0"/>
            </a:endParaRPr>
          </a:p>
        </p:txBody>
      </p:sp>
      <p:sp>
        <p:nvSpPr>
          <p:cNvPr id="14" name="object 10">
            <a:extLst>
              <a:ext uri="{FF2B5EF4-FFF2-40B4-BE49-F238E27FC236}">
                <a16:creationId xmlns:a16="http://schemas.microsoft.com/office/drawing/2014/main" id="{288A74EF-5116-AE73-DBCD-C5CCE02762EE}"/>
              </a:ext>
            </a:extLst>
          </p:cNvPr>
          <p:cNvSpPr txBox="1"/>
          <p:nvPr/>
        </p:nvSpPr>
        <p:spPr>
          <a:xfrm>
            <a:off x="5429616" y="2279406"/>
            <a:ext cx="1173791" cy="700833"/>
          </a:xfrm>
          <a:prstGeom prst="rect">
            <a:avLst/>
          </a:prstGeom>
        </p:spPr>
        <p:txBody>
          <a:bodyPr vert="horz" wrap="square" lIns="0" tIns="46355" rIns="0" bIns="0" rtlCol="0">
            <a:spAutoFit/>
          </a:bodyPr>
          <a:lstStyle/>
          <a:p>
            <a:pPr marL="12065" marR="5080" algn="ctr">
              <a:lnSpc>
                <a:spcPts val="1660"/>
              </a:lnSpc>
              <a:spcBef>
                <a:spcPts val="365"/>
              </a:spcBef>
            </a:pPr>
            <a:r>
              <a:rPr sz="1600" b="1" dirty="0">
                <a:solidFill>
                  <a:srgbClr val="FFFFFF"/>
                </a:solidFill>
                <a:latin typeface="Consolas" panose="020B0609020204030204" pitchFamily="49" charset="0"/>
                <a:cs typeface="Arial MT"/>
              </a:rPr>
              <a:t>El </a:t>
            </a:r>
            <a:r>
              <a:rPr sz="1600" b="1" spc="-10" dirty="0">
                <a:solidFill>
                  <a:srgbClr val="FFFFFF"/>
                </a:solidFill>
                <a:latin typeface="Consolas" panose="020B0609020204030204" pitchFamily="49" charset="0"/>
                <a:cs typeface="Arial MT"/>
              </a:rPr>
              <a:t>agente </a:t>
            </a:r>
            <a:r>
              <a:rPr sz="1600" b="1" dirty="0">
                <a:solidFill>
                  <a:srgbClr val="FFFFFF"/>
                </a:solidFill>
                <a:latin typeface="Consolas" panose="020B0609020204030204" pitchFamily="49" charset="0"/>
                <a:cs typeface="Arial MT"/>
              </a:rPr>
              <a:t>toma</a:t>
            </a:r>
            <a:r>
              <a:rPr sz="1600" b="1" spc="-30"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la </a:t>
            </a:r>
            <a:r>
              <a:rPr sz="1600" b="1" spc="-10" dirty="0">
                <a:solidFill>
                  <a:srgbClr val="FFFFFF"/>
                </a:solidFill>
                <a:latin typeface="Consolas" panose="020B0609020204030204" pitchFamily="49" charset="0"/>
                <a:cs typeface="Arial MT"/>
              </a:rPr>
              <a:t>acción</a:t>
            </a:r>
            <a:endParaRPr sz="1600" b="1">
              <a:latin typeface="Consolas" panose="020B0609020204030204" pitchFamily="49" charset="0"/>
              <a:cs typeface="Arial MT"/>
            </a:endParaRPr>
          </a:p>
        </p:txBody>
      </p:sp>
      <p:sp>
        <p:nvSpPr>
          <p:cNvPr id="15" name="object 11">
            <a:extLst>
              <a:ext uri="{FF2B5EF4-FFF2-40B4-BE49-F238E27FC236}">
                <a16:creationId xmlns:a16="http://schemas.microsoft.com/office/drawing/2014/main" id="{72D13B3F-0828-FEFF-C703-EA140D1D42F3}"/>
              </a:ext>
            </a:extLst>
          </p:cNvPr>
          <p:cNvSpPr/>
          <p:nvPr/>
        </p:nvSpPr>
        <p:spPr>
          <a:xfrm>
            <a:off x="6690599" y="2472825"/>
            <a:ext cx="384794" cy="439267"/>
          </a:xfrm>
          <a:custGeom>
            <a:avLst/>
            <a:gdLst/>
            <a:ahLst/>
            <a:cxnLst/>
            <a:rect l="l" t="t" r="r" b="b"/>
            <a:pathLst>
              <a:path w="289560" h="339089">
                <a:moveTo>
                  <a:pt x="144652" y="0"/>
                </a:moveTo>
                <a:lnTo>
                  <a:pt x="144652" y="67691"/>
                </a:lnTo>
                <a:lnTo>
                  <a:pt x="0" y="67691"/>
                </a:lnTo>
                <a:lnTo>
                  <a:pt x="0" y="270891"/>
                </a:lnTo>
                <a:lnTo>
                  <a:pt x="144652" y="270891"/>
                </a:lnTo>
                <a:lnTo>
                  <a:pt x="144652" y="338582"/>
                </a:lnTo>
                <a:lnTo>
                  <a:pt x="289433" y="169291"/>
                </a:lnTo>
                <a:lnTo>
                  <a:pt x="144652" y="0"/>
                </a:lnTo>
                <a:close/>
              </a:path>
            </a:pathLst>
          </a:custGeom>
          <a:solidFill>
            <a:srgbClr val="FFAB40"/>
          </a:solidFill>
        </p:spPr>
        <p:txBody>
          <a:bodyPr wrap="square" lIns="0" tIns="0" rIns="0" bIns="0" rtlCol="0"/>
          <a:lstStyle/>
          <a:p>
            <a:endParaRPr b="1">
              <a:latin typeface="Consolas" panose="020B0609020204030204" pitchFamily="49" charset="0"/>
            </a:endParaRPr>
          </a:p>
        </p:txBody>
      </p:sp>
      <p:sp>
        <p:nvSpPr>
          <p:cNvPr id="16" name="object 12">
            <a:extLst>
              <a:ext uri="{FF2B5EF4-FFF2-40B4-BE49-F238E27FC236}">
                <a16:creationId xmlns:a16="http://schemas.microsoft.com/office/drawing/2014/main" id="{5B75C020-4EB2-2EE4-8A85-828F8A367A4A}"/>
              </a:ext>
            </a:extLst>
          </p:cNvPr>
          <p:cNvSpPr/>
          <p:nvPr/>
        </p:nvSpPr>
        <p:spPr>
          <a:xfrm>
            <a:off x="7100174" y="1906025"/>
            <a:ext cx="1815114" cy="1907604"/>
          </a:xfrm>
          <a:custGeom>
            <a:avLst/>
            <a:gdLst/>
            <a:ahLst/>
            <a:cxnLst/>
            <a:rect l="l" t="t" r="r" b="b"/>
            <a:pathLst>
              <a:path w="1365884" h="1472564">
                <a:moveTo>
                  <a:pt x="1229106" y="0"/>
                </a:moveTo>
                <a:lnTo>
                  <a:pt x="136651" y="0"/>
                </a:lnTo>
                <a:lnTo>
                  <a:pt x="93471" y="6956"/>
                </a:lnTo>
                <a:lnTo>
                  <a:pt x="55961" y="26330"/>
                </a:lnTo>
                <a:lnTo>
                  <a:pt x="26375" y="55878"/>
                </a:lnTo>
                <a:lnTo>
                  <a:pt x="6969" y="93358"/>
                </a:lnTo>
                <a:lnTo>
                  <a:pt x="0" y="136525"/>
                </a:lnTo>
                <a:lnTo>
                  <a:pt x="0" y="1335659"/>
                </a:lnTo>
                <a:lnTo>
                  <a:pt x="6969" y="1378825"/>
                </a:lnTo>
                <a:lnTo>
                  <a:pt x="26375" y="1416305"/>
                </a:lnTo>
                <a:lnTo>
                  <a:pt x="55961" y="1445853"/>
                </a:lnTo>
                <a:lnTo>
                  <a:pt x="93472" y="1465227"/>
                </a:lnTo>
                <a:lnTo>
                  <a:pt x="136651" y="1472184"/>
                </a:lnTo>
                <a:lnTo>
                  <a:pt x="1229106" y="1472184"/>
                </a:lnTo>
                <a:lnTo>
                  <a:pt x="1272272" y="1465227"/>
                </a:lnTo>
                <a:lnTo>
                  <a:pt x="1309752" y="1445853"/>
                </a:lnTo>
                <a:lnTo>
                  <a:pt x="1339300" y="1416305"/>
                </a:lnTo>
                <a:lnTo>
                  <a:pt x="1358674" y="1378825"/>
                </a:lnTo>
                <a:lnTo>
                  <a:pt x="1365631" y="1335659"/>
                </a:lnTo>
                <a:lnTo>
                  <a:pt x="1365631" y="136525"/>
                </a:lnTo>
                <a:lnTo>
                  <a:pt x="1358674" y="93358"/>
                </a:lnTo>
                <a:lnTo>
                  <a:pt x="1339300" y="55878"/>
                </a:lnTo>
                <a:lnTo>
                  <a:pt x="1309752" y="26330"/>
                </a:lnTo>
                <a:lnTo>
                  <a:pt x="1272272" y="6956"/>
                </a:lnTo>
                <a:lnTo>
                  <a:pt x="1229106" y="0"/>
                </a:lnTo>
                <a:close/>
              </a:path>
            </a:pathLst>
          </a:custGeom>
          <a:solidFill>
            <a:srgbClr val="78909C"/>
          </a:solidFill>
        </p:spPr>
        <p:txBody>
          <a:bodyPr wrap="square" lIns="0" tIns="0" rIns="0" bIns="0" rtlCol="0"/>
          <a:lstStyle/>
          <a:p>
            <a:endParaRPr b="1">
              <a:latin typeface="Consolas" panose="020B0609020204030204" pitchFamily="49" charset="0"/>
            </a:endParaRPr>
          </a:p>
        </p:txBody>
      </p:sp>
      <p:sp>
        <p:nvSpPr>
          <p:cNvPr id="17" name="object 13">
            <a:extLst>
              <a:ext uri="{FF2B5EF4-FFF2-40B4-BE49-F238E27FC236}">
                <a16:creationId xmlns:a16="http://schemas.microsoft.com/office/drawing/2014/main" id="{3E07013C-A5D5-1CF2-0188-5959CD262BAE}"/>
              </a:ext>
            </a:extLst>
          </p:cNvPr>
          <p:cNvSpPr txBox="1"/>
          <p:nvPr/>
        </p:nvSpPr>
        <p:spPr>
          <a:xfrm>
            <a:off x="7239747" y="2069095"/>
            <a:ext cx="1445509" cy="893064"/>
          </a:xfrm>
          <a:prstGeom prst="rect">
            <a:avLst/>
          </a:prstGeom>
        </p:spPr>
        <p:txBody>
          <a:bodyPr vert="horz" wrap="square" lIns="0" tIns="45719" rIns="0" bIns="0" rtlCol="0">
            <a:spAutoFit/>
          </a:bodyPr>
          <a:lstStyle/>
          <a:p>
            <a:pPr marL="12700" marR="5080" algn="ctr">
              <a:lnSpc>
                <a:spcPct val="86300"/>
              </a:lnSpc>
              <a:spcBef>
                <a:spcPts val="359"/>
              </a:spcBef>
            </a:pPr>
            <a:r>
              <a:rPr sz="1600" b="1" dirty="0">
                <a:solidFill>
                  <a:srgbClr val="FFFFFF"/>
                </a:solidFill>
                <a:latin typeface="Consolas" panose="020B0609020204030204" pitchFamily="49" charset="0"/>
                <a:cs typeface="Arial MT"/>
              </a:rPr>
              <a:t>El </a:t>
            </a:r>
            <a:r>
              <a:rPr sz="1600" b="1" spc="-10" dirty="0">
                <a:solidFill>
                  <a:srgbClr val="FFFFFF"/>
                </a:solidFill>
                <a:latin typeface="Consolas" panose="020B0609020204030204" pitchFamily="49" charset="0"/>
                <a:cs typeface="Arial MT"/>
              </a:rPr>
              <a:t>entorno reacciona </a:t>
            </a:r>
            <a:r>
              <a:rPr sz="1600" b="1" spc="-25" dirty="0">
                <a:solidFill>
                  <a:srgbClr val="FFFFFF"/>
                </a:solidFill>
                <a:latin typeface="Consolas" panose="020B0609020204030204" pitchFamily="49" charset="0"/>
                <a:cs typeface="Arial MT"/>
              </a:rPr>
              <a:t>en </a:t>
            </a:r>
            <a:r>
              <a:rPr sz="1600" b="1" dirty="0">
                <a:solidFill>
                  <a:srgbClr val="FFFFFF"/>
                </a:solidFill>
                <a:latin typeface="Consolas" panose="020B0609020204030204" pitchFamily="49" charset="0"/>
                <a:cs typeface="Arial MT"/>
              </a:rPr>
              <a:t>respuesta</a:t>
            </a:r>
            <a:r>
              <a:rPr sz="1600" b="1" spc="-100" dirty="0">
                <a:solidFill>
                  <a:srgbClr val="FFFFFF"/>
                </a:solidFill>
                <a:latin typeface="Consolas" panose="020B0609020204030204" pitchFamily="49" charset="0"/>
                <a:cs typeface="Arial MT"/>
              </a:rPr>
              <a:t> </a:t>
            </a:r>
            <a:r>
              <a:rPr sz="1600" b="1" spc="-50" dirty="0">
                <a:solidFill>
                  <a:srgbClr val="FFFFFF"/>
                </a:solidFill>
                <a:latin typeface="Consolas" panose="020B0609020204030204" pitchFamily="49" charset="0"/>
                <a:cs typeface="Arial MT"/>
              </a:rPr>
              <a:t>a </a:t>
            </a:r>
            <a:r>
              <a:rPr sz="1600" b="1" dirty="0">
                <a:solidFill>
                  <a:srgbClr val="FFFFFF"/>
                </a:solidFill>
                <a:latin typeface="Consolas" panose="020B0609020204030204" pitchFamily="49" charset="0"/>
                <a:cs typeface="Arial MT"/>
              </a:rPr>
              <a:t>esa</a:t>
            </a:r>
            <a:r>
              <a:rPr sz="1600" b="1" spc="-25" dirty="0">
                <a:solidFill>
                  <a:srgbClr val="FFFFFF"/>
                </a:solidFill>
                <a:latin typeface="Consolas" panose="020B0609020204030204" pitchFamily="49" charset="0"/>
                <a:cs typeface="Arial MT"/>
              </a:rPr>
              <a:t> </a:t>
            </a:r>
            <a:r>
              <a:rPr sz="1600" b="1" spc="-10" dirty="0">
                <a:solidFill>
                  <a:srgbClr val="FFFFFF"/>
                </a:solidFill>
                <a:latin typeface="Consolas" panose="020B0609020204030204" pitchFamily="49" charset="0"/>
                <a:cs typeface="Arial MT"/>
              </a:rPr>
              <a:t>acción</a:t>
            </a:r>
            <a:endParaRPr sz="1600" b="1">
              <a:latin typeface="Consolas" panose="020B0609020204030204" pitchFamily="49" charset="0"/>
              <a:cs typeface="Arial MT"/>
            </a:endParaRPr>
          </a:p>
        </p:txBody>
      </p:sp>
      <p:sp>
        <p:nvSpPr>
          <p:cNvPr id="18" name="object 14">
            <a:extLst>
              <a:ext uri="{FF2B5EF4-FFF2-40B4-BE49-F238E27FC236}">
                <a16:creationId xmlns:a16="http://schemas.microsoft.com/office/drawing/2014/main" id="{25877D22-4A9E-9423-200B-A72FDCD692B5}"/>
              </a:ext>
            </a:extLst>
          </p:cNvPr>
          <p:cNvSpPr/>
          <p:nvPr/>
        </p:nvSpPr>
        <p:spPr>
          <a:xfrm>
            <a:off x="8602329" y="2472825"/>
            <a:ext cx="384794" cy="439267"/>
          </a:xfrm>
          <a:custGeom>
            <a:avLst/>
            <a:gdLst/>
            <a:ahLst/>
            <a:cxnLst/>
            <a:rect l="l" t="t" r="r" b="b"/>
            <a:pathLst>
              <a:path w="289559" h="339089">
                <a:moveTo>
                  <a:pt x="144779" y="0"/>
                </a:moveTo>
                <a:lnTo>
                  <a:pt x="144779" y="67691"/>
                </a:lnTo>
                <a:lnTo>
                  <a:pt x="0" y="67691"/>
                </a:lnTo>
                <a:lnTo>
                  <a:pt x="0" y="270891"/>
                </a:lnTo>
                <a:lnTo>
                  <a:pt x="144779" y="270891"/>
                </a:lnTo>
                <a:lnTo>
                  <a:pt x="144779" y="338582"/>
                </a:lnTo>
                <a:lnTo>
                  <a:pt x="289559" y="169291"/>
                </a:lnTo>
                <a:lnTo>
                  <a:pt x="144779" y="0"/>
                </a:lnTo>
                <a:close/>
              </a:path>
            </a:pathLst>
          </a:custGeom>
          <a:solidFill>
            <a:srgbClr val="78909C"/>
          </a:solidFill>
        </p:spPr>
        <p:txBody>
          <a:bodyPr wrap="square" lIns="0" tIns="0" rIns="0" bIns="0" rtlCol="0"/>
          <a:lstStyle/>
          <a:p>
            <a:endParaRPr b="1">
              <a:latin typeface="Consolas" panose="020B0609020204030204" pitchFamily="49" charset="0"/>
            </a:endParaRPr>
          </a:p>
        </p:txBody>
      </p:sp>
      <p:sp>
        <p:nvSpPr>
          <p:cNvPr id="19" name="object 15">
            <a:extLst>
              <a:ext uri="{FF2B5EF4-FFF2-40B4-BE49-F238E27FC236}">
                <a16:creationId xmlns:a16="http://schemas.microsoft.com/office/drawing/2014/main" id="{64577464-BA01-4BDB-431A-2DB421DC8271}"/>
              </a:ext>
            </a:extLst>
          </p:cNvPr>
          <p:cNvSpPr/>
          <p:nvPr/>
        </p:nvSpPr>
        <p:spPr>
          <a:xfrm>
            <a:off x="9012031" y="1906025"/>
            <a:ext cx="1815114" cy="1907604"/>
          </a:xfrm>
          <a:custGeom>
            <a:avLst/>
            <a:gdLst/>
            <a:ahLst/>
            <a:cxnLst/>
            <a:rect l="l" t="t" r="r" b="b"/>
            <a:pathLst>
              <a:path w="1365884" h="1472564">
                <a:moveTo>
                  <a:pt x="1228978" y="0"/>
                </a:moveTo>
                <a:lnTo>
                  <a:pt x="136525" y="0"/>
                </a:lnTo>
                <a:lnTo>
                  <a:pt x="93358" y="6956"/>
                </a:lnTo>
                <a:lnTo>
                  <a:pt x="55878" y="26330"/>
                </a:lnTo>
                <a:lnTo>
                  <a:pt x="26330" y="55878"/>
                </a:lnTo>
                <a:lnTo>
                  <a:pt x="6956" y="93358"/>
                </a:lnTo>
                <a:lnTo>
                  <a:pt x="0" y="136525"/>
                </a:lnTo>
                <a:lnTo>
                  <a:pt x="0" y="1335659"/>
                </a:lnTo>
                <a:lnTo>
                  <a:pt x="6956" y="1378825"/>
                </a:lnTo>
                <a:lnTo>
                  <a:pt x="26330" y="1416305"/>
                </a:lnTo>
                <a:lnTo>
                  <a:pt x="55878" y="1445853"/>
                </a:lnTo>
                <a:lnTo>
                  <a:pt x="93358" y="1465227"/>
                </a:lnTo>
                <a:lnTo>
                  <a:pt x="136525" y="1472184"/>
                </a:lnTo>
                <a:lnTo>
                  <a:pt x="1228978" y="1472184"/>
                </a:lnTo>
                <a:lnTo>
                  <a:pt x="1272158" y="1465227"/>
                </a:lnTo>
                <a:lnTo>
                  <a:pt x="1309669" y="1445853"/>
                </a:lnTo>
                <a:lnTo>
                  <a:pt x="1339255" y="1416305"/>
                </a:lnTo>
                <a:lnTo>
                  <a:pt x="1358661" y="1378825"/>
                </a:lnTo>
                <a:lnTo>
                  <a:pt x="1365630" y="1335659"/>
                </a:lnTo>
                <a:lnTo>
                  <a:pt x="1365630" y="136525"/>
                </a:lnTo>
                <a:lnTo>
                  <a:pt x="1358661" y="93358"/>
                </a:lnTo>
                <a:lnTo>
                  <a:pt x="1339255" y="55878"/>
                </a:lnTo>
                <a:lnTo>
                  <a:pt x="1309669" y="26330"/>
                </a:lnTo>
                <a:lnTo>
                  <a:pt x="1272158" y="6956"/>
                </a:lnTo>
                <a:lnTo>
                  <a:pt x="1228978" y="0"/>
                </a:lnTo>
                <a:close/>
              </a:path>
            </a:pathLst>
          </a:custGeom>
          <a:solidFill>
            <a:srgbClr val="FFAB40"/>
          </a:solidFill>
        </p:spPr>
        <p:txBody>
          <a:bodyPr wrap="square" lIns="0" tIns="0" rIns="0" bIns="0" rtlCol="0"/>
          <a:lstStyle/>
          <a:p>
            <a:endParaRPr b="1">
              <a:latin typeface="Consolas" panose="020B0609020204030204" pitchFamily="49" charset="0"/>
            </a:endParaRPr>
          </a:p>
        </p:txBody>
      </p:sp>
      <p:sp>
        <p:nvSpPr>
          <p:cNvPr id="20" name="object 16">
            <a:extLst>
              <a:ext uri="{FF2B5EF4-FFF2-40B4-BE49-F238E27FC236}">
                <a16:creationId xmlns:a16="http://schemas.microsoft.com/office/drawing/2014/main" id="{A8A0ECF9-993E-631F-F260-DD8F46AC2B07}"/>
              </a:ext>
            </a:extLst>
          </p:cNvPr>
          <p:cNvSpPr txBox="1"/>
          <p:nvPr/>
        </p:nvSpPr>
        <p:spPr>
          <a:xfrm>
            <a:off x="9124427" y="1963939"/>
            <a:ext cx="1518080" cy="1316513"/>
          </a:xfrm>
          <a:prstGeom prst="rect">
            <a:avLst/>
          </a:prstGeom>
        </p:spPr>
        <p:txBody>
          <a:bodyPr vert="horz" wrap="square" lIns="0" tIns="45719" rIns="0" bIns="0" rtlCol="0">
            <a:spAutoFit/>
          </a:bodyPr>
          <a:lstStyle/>
          <a:p>
            <a:pPr marL="12700" marR="5080" indent="-635" algn="ctr">
              <a:lnSpc>
                <a:spcPct val="86300"/>
              </a:lnSpc>
              <a:spcBef>
                <a:spcPts val="359"/>
              </a:spcBef>
            </a:pPr>
            <a:r>
              <a:rPr sz="1600" b="1" dirty="0">
                <a:solidFill>
                  <a:srgbClr val="FFFFFF"/>
                </a:solidFill>
                <a:latin typeface="Consolas" panose="020B0609020204030204" pitchFamily="49" charset="0"/>
                <a:cs typeface="Arial MT"/>
              </a:rPr>
              <a:t>El </a:t>
            </a:r>
            <a:r>
              <a:rPr sz="1600" b="1" spc="-10" dirty="0">
                <a:solidFill>
                  <a:srgbClr val="FFFFFF"/>
                </a:solidFill>
                <a:latin typeface="Consolas" panose="020B0609020204030204" pitchFamily="49" charset="0"/>
                <a:cs typeface="Arial MT"/>
              </a:rPr>
              <a:t>agente </a:t>
            </a:r>
            <a:r>
              <a:rPr sz="1600" b="1" dirty="0">
                <a:solidFill>
                  <a:srgbClr val="FFFFFF"/>
                </a:solidFill>
                <a:latin typeface="Consolas" panose="020B0609020204030204" pitchFamily="49" charset="0"/>
                <a:cs typeface="Arial MT"/>
              </a:rPr>
              <a:t>calcula</a:t>
            </a:r>
            <a:r>
              <a:rPr sz="1600" b="1" spc="-45" dirty="0">
                <a:solidFill>
                  <a:srgbClr val="FFFFFF"/>
                </a:solidFill>
                <a:latin typeface="Consolas" panose="020B0609020204030204" pitchFamily="49" charset="0"/>
                <a:cs typeface="Arial MT"/>
              </a:rPr>
              <a:t> </a:t>
            </a:r>
            <a:r>
              <a:rPr sz="1600" b="1" spc="-50" dirty="0">
                <a:solidFill>
                  <a:srgbClr val="FFFFFF"/>
                </a:solidFill>
                <a:latin typeface="Consolas" panose="020B0609020204030204" pitchFamily="49" charset="0"/>
                <a:cs typeface="Arial MT"/>
              </a:rPr>
              <a:t>y </a:t>
            </a:r>
            <a:r>
              <a:rPr sz="1600" b="1" dirty="0">
                <a:solidFill>
                  <a:srgbClr val="FFFFFF"/>
                </a:solidFill>
                <a:latin typeface="Consolas" panose="020B0609020204030204" pitchFamily="49" charset="0"/>
                <a:cs typeface="Arial MT"/>
              </a:rPr>
              <a:t>registra</a:t>
            </a:r>
            <a:r>
              <a:rPr sz="1600" b="1" spc="-55" dirty="0">
                <a:solidFill>
                  <a:srgbClr val="FFFFFF"/>
                </a:solidFill>
                <a:latin typeface="Consolas" panose="020B0609020204030204" pitchFamily="49" charset="0"/>
                <a:cs typeface="Arial MT"/>
              </a:rPr>
              <a:t> </a:t>
            </a:r>
            <a:r>
              <a:rPr sz="1600" b="1" spc="-25" dirty="0">
                <a:solidFill>
                  <a:srgbClr val="FFFFFF"/>
                </a:solidFill>
                <a:latin typeface="Consolas" panose="020B0609020204030204" pitchFamily="49" charset="0"/>
                <a:cs typeface="Arial MT"/>
              </a:rPr>
              <a:t>la </a:t>
            </a:r>
            <a:r>
              <a:rPr sz="1600" b="1" spc="-10" dirty="0">
                <a:solidFill>
                  <a:srgbClr val="FFFFFF"/>
                </a:solidFill>
                <a:latin typeface="Consolas" panose="020B0609020204030204" pitchFamily="49" charset="0"/>
                <a:cs typeface="Arial MT"/>
              </a:rPr>
              <a:t>información </a:t>
            </a:r>
            <a:r>
              <a:rPr sz="1600" b="1" dirty="0">
                <a:solidFill>
                  <a:srgbClr val="FFFFFF"/>
                </a:solidFill>
                <a:latin typeface="Consolas" panose="020B0609020204030204" pitchFamily="49" charset="0"/>
                <a:cs typeface="Arial MT"/>
              </a:rPr>
              <a:t>sobre</a:t>
            </a:r>
            <a:r>
              <a:rPr sz="1600" b="1" spc="-40" dirty="0">
                <a:solidFill>
                  <a:srgbClr val="FFFFFF"/>
                </a:solidFill>
                <a:latin typeface="Consolas" panose="020B0609020204030204" pitchFamily="49" charset="0"/>
                <a:cs typeface="Arial MT"/>
              </a:rPr>
              <a:t> </a:t>
            </a:r>
            <a:r>
              <a:rPr sz="1600" b="1" spc="-20" dirty="0">
                <a:solidFill>
                  <a:srgbClr val="FFFFFF"/>
                </a:solidFill>
                <a:latin typeface="Consolas" panose="020B0609020204030204" pitchFamily="49" charset="0"/>
                <a:cs typeface="Arial MT"/>
              </a:rPr>
              <a:t>esta </a:t>
            </a:r>
            <a:r>
              <a:rPr sz="1600" b="1" spc="-10" dirty="0">
                <a:solidFill>
                  <a:srgbClr val="FFFFFF"/>
                </a:solidFill>
                <a:latin typeface="Consolas" panose="020B0609020204030204" pitchFamily="49" charset="0"/>
                <a:cs typeface="Arial MT"/>
              </a:rPr>
              <a:t>recompensa</a:t>
            </a:r>
            <a:endParaRPr sz="1600" b="1" dirty="0">
              <a:latin typeface="Consolas" panose="020B0609020204030204" pitchFamily="49" charset="0"/>
              <a:cs typeface="Arial MT"/>
            </a:endParaRPr>
          </a:p>
        </p:txBody>
      </p:sp>
      <p:pic>
        <p:nvPicPr>
          <p:cNvPr id="21" name="object 17">
            <a:extLst>
              <a:ext uri="{FF2B5EF4-FFF2-40B4-BE49-F238E27FC236}">
                <a16:creationId xmlns:a16="http://schemas.microsoft.com/office/drawing/2014/main" id="{B8861B97-4758-7956-26E2-4D7AB48720B3}"/>
              </a:ext>
            </a:extLst>
          </p:cNvPr>
          <p:cNvPicPr/>
          <p:nvPr/>
        </p:nvPicPr>
        <p:blipFill>
          <a:blip r:embed="rId3" cstate="print"/>
          <a:stretch>
            <a:fillRect/>
          </a:stretch>
        </p:blipFill>
        <p:spPr>
          <a:xfrm>
            <a:off x="3782202" y="3989042"/>
            <a:ext cx="4627595" cy="2375134"/>
          </a:xfrm>
          <a:prstGeom prst="rect">
            <a:avLst/>
          </a:prstGeom>
        </p:spPr>
      </p:pic>
    </p:spTree>
    <p:extLst>
      <p:ext uri="{BB962C8B-B14F-4D97-AF65-F5344CB8AC3E}">
        <p14:creationId xmlns:p14="http://schemas.microsoft.com/office/powerpoint/2010/main" val="153891941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8AA42B-DD25-AFFE-22BF-EE904D7A5027}"/>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9E2D16FD-0FA1-751E-E143-19DF774F69BC}"/>
              </a:ext>
            </a:extLst>
          </p:cNvPr>
          <p:cNvSpPr>
            <a:spLocks noGrp="1"/>
          </p:cNvSpPr>
          <p:nvPr>
            <p:ph type="title"/>
          </p:nvPr>
        </p:nvSpPr>
        <p:spPr>
          <a:xfrm>
            <a:off x="1001186" y="3429000"/>
            <a:ext cx="8712658" cy="709747"/>
          </a:xfrm>
        </p:spPr>
        <p:txBody>
          <a:bodyPr>
            <a:normAutofit fontScale="90000"/>
          </a:bodyPr>
          <a:lstStyle/>
          <a:p>
            <a:br>
              <a:rPr lang="es-ES_tradnl" dirty="0">
                <a:solidFill>
                  <a:srgbClr val="0070C0"/>
                </a:solidFill>
                <a:latin typeface="Consolas" panose="020B0609020204030204" pitchFamily="49" charset="0"/>
              </a:rPr>
            </a:br>
            <a:br>
              <a:rPr lang="es-ES_tradnl" sz="4800" dirty="0">
                <a:solidFill>
                  <a:srgbClr val="0070C0"/>
                </a:solidFill>
                <a:latin typeface="Consolas" panose="020B0609020204030204" pitchFamily="49" charset="0"/>
              </a:rPr>
            </a:br>
            <a:r>
              <a:rPr lang="es-ES_tradnl" sz="4800" dirty="0">
                <a:solidFill>
                  <a:srgbClr val="0070C0"/>
                </a:solidFill>
                <a:latin typeface="Consolas" panose="020B0609020204030204" pitchFamily="49" charset="0"/>
              </a:rPr>
              <a:t>COMPLICACIONES DEL RL</a:t>
            </a:r>
            <a:br>
              <a:rPr lang="es-ES_tradnl" sz="4800" dirty="0">
                <a:solidFill>
                  <a:srgbClr val="0070C0"/>
                </a:solidFill>
              </a:rPr>
            </a:br>
            <a:br>
              <a:rPr lang="es-ES_tradnl" sz="4800" dirty="0">
                <a:solidFill>
                  <a:srgbClr val="0070C0"/>
                </a:solidFill>
              </a:rPr>
            </a:br>
            <a:br>
              <a:rPr lang="es-ES_tradnl" dirty="0">
                <a:solidFill>
                  <a:srgbClr val="0070C0"/>
                </a:solidFill>
              </a:rPr>
            </a:br>
            <a:endParaRPr lang="es-ES_tradnl" dirty="0">
              <a:solidFill>
                <a:srgbClr val="0070C0"/>
              </a:solidFill>
            </a:endParaRPr>
          </a:p>
        </p:txBody>
      </p:sp>
    </p:spTree>
    <p:extLst>
      <p:ext uri="{BB962C8B-B14F-4D97-AF65-F5344CB8AC3E}">
        <p14:creationId xmlns:p14="http://schemas.microsoft.com/office/powerpoint/2010/main" val="128371115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A6406CD-8210-2C57-B991-2B6633163181}"/>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1927D284-F806-D6B4-8B9C-BFAF713B0DE1}"/>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Complicaciones del RL</a:t>
            </a:r>
          </a:p>
        </p:txBody>
      </p:sp>
      <p:sp>
        <p:nvSpPr>
          <p:cNvPr id="5" name="TextBox 4">
            <a:extLst>
              <a:ext uri="{FF2B5EF4-FFF2-40B4-BE49-F238E27FC236}">
                <a16:creationId xmlns:a16="http://schemas.microsoft.com/office/drawing/2014/main" id="{B4110C94-7C0C-FD4B-9C57-DFFA4D845BD6}"/>
              </a:ext>
            </a:extLst>
          </p:cNvPr>
          <p:cNvSpPr txBox="1"/>
          <p:nvPr/>
        </p:nvSpPr>
        <p:spPr>
          <a:xfrm>
            <a:off x="745435" y="1486106"/>
            <a:ext cx="10701129" cy="4144724"/>
          </a:xfrm>
          <a:prstGeom prst="rect">
            <a:avLst/>
          </a:prstGeom>
          <a:noFill/>
        </p:spPr>
        <p:txBody>
          <a:bodyPr wrap="square">
            <a:spAutoFit/>
          </a:bodyPr>
          <a:lstStyle/>
          <a:p>
            <a:pPr marL="12700" marR="509905" algn="just">
              <a:lnSpc>
                <a:spcPct val="100000"/>
              </a:lnSpc>
              <a:spcBef>
                <a:spcPts val="105"/>
              </a:spcBef>
            </a:pPr>
            <a:r>
              <a:rPr lang="es-CO" sz="2000" dirty="0">
                <a:latin typeface="Consolas" panose="020B0609020204030204" pitchFamily="49" charset="0"/>
                <a:cs typeface="Arial MT"/>
              </a:rPr>
              <a:t>Lo primero que hay que tener en cuenta es que la observación en RL depende del comportamiento de un agente y, en cierta medida, es el resultado de este comportamiento. Si tu agente decide hacer cosas ineficaces, las observaciones no te dirán nada sobre lo que ha hecho mal y lo que se debería hacer para mejorar el resultado (el agente solo recibirá comentarios negativos todo el tiempo).</a:t>
            </a: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r>
              <a:rPr lang="es-CO" sz="2000" spc="-70" dirty="0">
                <a:latin typeface="Consolas" panose="020B0609020204030204" pitchFamily="49" charset="0"/>
                <a:cs typeface="Arial MT"/>
              </a:rPr>
              <a:t>La segunda cosa que complica la vida de nuestro agente es que no solo necesita </a:t>
            </a:r>
            <a:r>
              <a:rPr lang="es-CO" sz="2000" b="1" spc="-70" dirty="0">
                <a:latin typeface="Consolas" panose="020B0609020204030204" pitchFamily="49" charset="0"/>
                <a:cs typeface="Arial MT"/>
              </a:rPr>
              <a:t>explotar</a:t>
            </a:r>
            <a:r>
              <a:rPr lang="es-CO" sz="2000" spc="-70" dirty="0">
                <a:latin typeface="Consolas" panose="020B0609020204030204" pitchFamily="49" charset="0"/>
                <a:cs typeface="Arial MT"/>
              </a:rPr>
              <a:t> el conocimiento que ha aprendido, sino también </a:t>
            </a:r>
            <a:r>
              <a:rPr lang="es-CO" sz="2000" b="1" spc="-70" dirty="0">
                <a:latin typeface="Consolas" panose="020B0609020204030204" pitchFamily="49" charset="0"/>
                <a:cs typeface="Arial MT"/>
              </a:rPr>
              <a:t>explorar</a:t>
            </a:r>
            <a:r>
              <a:rPr lang="es-CO" sz="2000" spc="-70" dirty="0">
                <a:latin typeface="Consolas" panose="020B0609020204030204" pitchFamily="49" charset="0"/>
                <a:cs typeface="Arial MT"/>
              </a:rPr>
              <a:t> activamente el entorno, porque tal vez hacer las cosas de manera diferente mejore significativamente el resultado.</a:t>
            </a:r>
          </a:p>
        </p:txBody>
      </p:sp>
    </p:spTree>
    <p:extLst>
      <p:ext uri="{BB962C8B-B14F-4D97-AF65-F5344CB8AC3E}">
        <p14:creationId xmlns:p14="http://schemas.microsoft.com/office/powerpoint/2010/main" val="33098022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02A819-52D5-1B79-CA33-EF2A51590AB5}"/>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3626961A-011A-F4D4-8BA0-A1108D6BCBC9}"/>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Complicaciones del RL</a:t>
            </a:r>
          </a:p>
        </p:txBody>
      </p:sp>
      <p:sp>
        <p:nvSpPr>
          <p:cNvPr id="5" name="TextBox 4">
            <a:extLst>
              <a:ext uri="{FF2B5EF4-FFF2-40B4-BE49-F238E27FC236}">
                <a16:creationId xmlns:a16="http://schemas.microsoft.com/office/drawing/2014/main" id="{5E4A9E69-D8B2-5BDE-1A3E-BE06C2B303CF}"/>
              </a:ext>
            </a:extLst>
          </p:cNvPr>
          <p:cNvSpPr txBox="1"/>
          <p:nvPr/>
        </p:nvSpPr>
        <p:spPr>
          <a:xfrm>
            <a:off x="745436" y="1486106"/>
            <a:ext cx="6045329" cy="4439677"/>
          </a:xfrm>
          <a:prstGeom prst="rect">
            <a:avLst/>
          </a:prstGeom>
          <a:noFill/>
        </p:spPr>
        <p:txBody>
          <a:bodyPr wrap="square">
            <a:spAutoFit/>
          </a:bodyPr>
          <a:lstStyle/>
          <a:p>
            <a:pPr marL="12700" marR="509905" algn="just">
              <a:lnSpc>
                <a:spcPct val="100000"/>
              </a:lnSpc>
              <a:spcBef>
                <a:spcPts val="105"/>
              </a:spcBef>
            </a:pPr>
            <a:r>
              <a:rPr lang="es-CO" sz="2000" dirty="0">
                <a:latin typeface="Consolas" panose="020B0609020204030204" pitchFamily="49" charset="0"/>
                <a:cs typeface="Arial MT"/>
              </a:rPr>
              <a:t>El tercer factor de complicación radica en el hecho de que </a:t>
            </a:r>
            <a:r>
              <a:rPr lang="es-CO" sz="2000" b="1" dirty="0">
                <a:latin typeface="Consolas" panose="020B0609020204030204" pitchFamily="49" charset="0"/>
                <a:cs typeface="Arial MT"/>
              </a:rPr>
              <a:t>la recompensa puede retrasarse considerablemente después de las acciones. </a:t>
            </a:r>
            <a:r>
              <a:rPr lang="es-CO" sz="2000" dirty="0">
                <a:latin typeface="Consolas" panose="020B0609020204030204" pitchFamily="49" charset="0"/>
                <a:cs typeface="Arial MT"/>
              </a:rPr>
              <a:t>En el ajedrez, por ejemplo, una sola jugada fuerte en medio de la partida puede cambiar el equilibrio.</a:t>
            </a: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r>
              <a:rPr lang="es-CO" sz="2000" spc="-70" dirty="0">
                <a:latin typeface="Consolas" panose="020B0609020204030204" pitchFamily="49" charset="0"/>
                <a:cs typeface="Arial MT"/>
              </a:rPr>
              <a:t>Durante el aprendizaje, necesitamos descubrir esos eventos, que pueden ser difíciles de discernir durante el transcurso del tiempo y nuestras acciones.</a:t>
            </a:r>
          </a:p>
          <a:p>
            <a:pPr marL="12700" marR="509905" algn="just">
              <a:lnSpc>
                <a:spcPct val="100000"/>
              </a:lnSpc>
              <a:spcBef>
                <a:spcPts val="105"/>
              </a:spcBef>
            </a:pPr>
            <a:endParaRPr lang="es-CO" sz="2000" spc="-70" dirty="0">
              <a:latin typeface="Consolas" panose="020B0609020204030204" pitchFamily="49" charset="0"/>
              <a:cs typeface="Arial MT"/>
            </a:endParaRPr>
          </a:p>
        </p:txBody>
      </p:sp>
      <p:pic>
        <p:nvPicPr>
          <p:cNvPr id="1026" name="Picture 2" descr="The 16 Pieces In Chess - Names, Moves and Values | CHESS KLUB">
            <a:extLst>
              <a:ext uri="{FF2B5EF4-FFF2-40B4-BE49-F238E27FC236}">
                <a16:creationId xmlns:a16="http://schemas.microsoft.com/office/drawing/2014/main" id="{85E07872-3796-06FD-1143-E39C557307B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14882" y="1486106"/>
            <a:ext cx="4267200" cy="42576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67452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584D82-359D-4F32-0F77-519D11DBCA15}"/>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A9A090C1-8BA5-63B3-1B0E-068A58491954}"/>
              </a:ext>
            </a:extLst>
          </p:cNvPr>
          <p:cNvSpPr>
            <a:spLocks noGrp="1"/>
          </p:cNvSpPr>
          <p:nvPr>
            <p:ph type="title"/>
          </p:nvPr>
        </p:nvSpPr>
        <p:spPr>
          <a:xfrm>
            <a:off x="1297022" y="3429000"/>
            <a:ext cx="8712658" cy="709747"/>
          </a:xfrm>
        </p:spPr>
        <p:txBody>
          <a:bodyPr>
            <a:normAutofit fontScale="90000"/>
          </a:bodyPr>
          <a:lstStyle/>
          <a:p>
            <a:br>
              <a:rPr lang="es-ES_tradnl" dirty="0">
                <a:solidFill>
                  <a:srgbClr val="0070C0"/>
                </a:solidFill>
                <a:latin typeface="Consolas" panose="020B0609020204030204" pitchFamily="49" charset="0"/>
              </a:rPr>
            </a:br>
            <a:br>
              <a:rPr lang="es-ES_tradnl" sz="4800" dirty="0">
                <a:solidFill>
                  <a:srgbClr val="0070C0"/>
                </a:solidFill>
                <a:latin typeface="Consolas" panose="020B0609020204030204" pitchFamily="49" charset="0"/>
              </a:rPr>
            </a:br>
            <a:r>
              <a:rPr lang="es-ES_tradnl" sz="4800" dirty="0">
                <a:solidFill>
                  <a:srgbClr val="0070C0"/>
                </a:solidFill>
                <a:latin typeface="Consolas" panose="020B0609020204030204" pitchFamily="49" charset="0"/>
              </a:rPr>
              <a:t>FUNDAMENTOS DEL RL</a:t>
            </a:r>
            <a:br>
              <a:rPr lang="es-ES_tradnl" sz="4800" dirty="0">
                <a:solidFill>
                  <a:srgbClr val="0070C0"/>
                </a:solidFill>
              </a:rPr>
            </a:br>
            <a:br>
              <a:rPr lang="es-ES_tradnl" sz="4800" dirty="0">
                <a:solidFill>
                  <a:srgbClr val="0070C0"/>
                </a:solidFill>
              </a:rPr>
            </a:br>
            <a:br>
              <a:rPr lang="es-ES_tradnl" dirty="0">
                <a:solidFill>
                  <a:srgbClr val="0070C0"/>
                </a:solidFill>
              </a:rPr>
            </a:br>
            <a:endParaRPr lang="es-ES_tradnl" dirty="0">
              <a:solidFill>
                <a:srgbClr val="0070C0"/>
              </a:solidFill>
            </a:endParaRPr>
          </a:p>
        </p:txBody>
      </p:sp>
    </p:spTree>
    <p:extLst>
      <p:ext uri="{BB962C8B-B14F-4D97-AF65-F5344CB8AC3E}">
        <p14:creationId xmlns:p14="http://schemas.microsoft.com/office/powerpoint/2010/main" val="242330282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E03C5C-FC5C-553A-47F4-BA6D4CE4011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D8B014AE-53B4-3F20-F4EA-85E6E1B9328D}"/>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Fundamentos del RL</a:t>
            </a:r>
          </a:p>
        </p:txBody>
      </p:sp>
      <p:sp>
        <p:nvSpPr>
          <p:cNvPr id="5" name="TextBox 4">
            <a:extLst>
              <a:ext uri="{FF2B5EF4-FFF2-40B4-BE49-F238E27FC236}">
                <a16:creationId xmlns:a16="http://schemas.microsoft.com/office/drawing/2014/main" id="{880D16E4-9F36-CF1A-6DED-46B1534883AE}"/>
              </a:ext>
            </a:extLst>
          </p:cNvPr>
          <p:cNvSpPr txBox="1"/>
          <p:nvPr/>
        </p:nvSpPr>
        <p:spPr>
          <a:xfrm>
            <a:off x="745436" y="1486106"/>
            <a:ext cx="5160941" cy="4157548"/>
          </a:xfrm>
          <a:prstGeom prst="rect">
            <a:avLst/>
          </a:prstGeom>
          <a:noFill/>
        </p:spPr>
        <p:txBody>
          <a:bodyPr wrap="square">
            <a:spAutoFit/>
          </a:bodyPr>
          <a:lstStyle/>
          <a:p>
            <a:pPr marL="12700" marR="509905" algn="just">
              <a:lnSpc>
                <a:spcPct val="100000"/>
              </a:lnSpc>
              <a:spcBef>
                <a:spcPts val="105"/>
              </a:spcBef>
            </a:pPr>
            <a:r>
              <a:rPr lang="es-CO" sz="2000" b="1" dirty="0">
                <a:latin typeface="Consolas" panose="020B0609020204030204" pitchFamily="49" charset="0"/>
                <a:cs typeface="Arial MT"/>
              </a:rPr>
              <a:t>REWARD</a:t>
            </a:r>
          </a:p>
          <a:p>
            <a:pPr marL="12700" marR="509905" algn="just">
              <a:lnSpc>
                <a:spcPct val="100000"/>
              </a:lnSpc>
              <a:spcBef>
                <a:spcPts val="105"/>
              </a:spcBef>
            </a:pPr>
            <a:r>
              <a:rPr lang="es-CO" sz="2000" dirty="0">
                <a:latin typeface="Consolas" panose="020B0609020204030204" pitchFamily="49" charset="0"/>
                <a:cs typeface="Arial MT"/>
              </a:rPr>
              <a:t>En RL, es solo un valor escalar que obtenemos periódicamente del entorno.</a:t>
            </a:r>
          </a:p>
          <a:p>
            <a:pPr marL="12700" marR="509905" algn="just">
              <a:lnSpc>
                <a:spcPct val="100000"/>
              </a:lnSpc>
              <a:spcBef>
                <a:spcPts val="105"/>
              </a:spcBef>
            </a:pPr>
            <a:endParaRPr lang="es-CO" sz="2000" dirty="0">
              <a:latin typeface="Consolas" panose="020B0609020204030204" pitchFamily="49" charset="0"/>
              <a:cs typeface="Arial MT"/>
            </a:endParaRPr>
          </a:p>
          <a:p>
            <a:pPr marL="12700" marR="509905" algn="just">
              <a:lnSpc>
                <a:spcPct val="100000"/>
              </a:lnSpc>
              <a:spcBef>
                <a:spcPts val="105"/>
              </a:spcBef>
            </a:pPr>
            <a:r>
              <a:rPr lang="es-CO" sz="2000" dirty="0">
                <a:latin typeface="Consolas" panose="020B0609020204030204" pitchFamily="49" charset="0"/>
                <a:cs typeface="Arial MT"/>
              </a:rPr>
              <a:t>La recompensa puede ser positiva o negativa, grande o pequeña, pero es solo un número. </a:t>
            </a:r>
          </a:p>
          <a:p>
            <a:pPr marL="12700" marR="509905" algn="just">
              <a:lnSpc>
                <a:spcPct val="100000"/>
              </a:lnSpc>
              <a:spcBef>
                <a:spcPts val="105"/>
              </a:spcBef>
            </a:pPr>
            <a:endParaRPr lang="es-CO" sz="2000" dirty="0">
              <a:latin typeface="Consolas" panose="020B0609020204030204" pitchFamily="49" charset="0"/>
              <a:cs typeface="Arial MT"/>
            </a:endParaRPr>
          </a:p>
          <a:p>
            <a:pPr marL="12700" marR="509905" algn="just">
              <a:lnSpc>
                <a:spcPct val="100000"/>
              </a:lnSpc>
              <a:spcBef>
                <a:spcPts val="105"/>
              </a:spcBef>
            </a:pPr>
            <a:r>
              <a:rPr lang="es-CO" sz="2000" dirty="0">
                <a:latin typeface="Consolas" panose="020B0609020204030204" pitchFamily="49" charset="0"/>
                <a:cs typeface="Arial MT"/>
              </a:rPr>
              <a:t>El propósito de la recompensa es indicar a nuestro agente lo bien que se ha comportado.</a:t>
            </a:r>
            <a:endParaRPr lang="es-CO" sz="2000" spc="-70" dirty="0">
              <a:latin typeface="Consolas" panose="020B0609020204030204" pitchFamily="49" charset="0"/>
              <a:cs typeface="Arial MT"/>
            </a:endParaRPr>
          </a:p>
        </p:txBody>
      </p:sp>
      <p:sp>
        <p:nvSpPr>
          <p:cNvPr id="3" name="TextBox 2">
            <a:extLst>
              <a:ext uri="{FF2B5EF4-FFF2-40B4-BE49-F238E27FC236}">
                <a16:creationId xmlns:a16="http://schemas.microsoft.com/office/drawing/2014/main" id="{1701DDCC-3D8F-2404-EC61-605E0CD6D44D}"/>
              </a:ext>
            </a:extLst>
          </p:cNvPr>
          <p:cNvSpPr txBox="1"/>
          <p:nvPr/>
        </p:nvSpPr>
        <p:spPr>
          <a:xfrm>
            <a:off x="5540189" y="5371894"/>
            <a:ext cx="6098240" cy="1200329"/>
          </a:xfrm>
          <a:prstGeom prst="rect">
            <a:avLst/>
          </a:prstGeom>
          <a:noFill/>
        </p:spPr>
        <p:txBody>
          <a:bodyPr wrap="square">
            <a:spAutoFit/>
          </a:bodyPr>
          <a:lstStyle/>
          <a:p>
            <a:r>
              <a:rPr lang="es-CO" i="1" dirty="0">
                <a:latin typeface="Consolas" panose="020B0609020204030204" pitchFamily="49" charset="0"/>
              </a:rPr>
              <a:t>La recompensa es local, lo que significa que refleja el éxito de la actividad reciente del agente y no todos los éxitos logrados por el agente hasta el momento. </a:t>
            </a:r>
          </a:p>
        </p:txBody>
      </p:sp>
      <p:pic>
        <p:nvPicPr>
          <p:cNvPr id="6" name="object 4">
            <a:extLst>
              <a:ext uri="{FF2B5EF4-FFF2-40B4-BE49-F238E27FC236}">
                <a16:creationId xmlns:a16="http://schemas.microsoft.com/office/drawing/2014/main" id="{A3AB0C00-7CD4-4161-0CE7-622287A15B9F}"/>
              </a:ext>
            </a:extLst>
          </p:cNvPr>
          <p:cNvPicPr/>
          <p:nvPr/>
        </p:nvPicPr>
        <p:blipFill>
          <a:blip r:embed="rId3" cstate="print"/>
          <a:stretch>
            <a:fillRect/>
          </a:stretch>
        </p:blipFill>
        <p:spPr>
          <a:xfrm>
            <a:off x="6285623" y="2636731"/>
            <a:ext cx="4302135" cy="1787352"/>
          </a:xfrm>
          <a:prstGeom prst="rect">
            <a:avLst/>
          </a:prstGeom>
        </p:spPr>
      </p:pic>
    </p:spTree>
    <p:extLst>
      <p:ext uri="{BB962C8B-B14F-4D97-AF65-F5344CB8AC3E}">
        <p14:creationId xmlns:p14="http://schemas.microsoft.com/office/powerpoint/2010/main" val="8737340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8B759-EB7C-9116-05AF-FEC58116142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55FAA0EE-7846-5FB6-3BF8-E3C6C3D715C2}"/>
              </a:ext>
            </a:extLst>
          </p:cNvPr>
          <p:cNvSpPr txBox="1">
            <a:spLocks/>
          </p:cNvSpPr>
          <p:nvPr/>
        </p:nvSpPr>
        <p:spPr>
          <a:xfrm>
            <a:off x="745435" y="370301"/>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Fundamentos del RL</a:t>
            </a:r>
          </a:p>
          <a:p>
            <a:endParaRPr lang="es-MX" sz="3200" dirty="0">
              <a:solidFill>
                <a:srgbClr val="0070C0"/>
              </a:solidFill>
              <a:latin typeface="Consolas" panose="020B0609020204030204" pitchFamily="49" charset="0"/>
              <a:cs typeface="Arial"/>
            </a:endParaRPr>
          </a:p>
        </p:txBody>
      </p:sp>
      <p:sp>
        <p:nvSpPr>
          <p:cNvPr id="5" name="TextBox 4">
            <a:extLst>
              <a:ext uri="{FF2B5EF4-FFF2-40B4-BE49-F238E27FC236}">
                <a16:creationId xmlns:a16="http://schemas.microsoft.com/office/drawing/2014/main" id="{337BCCC8-C9A4-28C5-4D14-10E7A0783711}"/>
              </a:ext>
            </a:extLst>
          </p:cNvPr>
          <p:cNvSpPr txBox="1"/>
          <p:nvPr/>
        </p:nvSpPr>
        <p:spPr>
          <a:xfrm>
            <a:off x="745436" y="1486106"/>
            <a:ext cx="10701129" cy="4760278"/>
          </a:xfrm>
          <a:prstGeom prst="rect">
            <a:avLst/>
          </a:prstGeom>
          <a:noFill/>
        </p:spPr>
        <p:txBody>
          <a:bodyPr wrap="square">
            <a:spAutoFit/>
          </a:bodyPr>
          <a:lstStyle/>
          <a:p>
            <a:pPr marL="12700" marR="509905" algn="just">
              <a:lnSpc>
                <a:spcPct val="100000"/>
              </a:lnSpc>
              <a:spcBef>
                <a:spcPts val="105"/>
              </a:spcBef>
            </a:pPr>
            <a:r>
              <a:rPr lang="es-CO" sz="2000" b="1" dirty="0">
                <a:latin typeface="Consolas" panose="020B0609020204030204" pitchFamily="49" charset="0"/>
                <a:cs typeface="Arial MT"/>
              </a:rPr>
              <a:t>Operaciones financieras</a:t>
            </a:r>
            <a:r>
              <a:rPr lang="es-CO" sz="2000" dirty="0">
                <a:latin typeface="Consolas" panose="020B0609020204030204" pitchFamily="49" charset="0"/>
                <a:cs typeface="Arial MT"/>
              </a:rPr>
              <a:t>: una cantidad de ganancias es una recompensa para un operador que compra y vende acciones. </a:t>
            </a: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r>
              <a:rPr lang="es-CO" sz="2000" b="1" spc="-70" dirty="0">
                <a:latin typeface="Consolas" panose="020B0609020204030204" pitchFamily="49" charset="0"/>
                <a:cs typeface="Arial MT"/>
              </a:rPr>
              <a:t>Sistema de dopamina en el cerebro: </a:t>
            </a:r>
            <a:r>
              <a:rPr lang="es-CO" sz="2000" spc="-70" dirty="0">
                <a:latin typeface="Consolas" panose="020B0609020204030204" pitchFamily="49" charset="0"/>
                <a:cs typeface="Arial MT"/>
              </a:rPr>
              <a:t>Hay una parte del cerebro (sistema límbico) que produce dopamina cada vez que necesita enviar una señal positiva al resto del cerebro. Las concentraciones más altas de dopamina provocan una sensación  de placer, lo que refuerza las actividades que este sistema considera buenas.</a:t>
            </a:r>
          </a:p>
          <a:p>
            <a:pPr marL="12700" marR="509905" algn="just">
              <a:lnSpc>
                <a:spcPct val="100000"/>
              </a:lnSpc>
              <a:spcBef>
                <a:spcPts val="105"/>
              </a:spcBef>
            </a:pPr>
            <a:endParaRPr lang="es-CO" sz="2000" spc="-70" dirty="0">
              <a:latin typeface="Consolas" panose="020B0609020204030204" pitchFamily="49" charset="0"/>
              <a:cs typeface="Arial MT"/>
            </a:endParaRPr>
          </a:p>
          <a:p>
            <a:pPr marL="12700" marR="509905" algn="just">
              <a:lnSpc>
                <a:spcPct val="100000"/>
              </a:lnSpc>
              <a:spcBef>
                <a:spcPts val="105"/>
              </a:spcBef>
            </a:pPr>
            <a:r>
              <a:rPr lang="es-CO" sz="2000" b="1" spc="-70" dirty="0">
                <a:latin typeface="Consolas" panose="020B0609020204030204" pitchFamily="49" charset="0"/>
                <a:cs typeface="Arial MT"/>
              </a:rPr>
              <a:t>Juegos de PC</a:t>
            </a:r>
            <a:r>
              <a:rPr lang="es-CO" sz="2000" spc="-70" dirty="0">
                <a:latin typeface="Consolas" panose="020B0609020204030204" pitchFamily="49" charset="0"/>
                <a:cs typeface="Arial MT"/>
              </a:rPr>
              <a:t>: suelen proporcionar una retroalimentación evidente al jugador, que puede ser el número de enemigos eliminados o la puntuación obtenida. En estos casos la recompensa ya está acumulada, por lo que la recompensa RL para los juegos arcade debería ser la derivada de la puntuación, es decir, +1 cada vez que se elimina a un nuevo enemigo y 0 en todos los demás intervalos de tiempo.</a:t>
            </a:r>
          </a:p>
        </p:txBody>
      </p:sp>
    </p:spTree>
    <p:extLst>
      <p:ext uri="{BB962C8B-B14F-4D97-AF65-F5344CB8AC3E}">
        <p14:creationId xmlns:p14="http://schemas.microsoft.com/office/powerpoint/2010/main" val="215054750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281046-8AC8-226F-969B-75CF296649E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42EE780-59A1-2A0E-4965-E1403F210236}"/>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Fundamentos del RL</a:t>
            </a:r>
          </a:p>
          <a:p>
            <a:endParaRPr lang="es-MX" sz="3200" dirty="0">
              <a:solidFill>
                <a:srgbClr val="0070C0"/>
              </a:solidFill>
              <a:latin typeface="Consolas" panose="020B0609020204030204" pitchFamily="49" charset="0"/>
              <a:cs typeface="Arial"/>
            </a:endParaRPr>
          </a:p>
        </p:txBody>
      </p:sp>
      <p:sp>
        <p:nvSpPr>
          <p:cNvPr id="3" name="TextBox 2">
            <a:extLst>
              <a:ext uri="{FF2B5EF4-FFF2-40B4-BE49-F238E27FC236}">
                <a16:creationId xmlns:a16="http://schemas.microsoft.com/office/drawing/2014/main" id="{045A90EE-DD1C-5CC0-16FE-F14897285E05}"/>
              </a:ext>
            </a:extLst>
          </p:cNvPr>
          <p:cNvSpPr txBox="1"/>
          <p:nvPr/>
        </p:nvSpPr>
        <p:spPr>
          <a:xfrm>
            <a:off x="745435" y="1270953"/>
            <a:ext cx="10469412" cy="5324535"/>
          </a:xfrm>
          <a:prstGeom prst="rect">
            <a:avLst/>
          </a:prstGeom>
          <a:noFill/>
        </p:spPr>
        <p:txBody>
          <a:bodyPr wrap="square">
            <a:spAutoFit/>
          </a:bodyPr>
          <a:lstStyle/>
          <a:p>
            <a:pPr algn="just"/>
            <a:r>
              <a:rPr lang="es-CO" sz="2000" b="1" dirty="0">
                <a:latin typeface="Consolas" panose="020B0609020204030204" pitchFamily="49" charset="0"/>
              </a:rPr>
              <a:t>AGENTS</a:t>
            </a:r>
          </a:p>
          <a:p>
            <a:pPr algn="just"/>
            <a:r>
              <a:rPr lang="es-CO" sz="2000" dirty="0">
                <a:latin typeface="Consolas" panose="020B0609020204030204" pitchFamily="49" charset="0"/>
              </a:rPr>
              <a:t>Un agente es alguien o algo que </a:t>
            </a:r>
            <a:r>
              <a:rPr lang="es-CO" sz="2000" b="1" dirty="0">
                <a:latin typeface="Consolas" panose="020B0609020204030204" pitchFamily="49" charset="0"/>
              </a:rPr>
              <a:t>interactúa con el entorno</a:t>
            </a:r>
            <a:r>
              <a:rPr lang="es-CO" sz="2000" dirty="0">
                <a:latin typeface="Consolas" panose="020B0609020204030204" pitchFamily="49" charset="0"/>
              </a:rPr>
              <a:t> ejecutando determinadas acciones, realizando observaciones y recibiendo recompensas por ello. En la mayoría de los escenarios prácticos de RL, el agente es nuestro software, que se supone que debe resolver algún problema de una manera más o menos eficiente.</a:t>
            </a:r>
          </a:p>
          <a:p>
            <a:pPr algn="just"/>
            <a:endParaRPr lang="es-CO" sz="2000" dirty="0">
              <a:latin typeface="Consolas" panose="020B0609020204030204" pitchFamily="49" charset="0"/>
            </a:endParaRPr>
          </a:p>
          <a:p>
            <a:pPr algn="just"/>
            <a:r>
              <a:rPr lang="es-CO" sz="2000" b="1" dirty="0">
                <a:latin typeface="Consolas" panose="020B0609020204030204" pitchFamily="49" charset="0"/>
              </a:rPr>
              <a:t>Operaciones financieras</a:t>
            </a:r>
            <a:r>
              <a:rPr lang="es-CO" sz="2000" dirty="0">
                <a:latin typeface="Consolas" panose="020B0609020204030204" pitchFamily="49" charset="0"/>
              </a:rPr>
              <a:t>: un sistema de operaciones o un operador que toma decisiones sobre la ejecución de órdenes. </a:t>
            </a:r>
          </a:p>
          <a:p>
            <a:pPr algn="just"/>
            <a:endParaRPr lang="es-CO" sz="2000" dirty="0">
              <a:latin typeface="Consolas" panose="020B0609020204030204" pitchFamily="49" charset="0"/>
            </a:endParaRPr>
          </a:p>
          <a:p>
            <a:pPr algn="just"/>
            <a:r>
              <a:rPr lang="es-CO" sz="2000" b="1" dirty="0">
                <a:latin typeface="Consolas" panose="020B0609020204030204" pitchFamily="49" charset="0"/>
              </a:rPr>
              <a:t>Ajedrez</a:t>
            </a:r>
            <a:r>
              <a:rPr lang="es-CO" sz="2000" dirty="0">
                <a:latin typeface="Consolas" panose="020B0609020204030204" pitchFamily="49" charset="0"/>
              </a:rPr>
              <a:t>: un jugador o un programa informático. </a:t>
            </a:r>
          </a:p>
          <a:p>
            <a:pPr algn="just"/>
            <a:endParaRPr lang="es-CO" sz="2000" dirty="0">
              <a:latin typeface="Consolas" panose="020B0609020204030204" pitchFamily="49" charset="0"/>
            </a:endParaRPr>
          </a:p>
          <a:p>
            <a:pPr algn="just"/>
            <a:r>
              <a:rPr lang="es-CO" sz="2000" b="1" dirty="0">
                <a:latin typeface="Consolas" panose="020B0609020204030204" pitchFamily="49" charset="0"/>
              </a:rPr>
              <a:t>Sistema de dopamina</a:t>
            </a:r>
            <a:r>
              <a:rPr lang="es-CO" sz="2000" dirty="0">
                <a:latin typeface="Consolas" panose="020B0609020204030204" pitchFamily="49" charset="0"/>
              </a:rPr>
              <a:t>: el propio cerebro, que, según los datos sensoriales, decide si ha sido una buena experiencia. </a:t>
            </a:r>
          </a:p>
          <a:p>
            <a:pPr algn="just"/>
            <a:endParaRPr lang="es-CO" sz="2000" dirty="0">
              <a:latin typeface="Consolas" panose="020B0609020204030204" pitchFamily="49" charset="0"/>
            </a:endParaRPr>
          </a:p>
          <a:p>
            <a:pPr algn="just"/>
            <a:r>
              <a:rPr lang="es-CO" sz="2000" b="1" dirty="0">
                <a:latin typeface="Consolas" panose="020B0609020204030204" pitchFamily="49" charset="0"/>
              </a:rPr>
              <a:t>Juegos de ordenador</a:t>
            </a:r>
            <a:r>
              <a:rPr lang="es-CO" sz="2000" dirty="0">
                <a:latin typeface="Consolas" panose="020B0609020204030204" pitchFamily="49" charset="0"/>
              </a:rPr>
              <a:t>: el jugador que disfruta del juego o el programa informático.</a:t>
            </a:r>
          </a:p>
        </p:txBody>
      </p:sp>
    </p:spTree>
    <p:extLst>
      <p:ext uri="{BB962C8B-B14F-4D97-AF65-F5344CB8AC3E}">
        <p14:creationId xmlns:p14="http://schemas.microsoft.com/office/powerpoint/2010/main" val="27992137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27FC2-8405-93AD-C46F-FC803C5F06D5}"/>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CBF55B74-CB61-6208-8A60-D16AF3E2EA72}"/>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Fundamentos del RL</a:t>
            </a:r>
          </a:p>
          <a:p>
            <a:endParaRPr lang="es-MX" sz="3200" dirty="0">
              <a:solidFill>
                <a:srgbClr val="0070C0"/>
              </a:solidFill>
              <a:latin typeface="Consolas" panose="020B0609020204030204" pitchFamily="49" charset="0"/>
              <a:cs typeface="Arial"/>
            </a:endParaRPr>
          </a:p>
        </p:txBody>
      </p:sp>
      <p:sp>
        <p:nvSpPr>
          <p:cNvPr id="3" name="TextBox 2">
            <a:extLst>
              <a:ext uri="{FF2B5EF4-FFF2-40B4-BE49-F238E27FC236}">
                <a16:creationId xmlns:a16="http://schemas.microsoft.com/office/drawing/2014/main" id="{2F28D005-49D4-51A2-015F-77E94A0519B3}"/>
              </a:ext>
            </a:extLst>
          </p:cNvPr>
          <p:cNvSpPr txBox="1"/>
          <p:nvPr/>
        </p:nvSpPr>
        <p:spPr>
          <a:xfrm>
            <a:off x="745435" y="1270953"/>
            <a:ext cx="4028271" cy="4708981"/>
          </a:xfrm>
          <a:prstGeom prst="rect">
            <a:avLst/>
          </a:prstGeom>
          <a:noFill/>
        </p:spPr>
        <p:txBody>
          <a:bodyPr wrap="square">
            <a:spAutoFit/>
          </a:bodyPr>
          <a:lstStyle/>
          <a:p>
            <a:pPr algn="just"/>
            <a:r>
              <a:rPr lang="es-CO" sz="2000" b="1" dirty="0">
                <a:latin typeface="Consolas" panose="020B0609020204030204" pitchFamily="49" charset="0"/>
              </a:rPr>
              <a:t>ENVIRONMENT</a:t>
            </a:r>
          </a:p>
          <a:p>
            <a:pPr algn="just"/>
            <a:r>
              <a:rPr lang="es-CO" sz="2000" dirty="0">
                <a:latin typeface="Consolas" panose="020B0609020204030204" pitchFamily="49" charset="0"/>
              </a:rPr>
              <a:t>El entorno es todo lo que hay fuera de un agente. En el sentido más general, es el resto del universo</a:t>
            </a:r>
          </a:p>
          <a:p>
            <a:pPr algn="just"/>
            <a:r>
              <a:rPr lang="es-CO" sz="2000" dirty="0">
                <a:latin typeface="Consolas" panose="020B0609020204030204" pitchFamily="49" charset="0"/>
              </a:rPr>
              <a:t>La comunicación del agente con el entorno se limita a la recompensa (obtenida del entorno), las acciones (ejecutadas por el agente y dadas al entorno) y las observaciones (alguna información además de la recompensa que el agente recibe del entorno). </a:t>
            </a:r>
          </a:p>
        </p:txBody>
      </p:sp>
      <p:sp>
        <p:nvSpPr>
          <p:cNvPr id="2" name="TextBox 1">
            <a:extLst>
              <a:ext uri="{FF2B5EF4-FFF2-40B4-BE49-F238E27FC236}">
                <a16:creationId xmlns:a16="http://schemas.microsoft.com/office/drawing/2014/main" id="{A581A191-2024-027B-E5D8-20A6931EA83C}"/>
              </a:ext>
            </a:extLst>
          </p:cNvPr>
          <p:cNvSpPr txBox="1"/>
          <p:nvPr/>
        </p:nvSpPr>
        <p:spPr>
          <a:xfrm>
            <a:off x="7418294" y="1170251"/>
            <a:ext cx="4028271" cy="2554545"/>
          </a:xfrm>
          <a:prstGeom prst="rect">
            <a:avLst/>
          </a:prstGeom>
          <a:noFill/>
        </p:spPr>
        <p:txBody>
          <a:bodyPr wrap="square">
            <a:spAutoFit/>
          </a:bodyPr>
          <a:lstStyle/>
          <a:p>
            <a:pPr algn="just"/>
            <a:r>
              <a:rPr lang="es-CO" sz="2000" b="1" dirty="0">
                <a:latin typeface="Consolas" panose="020B0609020204030204" pitchFamily="49" charset="0"/>
              </a:rPr>
              <a:t>ACTIONS</a:t>
            </a:r>
          </a:p>
          <a:p>
            <a:pPr algn="just"/>
            <a:r>
              <a:rPr lang="es-CO" sz="2000" dirty="0">
                <a:latin typeface="Consolas" panose="020B0609020204030204" pitchFamily="49" charset="0"/>
              </a:rPr>
              <a:t>son cosas que un agente puede hacer en el entorno. Las acciones pueden ser, por ejemplo, movimientos permitidos por las reglas del juego (si se trata de un juego)</a:t>
            </a:r>
          </a:p>
        </p:txBody>
      </p:sp>
      <p:sp>
        <p:nvSpPr>
          <p:cNvPr id="5" name="Arrow: Right 4">
            <a:extLst>
              <a:ext uri="{FF2B5EF4-FFF2-40B4-BE49-F238E27FC236}">
                <a16:creationId xmlns:a16="http://schemas.microsoft.com/office/drawing/2014/main" id="{D12458DF-1BE4-C68A-EBB9-2BE1E48B603F}"/>
              </a:ext>
            </a:extLst>
          </p:cNvPr>
          <p:cNvSpPr/>
          <p:nvPr/>
        </p:nvSpPr>
        <p:spPr>
          <a:xfrm rot="9930384">
            <a:off x="4916029" y="2150904"/>
            <a:ext cx="2359945" cy="8630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6" name="Arrow: Right 5">
            <a:extLst>
              <a:ext uri="{FF2B5EF4-FFF2-40B4-BE49-F238E27FC236}">
                <a16:creationId xmlns:a16="http://schemas.microsoft.com/office/drawing/2014/main" id="{51D35581-E5C3-45BF-85EA-51AE01EA6283}"/>
              </a:ext>
            </a:extLst>
          </p:cNvPr>
          <p:cNvSpPr/>
          <p:nvPr/>
        </p:nvSpPr>
        <p:spPr>
          <a:xfrm rot="976646">
            <a:off x="4916028" y="4274210"/>
            <a:ext cx="2359945" cy="86301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8" name="TextBox 7">
            <a:extLst>
              <a:ext uri="{FF2B5EF4-FFF2-40B4-BE49-F238E27FC236}">
                <a16:creationId xmlns:a16="http://schemas.microsoft.com/office/drawing/2014/main" id="{B840D916-7EC1-41D3-AA53-5E30F77D1020}"/>
              </a:ext>
            </a:extLst>
          </p:cNvPr>
          <p:cNvSpPr txBox="1"/>
          <p:nvPr/>
        </p:nvSpPr>
        <p:spPr>
          <a:xfrm>
            <a:off x="7418294" y="4502606"/>
            <a:ext cx="4240306" cy="1938992"/>
          </a:xfrm>
          <a:prstGeom prst="rect">
            <a:avLst/>
          </a:prstGeom>
          <a:noFill/>
        </p:spPr>
        <p:txBody>
          <a:bodyPr wrap="square">
            <a:spAutoFit/>
          </a:bodyPr>
          <a:lstStyle/>
          <a:p>
            <a:r>
              <a:rPr lang="es-CO" sz="2000" b="1" dirty="0">
                <a:latin typeface="Consolas" panose="020B0609020204030204" pitchFamily="49" charset="0"/>
              </a:rPr>
              <a:t>OBSERVATIONS</a:t>
            </a:r>
            <a:br>
              <a:rPr lang="es-CO" sz="2000" dirty="0">
                <a:latin typeface="Consolas" panose="020B0609020204030204" pitchFamily="49" charset="0"/>
              </a:rPr>
            </a:br>
            <a:r>
              <a:rPr lang="es-CO" sz="2000" dirty="0">
                <a:latin typeface="Consolas" panose="020B0609020204030204" pitchFamily="49" charset="0"/>
              </a:rPr>
              <a:t>Las observaciones son datos que el entorno proporciona al agente y que le indican lo que está sucediendo a su alrededor. </a:t>
            </a:r>
          </a:p>
        </p:txBody>
      </p:sp>
    </p:spTree>
    <p:extLst>
      <p:ext uri="{BB962C8B-B14F-4D97-AF65-F5344CB8AC3E}">
        <p14:creationId xmlns:p14="http://schemas.microsoft.com/office/powerpoint/2010/main" val="383333083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A29DC-7FBC-A0A3-A0FA-9E82F26DD747}"/>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0459FBE-1DBF-D5C4-92EA-BF4864E75639}"/>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Fundamentos del RL</a:t>
            </a:r>
          </a:p>
          <a:p>
            <a:endParaRPr lang="es-MX" sz="3200" dirty="0">
              <a:solidFill>
                <a:srgbClr val="0070C0"/>
              </a:solidFill>
              <a:latin typeface="Consolas" panose="020B0609020204030204" pitchFamily="49" charset="0"/>
              <a:cs typeface="Arial"/>
            </a:endParaRPr>
          </a:p>
        </p:txBody>
      </p:sp>
      <p:pic>
        <p:nvPicPr>
          <p:cNvPr id="5" name="Picture 4">
            <a:extLst>
              <a:ext uri="{FF2B5EF4-FFF2-40B4-BE49-F238E27FC236}">
                <a16:creationId xmlns:a16="http://schemas.microsoft.com/office/drawing/2014/main" id="{521DD609-D51D-2B4D-3231-05D2F7F752D4}"/>
              </a:ext>
            </a:extLst>
          </p:cNvPr>
          <p:cNvPicPr>
            <a:picLocks noChangeAspect="1"/>
          </p:cNvPicPr>
          <p:nvPr/>
        </p:nvPicPr>
        <p:blipFill>
          <a:blip r:embed="rId3"/>
          <a:stretch>
            <a:fillRect/>
          </a:stretch>
        </p:blipFill>
        <p:spPr>
          <a:xfrm>
            <a:off x="2835281" y="2806043"/>
            <a:ext cx="6007232" cy="3721995"/>
          </a:xfrm>
          <a:prstGeom prst="rect">
            <a:avLst/>
          </a:prstGeom>
        </p:spPr>
      </p:pic>
      <p:sp>
        <p:nvSpPr>
          <p:cNvPr id="7" name="TextBox 6">
            <a:extLst>
              <a:ext uri="{FF2B5EF4-FFF2-40B4-BE49-F238E27FC236}">
                <a16:creationId xmlns:a16="http://schemas.microsoft.com/office/drawing/2014/main" id="{7371A8E1-54DA-AF24-79FD-D1045F1A467D}"/>
              </a:ext>
            </a:extLst>
          </p:cNvPr>
          <p:cNvSpPr txBox="1"/>
          <p:nvPr/>
        </p:nvSpPr>
        <p:spPr>
          <a:xfrm>
            <a:off x="745435" y="1362026"/>
            <a:ext cx="11034188" cy="1323439"/>
          </a:xfrm>
          <a:prstGeom prst="rect">
            <a:avLst/>
          </a:prstGeom>
          <a:noFill/>
        </p:spPr>
        <p:txBody>
          <a:bodyPr wrap="square">
            <a:spAutoFit/>
          </a:bodyPr>
          <a:lstStyle/>
          <a:p>
            <a:r>
              <a:rPr lang="es-CO" sz="2000" dirty="0">
                <a:latin typeface="Consolas" panose="020B0609020204030204" pitchFamily="49" charset="0"/>
              </a:rPr>
              <a:t>Hay muchas otras áreas que contribuyen o se relacionan con el RL. Las más significativas se muestran en el siguiente diagrama, que incluye seis grandes dominios que se superponen en gran medida entre sí en cuanto a los métodos y temas específicos relacionados con la toma de decisiones</a:t>
            </a:r>
          </a:p>
        </p:txBody>
      </p:sp>
    </p:spTree>
    <p:extLst>
      <p:ext uri="{BB962C8B-B14F-4D97-AF65-F5344CB8AC3E}">
        <p14:creationId xmlns:p14="http://schemas.microsoft.com/office/powerpoint/2010/main" val="143640925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E57E7B-67FB-823B-CB79-701E6BB9CD3D}"/>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9A432C23-C0C4-B129-FF3E-A13544405B16}"/>
              </a:ext>
            </a:extLst>
          </p:cNvPr>
          <p:cNvSpPr>
            <a:spLocks noGrp="1"/>
          </p:cNvSpPr>
          <p:nvPr>
            <p:ph type="title"/>
          </p:nvPr>
        </p:nvSpPr>
        <p:spPr>
          <a:xfrm>
            <a:off x="1297022" y="3429000"/>
            <a:ext cx="8712658" cy="709747"/>
          </a:xfrm>
        </p:spPr>
        <p:txBody>
          <a:bodyPr>
            <a:normAutofit/>
          </a:bodyPr>
          <a:lstStyle/>
          <a:p>
            <a:r>
              <a:rPr lang="es-ES_tradnl" dirty="0">
                <a:solidFill>
                  <a:srgbClr val="0070C0"/>
                </a:solidFill>
                <a:latin typeface="Consolas" panose="020B0609020204030204" pitchFamily="49" charset="0"/>
              </a:rPr>
              <a:t>MARKOV DECISION PROCESSES</a:t>
            </a:r>
            <a:endParaRPr lang="es-ES_tradnl" dirty="0">
              <a:solidFill>
                <a:srgbClr val="0070C0"/>
              </a:solidFill>
            </a:endParaRPr>
          </a:p>
        </p:txBody>
      </p:sp>
    </p:spTree>
    <p:extLst>
      <p:ext uri="{BB962C8B-B14F-4D97-AF65-F5344CB8AC3E}">
        <p14:creationId xmlns:p14="http://schemas.microsoft.com/office/powerpoint/2010/main" val="304892950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0E8EEC-221D-5A53-EAF2-4C5D2893BF92}"/>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9E8CF0A-8E47-C964-4442-EBF0C4CB562A}"/>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7387858E-CAF6-38B9-763C-9E9645D376A2}"/>
              </a:ext>
            </a:extLst>
          </p:cNvPr>
          <p:cNvSpPr txBox="1"/>
          <p:nvPr/>
        </p:nvSpPr>
        <p:spPr>
          <a:xfrm>
            <a:off x="745435" y="2173367"/>
            <a:ext cx="6919389" cy="2862322"/>
          </a:xfrm>
          <a:prstGeom prst="rect">
            <a:avLst/>
          </a:prstGeom>
          <a:noFill/>
        </p:spPr>
        <p:txBody>
          <a:bodyPr wrap="square">
            <a:spAutoFit/>
          </a:bodyPr>
          <a:lstStyle/>
          <a:p>
            <a:pPr algn="just"/>
            <a:r>
              <a:rPr lang="es-CO" sz="2000" spc="-10" dirty="0">
                <a:latin typeface="Consolas" panose="020B0609020204030204" pitchFamily="49" charset="0"/>
                <a:cs typeface="Arial MT"/>
              </a:rPr>
              <a:t>Imagina que tienes ante ti un sistema que solo puedes observar. </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Lo que observas se denomina estados, y el sistema puede cambiar entre estados según ciertas leyes dinámicas.</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 Una vez más, no puedes influir en el sistema, solo observar cómo cambian los estados.</a:t>
            </a:r>
            <a:endParaRPr lang="es-CO" sz="2000" dirty="0">
              <a:latin typeface="Consolas" panose="020B0609020204030204" pitchFamily="49" charset="0"/>
            </a:endParaRPr>
          </a:p>
        </p:txBody>
      </p:sp>
    </p:spTree>
    <p:extLst>
      <p:ext uri="{BB962C8B-B14F-4D97-AF65-F5344CB8AC3E}">
        <p14:creationId xmlns:p14="http://schemas.microsoft.com/office/powerpoint/2010/main" val="232686805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A388F4-6C6C-2E63-0B47-BEC289159CD9}"/>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446F1402-C00F-E115-0912-F57C89D3DB89}"/>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38F57679-536A-F83B-1AF0-1337AE9EF44B}"/>
              </a:ext>
            </a:extLst>
          </p:cNvPr>
          <p:cNvSpPr txBox="1"/>
          <p:nvPr/>
        </p:nvSpPr>
        <p:spPr>
          <a:xfrm>
            <a:off x="745435" y="2173367"/>
            <a:ext cx="10765247" cy="2862322"/>
          </a:xfrm>
          <a:prstGeom prst="rect">
            <a:avLst/>
          </a:prstGeom>
          <a:noFill/>
        </p:spPr>
        <p:txBody>
          <a:bodyPr wrap="square">
            <a:spAutoFit/>
          </a:bodyPr>
          <a:lstStyle/>
          <a:p>
            <a:pPr algn="just"/>
            <a:r>
              <a:rPr lang="es-CO" sz="2000" spc="-10" dirty="0">
                <a:latin typeface="Consolas" panose="020B0609020204030204" pitchFamily="49" charset="0"/>
                <a:cs typeface="Arial MT"/>
              </a:rPr>
              <a:t>Sus observaciones forman una secuencia de estados o una cadena.</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Por ejemplo, si observamos el modelo más simple del tiempo en una ciudad, podemos observar que el día actual es soleado o lluvioso, lo que constituye nuestro espacio de estados.</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 Una secuencia de observaciones a lo largo del tiempo forma una cadena de estados, como </a:t>
            </a:r>
            <a:r>
              <a:rPr lang="es-CO" sz="2000" b="1" spc="-10" dirty="0">
                <a:latin typeface="Consolas" panose="020B0609020204030204" pitchFamily="49" charset="0"/>
                <a:cs typeface="Arial MT"/>
              </a:rPr>
              <a:t>[soleado, soleado, lluvioso, soleado, ...], </a:t>
            </a:r>
          </a:p>
          <a:p>
            <a:pPr algn="just"/>
            <a:r>
              <a:rPr lang="es-CO" sz="2000" spc="-10" dirty="0">
                <a:latin typeface="Consolas" panose="020B0609020204030204" pitchFamily="49" charset="0"/>
                <a:cs typeface="Arial MT"/>
              </a:rPr>
              <a:t>y esto se denomina </a:t>
            </a:r>
            <a:r>
              <a:rPr lang="es-CO" sz="2000" b="1" spc="-10" dirty="0">
                <a:latin typeface="Consolas" panose="020B0609020204030204" pitchFamily="49" charset="0"/>
                <a:cs typeface="Arial MT"/>
              </a:rPr>
              <a:t>historial</a:t>
            </a:r>
            <a:r>
              <a:rPr lang="es-CO" sz="2000" spc="-10" dirty="0">
                <a:latin typeface="Consolas" panose="020B0609020204030204" pitchFamily="49" charset="0"/>
                <a:cs typeface="Arial MT"/>
              </a:rPr>
              <a:t>.</a:t>
            </a:r>
          </a:p>
        </p:txBody>
      </p:sp>
    </p:spTree>
    <p:extLst>
      <p:ext uri="{BB962C8B-B14F-4D97-AF65-F5344CB8AC3E}">
        <p14:creationId xmlns:p14="http://schemas.microsoft.com/office/powerpoint/2010/main" val="192371731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ADCD5B-1EDA-2699-5159-B5EF087453E1}"/>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03EA11F6-D3E4-D548-4075-E0EFBB49E700}"/>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C1DEB618-4BFC-5178-3323-23796F524D00}"/>
              </a:ext>
            </a:extLst>
          </p:cNvPr>
          <p:cNvSpPr txBox="1"/>
          <p:nvPr/>
        </p:nvSpPr>
        <p:spPr>
          <a:xfrm>
            <a:off x="745435" y="2173367"/>
            <a:ext cx="10765247" cy="2862322"/>
          </a:xfrm>
          <a:prstGeom prst="rect">
            <a:avLst/>
          </a:prstGeom>
          <a:noFill/>
        </p:spPr>
        <p:txBody>
          <a:bodyPr wrap="square">
            <a:spAutoFit/>
          </a:bodyPr>
          <a:lstStyle/>
          <a:p>
            <a:pPr algn="just"/>
            <a:r>
              <a:rPr lang="es-CO" sz="2000" spc="-10" dirty="0">
                <a:latin typeface="Consolas" panose="020B0609020204030204" pitchFamily="49" charset="0"/>
                <a:cs typeface="Arial MT"/>
              </a:rPr>
              <a:t>Para que un sistema de este tipo se denomine MP, debe cumplir la propiedad de </a:t>
            </a:r>
            <a:r>
              <a:rPr lang="es-CO" sz="2000" spc="-10" dirty="0" err="1">
                <a:latin typeface="Consolas" panose="020B0609020204030204" pitchFamily="49" charset="0"/>
                <a:cs typeface="Arial MT"/>
              </a:rPr>
              <a:t>Markov</a:t>
            </a:r>
            <a:r>
              <a:rPr lang="es-CO" sz="2000" spc="-10" dirty="0">
                <a:latin typeface="Consolas" panose="020B0609020204030204" pitchFamily="49" charset="0"/>
                <a:cs typeface="Arial MT"/>
              </a:rPr>
              <a:t>, lo que significa que la dinámica futura del sistema desde cualquier estado debe depender únicamente de ese estado.</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 El objetivo principal de la propiedad de </a:t>
            </a:r>
            <a:r>
              <a:rPr lang="es-CO" sz="2000" spc="-10" dirty="0" err="1">
                <a:latin typeface="Consolas" panose="020B0609020204030204" pitchFamily="49" charset="0"/>
                <a:cs typeface="Arial MT"/>
              </a:rPr>
              <a:t>Markov</a:t>
            </a:r>
            <a:r>
              <a:rPr lang="es-CO" sz="2000" spc="-10" dirty="0">
                <a:latin typeface="Consolas" panose="020B0609020204030204" pitchFamily="49" charset="0"/>
                <a:cs typeface="Arial MT"/>
              </a:rPr>
              <a:t> es hacer que cada estado observable sea autónomo para describir el futuro del sistema. </a:t>
            </a: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En otras palabras, la propiedad de </a:t>
            </a:r>
            <a:r>
              <a:rPr lang="es-CO" sz="2000" spc="-10" dirty="0" err="1">
                <a:latin typeface="Consolas" panose="020B0609020204030204" pitchFamily="49" charset="0"/>
                <a:cs typeface="Arial MT"/>
              </a:rPr>
              <a:t>Markov</a:t>
            </a:r>
            <a:r>
              <a:rPr lang="es-CO" sz="2000" spc="-10" dirty="0">
                <a:latin typeface="Consolas" panose="020B0609020204030204" pitchFamily="49" charset="0"/>
                <a:cs typeface="Arial MT"/>
              </a:rPr>
              <a:t> requiere que los estados del sistema sean distinguibles entre si y </a:t>
            </a:r>
            <a:r>
              <a:rPr lang="es-CO" sz="2000" spc="-10" dirty="0" err="1">
                <a:latin typeface="Consolas" panose="020B0609020204030204" pitchFamily="49" charset="0"/>
                <a:cs typeface="Arial MT"/>
              </a:rPr>
              <a:t>unicos</a:t>
            </a:r>
            <a:endParaRPr lang="es-CO" sz="2000" spc="-10" dirty="0">
              <a:latin typeface="Consolas" panose="020B0609020204030204" pitchFamily="49" charset="0"/>
              <a:cs typeface="Arial MT"/>
            </a:endParaRPr>
          </a:p>
        </p:txBody>
      </p:sp>
    </p:spTree>
    <p:extLst>
      <p:ext uri="{BB962C8B-B14F-4D97-AF65-F5344CB8AC3E}">
        <p14:creationId xmlns:p14="http://schemas.microsoft.com/office/powerpoint/2010/main" val="6548478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81837D-7295-2055-FCC6-F96B8FF3C063}"/>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32362148-F5F9-0493-2A20-BB15B0EB7741}"/>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7CC1B196-4A4F-B622-D272-2D404F603A2E}"/>
              </a:ext>
            </a:extLst>
          </p:cNvPr>
          <p:cNvSpPr txBox="1"/>
          <p:nvPr/>
        </p:nvSpPr>
        <p:spPr>
          <a:xfrm>
            <a:off x="745435" y="2173367"/>
            <a:ext cx="10765247" cy="1631216"/>
          </a:xfrm>
          <a:prstGeom prst="rect">
            <a:avLst/>
          </a:prstGeom>
          <a:noFill/>
        </p:spPr>
        <p:txBody>
          <a:bodyPr wrap="square">
            <a:spAutoFit/>
          </a:bodyPr>
          <a:lstStyle/>
          <a:p>
            <a:pPr algn="just"/>
            <a:r>
              <a:rPr lang="es-CO" sz="2000" spc="-10" dirty="0">
                <a:latin typeface="Consolas" panose="020B0609020204030204" pitchFamily="49" charset="0"/>
                <a:cs typeface="Arial MT"/>
              </a:rPr>
              <a:t>Si queremos que nuestro modelo sea más complejo, siempre podemos hacerlo ampliando nuestro espacio de estados, lo que nos permitirá capturar más dependencias en el modelo a costa de un espacio de estados más grande.</a:t>
            </a:r>
          </a:p>
          <a:p>
            <a:pPr algn="just"/>
            <a:endParaRPr lang="es-CO" sz="2000" spc="-10" dirty="0">
              <a:latin typeface="Consolas" panose="020B0609020204030204" pitchFamily="49" charset="0"/>
              <a:cs typeface="Arial MT"/>
            </a:endParaRPr>
          </a:p>
          <a:p>
            <a:pPr algn="just"/>
            <a:r>
              <a:rPr lang="es-CO" sz="2000" b="1" spc="-10" dirty="0">
                <a:latin typeface="Consolas" panose="020B0609020204030204" pitchFamily="49" charset="0"/>
                <a:cs typeface="Arial MT"/>
              </a:rPr>
              <a:t>[</a:t>
            </a:r>
            <a:r>
              <a:rPr lang="es-CO" sz="2000" b="1" spc="-10" dirty="0" err="1">
                <a:latin typeface="Consolas" panose="020B0609020204030204" pitchFamily="49" charset="0"/>
                <a:cs typeface="Arial MT"/>
              </a:rPr>
              <a:t>soleado+verano</a:t>
            </a:r>
            <a:r>
              <a:rPr lang="es-CO" sz="2000" b="1" spc="-10" dirty="0">
                <a:latin typeface="Consolas" panose="020B0609020204030204" pitchFamily="49" charset="0"/>
                <a:cs typeface="Arial MT"/>
              </a:rPr>
              <a:t>, </a:t>
            </a:r>
            <a:r>
              <a:rPr lang="es-CO" sz="2000" b="1" spc="-10" dirty="0" err="1">
                <a:latin typeface="Consolas" panose="020B0609020204030204" pitchFamily="49" charset="0"/>
                <a:cs typeface="Arial MT"/>
              </a:rPr>
              <a:t>soleado+invierno</a:t>
            </a:r>
            <a:r>
              <a:rPr lang="es-CO" sz="2000" b="1" spc="-10" dirty="0">
                <a:latin typeface="Consolas" panose="020B0609020204030204" pitchFamily="49" charset="0"/>
                <a:cs typeface="Arial MT"/>
              </a:rPr>
              <a:t>, </a:t>
            </a:r>
            <a:r>
              <a:rPr lang="es-CO" sz="2000" b="1" spc="-10" dirty="0" err="1">
                <a:latin typeface="Consolas" panose="020B0609020204030204" pitchFamily="49" charset="0"/>
                <a:cs typeface="Arial MT"/>
              </a:rPr>
              <a:t>lluvioso+verano</a:t>
            </a:r>
            <a:r>
              <a:rPr lang="es-CO" sz="2000" b="1" spc="-10" dirty="0">
                <a:latin typeface="Consolas" panose="020B0609020204030204" pitchFamily="49" charset="0"/>
                <a:cs typeface="Arial MT"/>
              </a:rPr>
              <a:t>, </a:t>
            </a:r>
            <a:r>
              <a:rPr lang="es-CO" sz="2000" b="1" spc="-10" dirty="0" err="1">
                <a:latin typeface="Consolas" panose="020B0609020204030204" pitchFamily="49" charset="0"/>
                <a:cs typeface="Arial MT"/>
              </a:rPr>
              <a:t>lluvioso+invierno</a:t>
            </a:r>
            <a:r>
              <a:rPr lang="es-CO" sz="2000" b="1" spc="-10" dirty="0">
                <a:latin typeface="Consolas" panose="020B0609020204030204" pitchFamily="49" charset="0"/>
                <a:cs typeface="Arial MT"/>
              </a:rPr>
              <a:t>] </a:t>
            </a:r>
          </a:p>
        </p:txBody>
      </p:sp>
      <p:pic>
        <p:nvPicPr>
          <p:cNvPr id="3" name="Picture 2">
            <a:extLst>
              <a:ext uri="{FF2B5EF4-FFF2-40B4-BE49-F238E27FC236}">
                <a16:creationId xmlns:a16="http://schemas.microsoft.com/office/drawing/2014/main" id="{B4621F5A-7A72-E502-B623-EA61B9F10E71}"/>
              </a:ext>
            </a:extLst>
          </p:cNvPr>
          <p:cNvPicPr>
            <a:picLocks noChangeAspect="1"/>
          </p:cNvPicPr>
          <p:nvPr/>
        </p:nvPicPr>
        <p:blipFill>
          <a:blip r:embed="rId3"/>
          <a:stretch>
            <a:fillRect/>
          </a:stretch>
        </p:blipFill>
        <p:spPr>
          <a:xfrm>
            <a:off x="1738312" y="5002785"/>
            <a:ext cx="1857375" cy="1495425"/>
          </a:xfrm>
          <a:prstGeom prst="rect">
            <a:avLst/>
          </a:prstGeom>
        </p:spPr>
      </p:pic>
      <p:pic>
        <p:nvPicPr>
          <p:cNvPr id="6" name="Picture 5">
            <a:extLst>
              <a:ext uri="{FF2B5EF4-FFF2-40B4-BE49-F238E27FC236}">
                <a16:creationId xmlns:a16="http://schemas.microsoft.com/office/drawing/2014/main" id="{D3BFD301-D5F7-57C5-CADA-7DE10CCE2B57}"/>
              </a:ext>
            </a:extLst>
          </p:cNvPr>
          <p:cNvPicPr>
            <a:picLocks noChangeAspect="1"/>
          </p:cNvPicPr>
          <p:nvPr/>
        </p:nvPicPr>
        <p:blipFill>
          <a:blip r:embed="rId4"/>
          <a:stretch>
            <a:fillRect/>
          </a:stretch>
        </p:blipFill>
        <p:spPr>
          <a:xfrm>
            <a:off x="1665474" y="4557572"/>
            <a:ext cx="1876425" cy="476250"/>
          </a:xfrm>
          <a:prstGeom prst="rect">
            <a:avLst/>
          </a:prstGeom>
        </p:spPr>
      </p:pic>
      <p:sp>
        <p:nvSpPr>
          <p:cNvPr id="5" name="TextBox 4">
            <a:extLst>
              <a:ext uri="{FF2B5EF4-FFF2-40B4-BE49-F238E27FC236}">
                <a16:creationId xmlns:a16="http://schemas.microsoft.com/office/drawing/2014/main" id="{C5BC6A6A-E9F9-F970-04B2-3DA7A4FAB0A6}"/>
              </a:ext>
            </a:extLst>
          </p:cNvPr>
          <p:cNvSpPr txBox="1"/>
          <p:nvPr/>
        </p:nvSpPr>
        <p:spPr>
          <a:xfrm>
            <a:off x="4097992" y="4557572"/>
            <a:ext cx="6098240" cy="1754326"/>
          </a:xfrm>
          <a:prstGeom prst="rect">
            <a:avLst/>
          </a:prstGeom>
          <a:noFill/>
        </p:spPr>
        <p:txBody>
          <a:bodyPr wrap="square">
            <a:spAutoFit/>
          </a:bodyPr>
          <a:lstStyle/>
          <a:p>
            <a:pPr algn="just"/>
            <a:r>
              <a:rPr lang="es-CO" sz="1800" spc="-10" dirty="0">
                <a:latin typeface="Consolas" panose="020B0609020204030204" pitchFamily="49" charset="0"/>
                <a:cs typeface="Arial MT"/>
              </a:rPr>
              <a:t>Como su modelo de sistema cumple con la propiedad de </a:t>
            </a:r>
            <a:r>
              <a:rPr lang="es-CO" sz="1800" spc="-10" dirty="0" err="1">
                <a:latin typeface="Consolas" panose="020B0609020204030204" pitchFamily="49" charset="0"/>
                <a:cs typeface="Arial MT"/>
              </a:rPr>
              <a:t>Markov</a:t>
            </a:r>
            <a:r>
              <a:rPr lang="es-CO" sz="1800" spc="-10" dirty="0">
                <a:latin typeface="Consolas" panose="020B0609020204030204" pitchFamily="49" charset="0"/>
                <a:cs typeface="Arial MT"/>
              </a:rPr>
              <a:t>, puede capturar las probabilidades de transición con una matriz de transición, que es una matriz cuadrada de tamaño N×N, donde N es el número de estados de nuestro modelo. </a:t>
            </a:r>
          </a:p>
        </p:txBody>
      </p:sp>
    </p:spTree>
    <p:extLst>
      <p:ext uri="{BB962C8B-B14F-4D97-AF65-F5344CB8AC3E}">
        <p14:creationId xmlns:p14="http://schemas.microsoft.com/office/powerpoint/2010/main" val="200551899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F0AC6B-883C-7076-FE11-CF518059EAB0}"/>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5E8E7E31-3EC6-36EB-5D65-6093FB21DB86}"/>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19362D70-7812-755C-72CA-3FDBE9B3B786}"/>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pic>
        <p:nvPicPr>
          <p:cNvPr id="8" name="Picture 7">
            <a:extLst>
              <a:ext uri="{FF2B5EF4-FFF2-40B4-BE49-F238E27FC236}">
                <a16:creationId xmlns:a16="http://schemas.microsoft.com/office/drawing/2014/main" id="{6C0A5E86-45E4-DA90-487D-D1C40FD24CFF}"/>
              </a:ext>
            </a:extLst>
          </p:cNvPr>
          <p:cNvPicPr>
            <a:picLocks noChangeAspect="1"/>
          </p:cNvPicPr>
          <p:nvPr/>
        </p:nvPicPr>
        <p:blipFill>
          <a:blip r:embed="rId3"/>
          <a:stretch>
            <a:fillRect/>
          </a:stretch>
        </p:blipFill>
        <p:spPr>
          <a:xfrm>
            <a:off x="1388688" y="3189030"/>
            <a:ext cx="1857375" cy="1495425"/>
          </a:xfrm>
          <a:prstGeom prst="rect">
            <a:avLst/>
          </a:prstGeom>
        </p:spPr>
      </p:pic>
      <p:pic>
        <p:nvPicPr>
          <p:cNvPr id="9" name="Picture 8">
            <a:extLst>
              <a:ext uri="{FF2B5EF4-FFF2-40B4-BE49-F238E27FC236}">
                <a16:creationId xmlns:a16="http://schemas.microsoft.com/office/drawing/2014/main" id="{48C95204-10C5-FBF8-7E2F-293B5AC31C5B}"/>
              </a:ext>
            </a:extLst>
          </p:cNvPr>
          <p:cNvPicPr>
            <a:picLocks noChangeAspect="1"/>
          </p:cNvPicPr>
          <p:nvPr/>
        </p:nvPicPr>
        <p:blipFill>
          <a:blip r:embed="rId4"/>
          <a:stretch>
            <a:fillRect/>
          </a:stretch>
        </p:blipFill>
        <p:spPr>
          <a:xfrm>
            <a:off x="1315850" y="2743817"/>
            <a:ext cx="1876425" cy="476250"/>
          </a:xfrm>
          <a:prstGeom prst="rect">
            <a:avLst/>
          </a:prstGeom>
        </p:spPr>
      </p:pic>
      <p:pic>
        <p:nvPicPr>
          <p:cNvPr id="11" name="Picture 10">
            <a:extLst>
              <a:ext uri="{FF2B5EF4-FFF2-40B4-BE49-F238E27FC236}">
                <a16:creationId xmlns:a16="http://schemas.microsoft.com/office/drawing/2014/main" id="{5A923646-872D-8094-BF71-FD0277B0D9C1}"/>
              </a:ext>
            </a:extLst>
          </p:cNvPr>
          <p:cNvPicPr>
            <a:picLocks noChangeAspect="1"/>
          </p:cNvPicPr>
          <p:nvPr/>
        </p:nvPicPr>
        <p:blipFill>
          <a:blip r:embed="rId5"/>
          <a:stretch>
            <a:fillRect/>
          </a:stretch>
        </p:blipFill>
        <p:spPr>
          <a:xfrm>
            <a:off x="4032718" y="1919185"/>
            <a:ext cx="7914414" cy="3499571"/>
          </a:xfrm>
          <a:prstGeom prst="rect">
            <a:avLst/>
          </a:prstGeom>
        </p:spPr>
      </p:pic>
    </p:spTree>
    <p:extLst>
      <p:ext uri="{BB962C8B-B14F-4D97-AF65-F5344CB8AC3E}">
        <p14:creationId xmlns:p14="http://schemas.microsoft.com/office/powerpoint/2010/main" val="341573878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F896DB-5AF6-0665-D407-E3CFDFC05730}"/>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8A4AE586-E152-64C4-06F4-13933DE97B1C}"/>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082F3153-076E-588D-78EB-BD178EDF1AAE}"/>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3" name="TextBox 2">
            <a:extLst>
              <a:ext uri="{FF2B5EF4-FFF2-40B4-BE49-F238E27FC236}">
                <a16:creationId xmlns:a16="http://schemas.microsoft.com/office/drawing/2014/main" id="{DC471FED-8DF2-76C6-3A4D-1EF275AFA81E}"/>
              </a:ext>
            </a:extLst>
          </p:cNvPr>
          <p:cNvSpPr txBox="1"/>
          <p:nvPr/>
        </p:nvSpPr>
        <p:spPr>
          <a:xfrm>
            <a:off x="745435" y="1304429"/>
            <a:ext cx="6098240" cy="646331"/>
          </a:xfrm>
          <a:prstGeom prst="rect">
            <a:avLst/>
          </a:prstGeom>
          <a:noFill/>
        </p:spPr>
        <p:txBody>
          <a:bodyPr wrap="square">
            <a:spAutoFit/>
          </a:bodyPr>
          <a:lstStyle/>
          <a:p>
            <a:r>
              <a:rPr lang="es-CO" dirty="0">
                <a:solidFill>
                  <a:srgbClr val="0070C0"/>
                </a:solidFill>
              </a:rPr>
              <a:t>Office </a:t>
            </a:r>
            <a:r>
              <a:rPr lang="es-CO" dirty="0" err="1">
                <a:solidFill>
                  <a:srgbClr val="0070C0"/>
                </a:solidFill>
              </a:rPr>
              <a:t>Worker</a:t>
            </a:r>
            <a:endParaRPr lang="es-CO" dirty="0">
              <a:solidFill>
                <a:srgbClr val="0070C0"/>
              </a:solidFill>
            </a:endParaRPr>
          </a:p>
          <a:p>
            <a:endParaRPr lang="es-CO" dirty="0"/>
          </a:p>
        </p:txBody>
      </p:sp>
      <p:pic>
        <p:nvPicPr>
          <p:cNvPr id="6" name="Picture 5">
            <a:extLst>
              <a:ext uri="{FF2B5EF4-FFF2-40B4-BE49-F238E27FC236}">
                <a16:creationId xmlns:a16="http://schemas.microsoft.com/office/drawing/2014/main" id="{6F6D8913-EBA2-BDF5-5188-6E5059B941EA}"/>
              </a:ext>
            </a:extLst>
          </p:cNvPr>
          <p:cNvPicPr>
            <a:picLocks noChangeAspect="1"/>
          </p:cNvPicPr>
          <p:nvPr/>
        </p:nvPicPr>
        <p:blipFill>
          <a:blip r:embed="rId3"/>
          <a:stretch>
            <a:fillRect/>
          </a:stretch>
        </p:blipFill>
        <p:spPr>
          <a:xfrm>
            <a:off x="870794" y="1826955"/>
            <a:ext cx="4648200" cy="1362075"/>
          </a:xfrm>
          <a:prstGeom prst="rect">
            <a:avLst/>
          </a:prstGeom>
        </p:spPr>
      </p:pic>
      <p:pic>
        <p:nvPicPr>
          <p:cNvPr id="12" name="Picture 11">
            <a:extLst>
              <a:ext uri="{FF2B5EF4-FFF2-40B4-BE49-F238E27FC236}">
                <a16:creationId xmlns:a16="http://schemas.microsoft.com/office/drawing/2014/main" id="{D379DC8D-D2D7-F554-29C3-00D76FB594D7}"/>
              </a:ext>
            </a:extLst>
          </p:cNvPr>
          <p:cNvPicPr>
            <a:picLocks noChangeAspect="1"/>
          </p:cNvPicPr>
          <p:nvPr/>
        </p:nvPicPr>
        <p:blipFill>
          <a:blip r:embed="rId4"/>
          <a:stretch>
            <a:fillRect/>
          </a:stretch>
        </p:blipFill>
        <p:spPr>
          <a:xfrm>
            <a:off x="870795" y="3668970"/>
            <a:ext cx="4828054" cy="2427029"/>
          </a:xfrm>
          <a:prstGeom prst="rect">
            <a:avLst/>
          </a:prstGeom>
        </p:spPr>
      </p:pic>
      <p:pic>
        <p:nvPicPr>
          <p:cNvPr id="14" name="Picture 13">
            <a:extLst>
              <a:ext uri="{FF2B5EF4-FFF2-40B4-BE49-F238E27FC236}">
                <a16:creationId xmlns:a16="http://schemas.microsoft.com/office/drawing/2014/main" id="{69818414-3B2A-AB1B-F7EF-2FCD2BB95F9B}"/>
              </a:ext>
            </a:extLst>
          </p:cNvPr>
          <p:cNvPicPr>
            <a:picLocks noChangeAspect="1"/>
          </p:cNvPicPr>
          <p:nvPr/>
        </p:nvPicPr>
        <p:blipFill>
          <a:blip r:embed="rId5"/>
          <a:stretch>
            <a:fillRect/>
          </a:stretch>
        </p:blipFill>
        <p:spPr>
          <a:xfrm>
            <a:off x="6096000" y="1130410"/>
            <a:ext cx="3197133" cy="2940983"/>
          </a:xfrm>
          <a:prstGeom prst="rect">
            <a:avLst/>
          </a:prstGeom>
        </p:spPr>
      </p:pic>
      <p:pic>
        <p:nvPicPr>
          <p:cNvPr id="16" name="Picture 15">
            <a:extLst>
              <a:ext uri="{FF2B5EF4-FFF2-40B4-BE49-F238E27FC236}">
                <a16:creationId xmlns:a16="http://schemas.microsoft.com/office/drawing/2014/main" id="{D6C7F87C-7249-4714-C93E-57EB40C2BFDD}"/>
              </a:ext>
            </a:extLst>
          </p:cNvPr>
          <p:cNvPicPr>
            <a:picLocks noChangeAspect="1"/>
          </p:cNvPicPr>
          <p:nvPr/>
        </p:nvPicPr>
        <p:blipFill>
          <a:blip r:embed="rId6"/>
          <a:stretch>
            <a:fillRect/>
          </a:stretch>
        </p:blipFill>
        <p:spPr>
          <a:xfrm>
            <a:off x="6192002" y="4245412"/>
            <a:ext cx="5048250" cy="2524125"/>
          </a:xfrm>
          <a:prstGeom prst="rect">
            <a:avLst/>
          </a:prstGeom>
        </p:spPr>
      </p:pic>
    </p:spTree>
    <p:extLst>
      <p:ext uri="{BB962C8B-B14F-4D97-AF65-F5344CB8AC3E}">
        <p14:creationId xmlns:p14="http://schemas.microsoft.com/office/powerpoint/2010/main" val="2190295008"/>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9D648-6170-3009-3734-B09CC8910ABC}"/>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F42ADD95-D767-1C53-8316-383B25EE3BDF}"/>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1E3AF835-28E6-8A56-5C65-3D3CA74C37CC}"/>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3" name="TextBox 2">
            <a:extLst>
              <a:ext uri="{FF2B5EF4-FFF2-40B4-BE49-F238E27FC236}">
                <a16:creationId xmlns:a16="http://schemas.microsoft.com/office/drawing/2014/main" id="{CE562022-91B7-3E0B-F2F2-CF70C3A13C62}"/>
              </a:ext>
            </a:extLst>
          </p:cNvPr>
          <p:cNvSpPr txBox="1"/>
          <p:nvPr/>
        </p:nvSpPr>
        <p:spPr>
          <a:xfrm>
            <a:off x="745435" y="1304429"/>
            <a:ext cx="6098240" cy="646331"/>
          </a:xfrm>
          <a:prstGeom prst="rect">
            <a:avLst/>
          </a:prstGeom>
          <a:noFill/>
        </p:spPr>
        <p:txBody>
          <a:bodyPr wrap="square">
            <a:spAutoFit/>
          </a:bodyPr>
          <a:lstStyle/>
          <a:p>
            <a:r>
              <a:rPr lang="es-CO" dirty="0">
                <a:solidFill>
                  <a:srgbClr val="0070C0"/>
                </a:solidFill>
              </a:rPr>
              <a:t>Office </a:t>
            </a:r>
            <a:r>
              <a:rPr lang="es-CO" dirty="0" err="1">
                <a:solidFill>
                  <a:srgbClr val="0070C0"/>
                </a:solidFill>
              </a:rPr>
              <a:t>Worker</a:t>
            </a:r>
            <a:endParaRPr lang="es-CO" dirty="0">
              <a:solidFill>
                <a:srgbClr val="0070C0"/>
              </a:solidFill>
            </a:endParaRPr>
          </a:p>
          <a:p>
            <a:endParaRPr lang="es-CO" dirty="0"/>
          </a:p>
        </p:txBody>
      </p:sp>
      <p:sp>
        <p:nvSpPr>
          <p:cNvPr id="5" name="TextBox 4">
            <a:extLst>
              <a:ext uri="{FF2B5EF4-FFF2-40B4-BE49-F238E27FC236}">
                <a16:creationId xmlns:a16="http://schemas.microsoft.com/office/drawing/2014/main" id="{69FD5956-0110-2503-2E81-1F22D9E1F1F6}"/>
              </a:ext>
            </a:extLst>
          </p:cNvPr>
          <p:cNvSpPr txBox="1"/>
          <p:nvPr/>
        </p:nvSpPr>
        <p:spPr>
          <a:xfrm>
            <a:off x="745435" y="1757868"/>
            <a:ext cx="10765247" cy="4524315"/>
          </a:xfrm>
          <a:prstGeom prst="rect">
            <a:avLst/>
          </a:prstGeom>
          <a:noFill/>
        </p:spPr>
        <p:txBody>
          <a:bodyPr wrap="square">
            <a:spAutoFit/>
          </a:bodyPr>
          <a:lstStyle/>
          <a:p>
            <a:pPr algn="just"/>
            <a:r>
              <a:rPr lang="es-CO" dirty="0">
                <a:latin typeface="Consolas" panose="020B0609020204030204" pitchFamily="49" charset="0"/>
              </a:rPr>
              <a:t>No es complicado estimar la matriz de transición a partir de nuestras observaciones: solo tenemos que contar todas las transiciones de cada estado y normalizarlas a una suma de 1.</a:t>
            </a: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endParaRPr lang="es-CO" dirty="0">
              <a:latin typeface="Consolas" panose="020B0609020204030204" pitchFamily="49" charset="0"/>
            </a:endParaRPr>
          </a:p>
          <a:p>
            <a:pPr algn="just"/>
            <a:r>
              <a:rPr lang="es-CO" dirty="0">
                <a:latin typeface="Consolas" panose="020B0609020204030204" pitchFamily="49" charset="0"/>
              </a:rPr>
              <a:t>Cuantos más datos de observación tengamos, más se acercará nuestra estimación al modelo subyacente real.</a:t>
            </a:r>
          </a:p>
          <a:p>
            <a:pPr algn="just"/>
            <a:endParaRPr lang="es-CO" dirty="0">
              <a:latin typeface="Consolas" panose="020B0609020204030204" pitchFamily="49" charset="0"/>
            </a:endParaRPr>
          </a:p>
          <a:p>
            <a:pPr algn="just"/>
            <a:r>
              <a:rPr lang="es-CO" dirty="0">
                <a:latin typeface="Consolas" panose="020B0609020204030204" pitchFamily="49" charset="0"/>
              </a:rPr>
              <a:t> La propiedad de </a:t>
            </a:r>
            <a:r>
              <a:rPr lang="es-CO" dirty="0" err="1">
                <a:latin typeface="Consolas" panose="020B0609020204030204" pitchFamily="49" charset="0"/>
              </a:rPr>
              <a:t>Markov</a:t>
            </a:r>
            <a:r>
              <a:rPr lang="es-CO" dirty="0">
                <a:latin typeface="Consolas" panose="020B0609020204030204" pitchFamily="49" charset="0"/>
              </a:rPr>
              <a:t> implica estacionariedad (es decir, la distribución de transición subyacente para cualquier estado no cambia con el tiempo) </a:t>
            </a:r>
          </a:p>
        </p:txBody>
      </p:sp>
      <p:pic>
        <p:nvPicPr>
          <p:cNvPr id="9" name="Picture 8">
            <a:extLst>
              <a:ext uri="{FF2B5EF4-FFF2-40B4-BE49-F238E27FC236}">
                <a16:creationId xmlns:a16="http://schemas.microsoft.com/office/drawing/2014/main" id="{80045FF1-EF57-41DC-0362-2EE333D7726C}"/>
              </a:ext>
            </a:extLst>
          </p:cNvPr>
          <p:cNvPicPr>
            <a:picLocks noChangeAspect="1"/>
          </p:cNvPicPr>
          <p:nvPr/>
        </p:nvPicPr>
        <p:blipFill>
          <a:blip r:embed="rId3"/>
          <a:stretch>
            <a:fillRect/>
          </a:stretch>
        </p:blipFill>
        <p:spPr>
          <a:xfrm>
            <a:off x="1669666" y="2902947"/>
            <a:ext cx="9174258" cy="1532047"/>
          </a:xfrm>
          <a:prstGeom prst="rect">
            <a:avLst/>
          </a:prstGeom>
        </p:spPr>
      </p:pic>
    </p:spTree>
    <p:extLst>
      <p:ext uri="{BB962C8B-B14F-4D97-AF65-F5344CB8AC3E}">
        <p14:creationId xmlns:p14="http://schemas.microsoft.com/office/powerpoint/2010/main" val="202841780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27CF3B-FBF7-7B46-3DC4-EF6469BA7596}"/>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D2CE7FEB-5DAB-3751-F560-7119A5D3408A}"/>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3FDF8614-6DED-9962-873E-9E8B6E52B67A}"/>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155A80C9-A7B0-DF91-6D20-CA8B91E19FD6}"/>
              </a:ext>
            </a:extLst>
          </p:cNvPr>
          <p:cNvSpPr txBox="1"/>
          <p:nvPr/>
        </p:nvSpPr>
        <p:spPr>
          <a:xfrm>
            <a:off x="745435" y="1502162"/>
            <a:ext cx="10574206" cy="3139321"/>
          </a:xfrm>
          <a:prstGeom prst="rect">
            <a:avLst/>
          </a:prstGeom>
          <a:noFill/>
        </p:spPr>
        <p:txBody>
          <a:bodyPr wrap="square">
            <a:spAutoFit/>
          </a:bodyPr>
          <a:lstStyle/>
          <a:p>
            <a:r>
              <a:rPr lang="es-CO" dirty="0">
                <a:latin typeface="Consolas" panose="020B0609020204030204" pitchFamily="49" charset="0"/>
              </a:rPr>
              <a:t>Para introducir la </a:t>
            </a:r>
            <a:r>
              <a:rPr lang="es-CO" b="1" dirty="0">
                <a:latin typeface="Consolas" panose="020B0609020204030204" pitchFamily="49" charset="0"/>
              </a:rPr>
              <a:t>recompensa</a:t>
            </a:r>
            <a:r>
              <a:rPr lang="es-CO" dirty="0">
                <a:latin typeface="Consolas" panose="020B0609020204030204" pitchFamily="49" charset="0"/>
              </a:rPr>
              <a:t>, necesitamos ampliar un poco nuestro modelo.</a:t>
            </a:r>
          </a:p>
          <a:p>
            <a:br>
              <a:rPr lang="es-CO" dirty="0">
                <a:latin typeface="Consolas" panose="020B0609020204030204" pitchFamily="49" charset="0"/>
              </a:rPr>
            </a:br>
            <a:r>
              <a:rPr lang="es-CO" dirty="0">
                <a:latin typeface="Consolas" panose="020B0609020204030204" pitchFamily="49" charset="0"/>
              </a:rPr>
              <a:t>En primer lugar, debemos añadir valor a nuestra transición de un estado a otro. </a:t>
            </a:r>
          </a:p>
          <a:p>
            <a:endParaRPr lang="es-CO" dirty="0">
              <a:latin typeface="Consolas" panose="020B0609020204030204" pitchFamily="49" charset="0"/>
            </a:endParaRPr>
          </a:p>
          <a:p>
            <a:r>
              <a:rPr lang="es-CO" dirty="0">
                <a:latin typeface="Consolas" panose="020B0609020204030204" pitchFamily="49" charset="0"/>
              </a:rPr>
              <a:t>Ya tenemos la probabilidad, pero esta se utiliza para captar la dinámica del sistema, por lo que ahora tenemos un número escalar adicional sin carga adicional.</a:t>
            </a:r>
          </a:p>
          <a:p>
            <a:endParaRPr lang="es-CO" dirty="0">
              <a:latin typeface="Consolas" panose="020B0609020204030204" pitchFamily="49" charset="0"/>
            </a:endParaRPr>
          </a:p>
          <a:p>
            <a:r>
              <a:rPr lang="es-CO" dirty="0">
                <a:latin typeface="Consolas" panose="020B0609020204030204" pitchFamily="49" charset="0"/>
              </a:rPr>
              <a:t>La recompensa puede representarse de diversas formas. La forma más general es tener otra matriz cuadrada, similar a la matriz de transición, con la recompensa dada por la transición </a:t>
            </a:r>
            <a:r>
              <a:rPr lang="es-CO" b="1" dirty="0">
                <a:latin typeface="Consolas" panose="020B0609020204030204" pitchFamily="49" charset="0"/>
              </a:rPr>
              <a:t>del estado i al estado j</a:t>
            </a:r>
            <a:r>
              <a:rPr lang="es-CO" dirty="0">
                <a:latin typeface="Consolas" panose="020B0609020204030204" pitchFamily="49" charset="0"/>
              </a:rPr>
              <a:t>, que residen en la </a:t>
            </a:r>
            <a:r>
              <a:rPr lang="es-CO" b="1" dirty="0">
                <a:latin typeface="Consolas" panose="020B0609020204030204" pitchFamily="49" charset="0"/>
              </a:rPr>
              <a:t>fila i y la columna j.  </a:t>
            </a:r>
          </a:p>
        </p:txBody>
      </p:sp>
    </p:spTree>
    <p:extLst>
      <p:ext uri="{BB962C8B-B14F-4D97-AF65-F5344CB8AC3E}">
        <p14:creationId xmlns:p14="http://schemas.microsoft.com/office/powerpoint/2010/main" val="210642929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F3E8B9-FE45-F826-A176-90A6E831443B}"/>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EE5CDB14-45BA-FA49-51AA-35B74D37A488}"/>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E492221E-EA32-0FB6-5F71-008D83F59A5D}"/>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FFA0DEFC-3582-08BE-5E7A-149A3922C739}"/>
              </a:ext>
            </a:extLst>
          </p:cNvPr>
          <p:cNvSpPr txBox="1"/>
          <p:nvPr/>
        </p:nvSpPr>
        <p:spPr>
          <a:xfrm>
            <a:off x="745435" y="1502162"/>
            <a:ext cx="10574206" cy="3139321"/>
          </a:xfrm>
          <a:prstGeom prst="rect">
            <a:avLst/>
          </a:prstGeom>
          <a:noFill/>
        </p:spPr>
        <p:txBody>
          <a:bodyPr wrap="square">
            <a:spAutoFit/>
          </a:bodyPr>
          <a:lstStyle/>
          <a:p>
            <a:r>
              <a:rPr lang="es-CO" dirty="0">
                <a:latin typeface="Consolas" panose="020B0609020204030204" pitchFamily="49" charset="0"/>
              </a:rPr>
              <a:t>Lo segundo que estamos agregando al modelo es el </a:t>
            </a:r>
            <a:r>
              <a:rPr lang="es-CO" b="1" dirty="0">
                <a:latin typeface="Consolas" panose="020B0609020204030204" pitchFamily="49" charset="0"/>
              </a:rPr>
              <a:t>factor de descuento γ (gamma)</a:t>
            </a:r>
            <a:r>
              <a:rPr lang="es-CO" dirty="0">
                <a:latin typeface="Consolas" panose="020B0609020204030204" pitchFamily="49" charset="0"/>
              </a:rPr>
              <a:t>, que es un solo número entre 0 y 1.</a:t>
            </a:r>
          </a:p>
          <a:p>
            <a:endParaRPr lang="es-CO" b="1" dirty="0">
              <a:latin typeface="Consolas" panose="020B0609020204030204" pitchFamily="49" charset="0"/>
            </a:endParaRPr>
          </a:p>
          <a:p>
            <a:r>
              <a:rPr lang="es-CO" dirty="0">
                <a:latin typeface="Consolas" panose="020B0609020204030204" pitchFamily="49" charset="0"/>
              </a:rPr>
              <a:t>Observamos una cadena de transiciones de estados en un MP. Esto sigue siendo el caso para un proceso de recompensa de </a:t>
            </a:r>
            <a:r>
              <a:rPr lang="es-CO" dirty="0" err="1">
                <a:latin typeface="Consolas" panose="020B0609020204030204" pitchFamily="49" charset="0"/>
              </a:rPr>
              <a:t>Markov</a:t>
            </a:r>
            <a:r>
              <a:rPr lang="es-CO" dirty="0">
                <a:latin typeface="Consolas" panose="020B0609020204030204" pitchFamily="49" charset="0"/>
              </a:rPr>
              <a:t>, pero para cada transición, tenemos una cantidad adicional: </a:t>
            </a:r>
            <a:r>
              <a:rPr lang="es-CO" b="1" dirty="0">
                <a:latin typeface="Consolas" panose="020B0609020204030204" pitchFamily="49" charset="0"/>
              </a:rPr>
              <a:t>recompensa</a:t>
            </a:r>
            <a:r>
              <a:rPr lang="es-CO" dirty="0">
                <a:latin typeface="Consolas" panose="020B0609020204030204" pitchFamily="49" charset="0"/>
              </a:rPr>
              <a:t>. Así que ahora, todas nuestras observaciones tienen un valor de recompensa asociado a cada transición del sistema.</a:t>
            </a:r>
          </a:p>
          <a:p>
            <a:endParaRPr lang="es-CO" b="1" dirty="0">
              <a:latin typeface="Consolas" panose="020B0609020204030204" pitchFamily="49" charset="0"/>
            </a:endParaRPr>
          </a:p>
          <a:p>
            <a:r>
              <a:rPr lang="es-CO" dirty="0"/>
              <a:t>Para cada episodio, definimos el </a:t>
            </a:r>
            <a:r>
              <a:rPr lang="es-CO" b="1" dirty="0"/>
              <a:t>retorno</a:t>
            </a:r>
            <a:r>
              <a:rPr lang="es-CO" dirty="0"/>
              <a:t> en el tiempo </a:t>
            </a:r>
            <a:r>
              <a:rPr lang="es-CO" i="1" dirty="0"/>
              <a:t>t</a:t>
            </a:r>
            <a:r>
              <a:rPr lang="es-CO" dirty="0"/>
              <a:t>, como esta cantidad:</a:t>
            </a:r>
          </a:p>
          <a:p>
            <a:endParaRPr lang="ar-AE" dirty="0"/>
          </a:p>
          <a:p>
            <a:endParaRPr lang="es-CO" b="1" dirty="0">
              <a:latin typeface="Consolas" panose="020B0609020204030204" pitchFamily="49" charset="0"/>
            </a:endParaRPr>
          </a:p>
        </p:txBody>
      </p:sp>
      <p:pic>
        <p:nvPicPr>
          <p:cNvPr id="3" name="Picture 2">
            <a:extLst>
              <a:ext uri="{FF2B5EF4-FFF2-40B4-BE49-F238E27FC236}">
                <a16:creationId xmlns:a16="http://schemas.microsoft.com/office/drawing/2014/main" id="{3FA7D66C-420B-2BE3-1BD8-0F9E153CF6E0}"/>
              </a:ext>
            </a:extLst>
          </p:cNvPr>
          <p:cNvPicPr>
            <a:picLocks noChangeAspect="1"/>
          </p:cNvPicPr>
          <p:nvPr/>
        </p:nvPicPr>
        <p:blipFill>
          <a:blip r:embed="rId3"/>
          <a:stretch>
            <a:fillRect/>
          </a:stretch>
        </p:blipFill>
        <p:spPr>
          <a:xfrm>
            <a:off x="2069757" y="4393843"/>
            <a:ext cx="7925562" cy="1385706"/>
          </a:xfrm>
          <a:prstGeom prst="rect">
            <a:avLst/>
          </a:prstGeom>
        </p:spPr>
      </p:pic>
    </p:spTree>
    <p:extLst>
      <p:ext uri="{BB962C8B-B14F-4D97-AF65-F5344CB8AC3E}">
        <p14:creationId xmlns:p14="http://schemas.microsoft.com/office/powerpoint/2010/main" val="229014709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97B81F-C9F9-8379-F82A-3A0EECBEF0F8}"/>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2F0154F-F2E1-C7F8-ED72-817EB9693747}"/>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F87D9761-C263-1F94-0121-CA3138DC8910}"/>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22234CCF-3F3B-A72A-E066-09BD4AAAD62A}"/>
              </a:ext>
            </a:extLst>
          </p:cNvPr>
          <p:cNvSpPr txBox="1"/>
          <p:nvPr/>
        </p:nvSpPr>
        <p:spPr>
          <a:xfrm>
            <a:off x="1060746" y="3189030"/>
            <a:ext cx="10574206" cy="3693319"/>
          </a:xfrm>
          <a:prstGeom prst="rect">
            <a:avLst/>
          </a:prstGeom>
          <a:noFill/>
        </p:spPr>
        <p:txBody>
          <a:bodyPr wrap="square">
            <a:spAutoFit/>
          </a:bodyPr>
          <a:lstStyle/>
          <a:p>
            <a:r>
              <a:rPr lang="es-CO" dirty="0">
                <a:latin typeface="Consolas" panose="020B0609020204030204" pitchFamily="49" charset="0"/>
              </a:rPr>
              <a:t>Para cada instante de tiempo, calculamos el retorno </a:t>
            </a:r>
            <a:r>
              <a:rPr lang="es-CO" b="1" dirty="0">
                <a:latin typeface="Consolas" panose="020B0609020204030204" pitchFamily="49" charset="0"/>
              </a:rPr>
              <a:t>como una suma de recompensas posteriores</a:t>
            </a:r>
            <a:r>
              <a:rPr lang="es-CO" dirty="0">
                <a:latin typeface="Consolas" panose="020B0609020204030204" pitchFamily="49" charset="0"/>
              </a:rPr>
              <a:t>, pero las recompensas más distantes </a:t>
            </a:r>
            <a:r>
              <a:rPr lang="es-CO" b="1" dirty="0">
                <a:latin typeface="Consolas" panose="020B0609020204030204" pitchFamily="49" charset="0"/>
              </a:rPr>
              <a:t>se multiplican por el factor de descuento</a:t>
            </a:r>
            <a:r>
              <a:rPr lang="es-CO" dirty="0">
                <a:latin typeface="Consolas" panose="020B0609020204030204" pitchFamily="49" charset="0"/>
              </a:rPr>
              <a:t> elevado a la potencia del número de pasos que estamos alejados desde el punto inicial en </a:t>
            </a:r>
            <a:r>
              <a:rPr lang="es-CO" i="1" dirty="0">
                <a:latin typeface="Consolas" panose="020B0609020204030204" pitchFamily="49" charset="0"/>
              </a:rPr>
              <a:t>t</a:t>
            </a:r>
            <a:r>
              <a:rPr lang="es-CO" dirty="0">
                <a:latin typeface="Consolas" panose="020B0609020204030204" pitchFamily="49" charset="0"/>
              </a:rPr>
              <a:t>.</a:t>
            </a:r>
          </a:p>
          <a:p>
            <a:endParaRPr lang="es-CO" dirty="0">
              <a:latin typeface="Consolas" panose="020B0609020204030204" pitchFamily="49" charset="0"/>
            </a:endParaRPr>
          </a:p>
          <a:p>
            <a:pPr marL="285750" indent="-285750">
              <a:buFont typeface="Arial" panose="020B0604020202020204" pitchFamily="34" charset="0"/>
              <a:buChar char="•"/>
            </a:pPr>
            <a:r>
              <a:rPr lang="es-CO" dirty="0">
                <a:latin typeface="Consolas" panose="020B0609020204030204" pitchFamily="49" charset="0"/>
              </a:rPr>
              <a:t>Si gamma es igual a 1, entonces el retorno </a:t>
            </a:r>
            <a:r>
              <a:rPr lang="es-CO" dirty="0" err="1">
                <a:latin typeface="Consolas" panose="020B0609020204030204" pitchFamily="49" charset="0"/>
              </a:rPr>
              <a:t>Gt</a:t>
            </a:r>
            <a:r>
              <a:rPr lang="es-CO" dirty="0">
                <a:latin typeface="Consolas" panose="020B0609020204030204" pitchFamily="49" charset="0"/>
              </a:rPr>
              <a:t>​ es simplemente la suma de todas las recompensas futuras y corresponde a un agente que tiene perfecta visibilidad de cualquier recompensa futura.</a:t>
            </a:r>
          </a:p>
          <a:p>
            <a:pPr marL="285750" indent="-285750">
              <a:buFont typeface="Arial" panose="020B0604020202020204" pitchFamily="34" charset="0"/>
              <a:buChar char="•"/>
            </a:pPr>
            <a:endParaRPr lang="es-CO" dirty="0">
              <a:latin typeface="Consolas" panose="020B0609020204030204" pitchFamily="49" charset="0"/>
            </a:endParaRPr>
          </a:p>
          <a:p>
            <a:pPr marL="285750" indent="-285750">
              <a:buFont typeface="Arial" panose="020B0604020202020204" pitchFamily="34" charset="0"/>
              <a:buChar char="•"/>
            </a:pPr>
            <a:r>
              <a:rPr lang="es-CO" dirty="0">
                <a:latin typeface="Consolas" panose="020B0609020204030204" pitchFamily="49" charset="0"/>
              </a:rPr>
              <a:t>Si gamma es igual a 0, </a:t>
            </a:r>
            <a:r>
              <a:rPr lang="es-CO" dirty="0" err="1">
                <a:latin typeface="Consolas" panose="020B0609020204030204" pitchFamily="49" charset="0"/>
              </a:rPr>
              <a:t>Gt</a:t>
            </a:r>
            <a:r>
              <a:rPr lang="es-CO" dirty="0">
                <a:latin typeface="Consolas" panose="020B0609020204030204" pitchFamily="49" charset="0"/>
              </a:rPr>
              <a:t>​ será solo la recompensa inmediata sin ningún estado posterior y corresponderá a una visión absolutamente miope.</a:t>
            </a:r>
          </a:p>
          <a:p>
            <a:endParaRPr lang="es-CO" b="1" dirty="0">
              <a:latin typeface="Consolas" panose="020B0609020204030204" pitchFamily="49" charset="0"/>
            </a:endParaRPr>
          </a:p>
          <a:p>
            <a:endParaRPr lang="es-CO" b="1" dirty="0">
              <a:latin typeface="Consolas" panose="020B0609020204030204" pitchFamily="49" charset="0"/>
            </a:endParaRPr>
          </a:p>
        </p:txBody>
      </p:sp>
      <p:pic>
        <p:nvPicPr>
          <p:cNvPr id="3" name="Picture 2">
            <a:extLst>
              <a:ext uri="{FF2B5EF4-FFF2-40B4-BE49-F238E27FC236}">
                <a16:creationId xmlns:a16="http://schemas.microsoft.com/office/drawing/2014/main" id="{A9BE175D-35CA-4511-530C-CF78A853A0A0}"/>
              </a:ext>
            </a:extLst>
          </p:cNvPr>
          <p:cNvPicPr>
            <a:picLocks noChangeAspect="1"/>
          </p:cNvPicPr>
          <p:nvPr/>
        </p:nvPicPr>
        <p:blipFill>
          <a:blip r:embed="rId3"/>
          <a:stretch>
            <a:fillRect/>
          </a:stretch>
        </p:blipFill>
        <p:spPr>
          <a:xfrm>
            <a:off x="2133219" y="1527036"/>
            <a:ext cx="7925562" cy="1385706"/>
          </a:xfrm>
          <a:prstGeom prst="rect">
            <a:avLst/>
          </a:prstGeom>
        </p:spPr>
      </p:pic>
    </p:spTree>
    <p:extLst>
      <p:ext uri="{BB962C8B-B14F-4D97-AF65-F5344CB8AC3E}">
        <p14:creationId xmlns:p14="http://schemas.microsoft.com/office/powerpoint/2010/main" val="53791515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D2FE2-170D-5FEE-996C-AC105533E556}"/>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C326109-5018-EB8B-D749-90FCD341DA1C}"/>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FE11D957-4A7F-98CD-88BF-AF693FDACE18}"/>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C8A5D25B-109C-29CE-6C4E-DE5279BFB4FB}"/>
              </a:ext>
            </a:extLst>
          </p:cNvPr>
          <p:cNvSpPr txBox="1"/>
          <p:nvPr/>
        </p:nvSpPr>
        <p:spPr>
          <a:xfrm>
            <a:off x="745435" y="1386305"/>
            <a:ext cx="10574206" cy="2031325"/>
          </a:xfrm>
          <a:prstGeom prst="rect">
            <a:avLst/>
          </a:prstGeom>
          <a:noFill/>
        </p:spPr>
        <p:txBody>
          <a:bodyPr wrap="square">
            <a:spAutoFit/>
          </a:bodyPr>
          <a:lstStyle/>
          <a:p>
            <a:pPr algn="just"/>
            <a:r>
              <a:rPr lang="es-CO" dirty="0">
                <a:latin typeface="Consolas" panose="020B0609020204030204" pitchFamily="49" charset="0"/>
              </a:rPr>
              <a:t>El retorno no es muy útil en la práctica, ya que fue definido para una cada cadena específica que observamos de nuestro proceso de recompensa de </a:t>
            </a:r>
            <a:r>
              <a:rPr lang="es-CO" dirty="0" err="1">
                <a:latin typeface="Consolas" panose="020B0609020204030204" pitchFamily="49" charset="0"/>
              </a:rPr>
              <a:t>Markov</a:t>
            </a:r>
            <a:r>
              <a:rPr lang="es-CO" dirty="0">
                <a:latin typeface="Consolas" panose="020B0609020204030204" pitchFamily="49" charset="0"/>
              </a:rPr>
              <a:t>, por lo que puede variar ampliamente, incluso para el mismo estado. Sin embargo, si vamos al extremo y calculamos la expectativa matemática del retorno para cualquier estado (promediando un gran número de cadenas), obtendremos una cantidad mucho más útil, que se llama el </a:t>
            </a:r>
            <a:r>
              <a:rPr lang="es-CO" b="1" dirty="0">
                <a:latin typeface="Consolas" panose="020B0609020204030204" pitchFamily="49" charset="0"/>
              </a:rPr>
              <a:t>valor del estado</a:t>
            </a:r>
            <a:r>
              <a:rPr lang="es-CO" dirty="0">
                <a:latin typeface="Consolas" panose="020B0609020204030204" pitchFamily="49" charset="0"/>
              </a:rPr>
              <a:t>:</a:t>
            </a:r>
            <a:endParaRPr lang="es-CO" b="1" dirty="0">
              <a:latin typeface="Consolas" panose="020B0609020204030204" pitchFamily="49" charset="0"/>
            </a:endParaRPr>
          </a:p>
          <a:p>
            <a:endParaRPr lang="es-CO" b="1" dirty="0">
              <a:latin typeface="Consolas" panose="020B0609020204030204" pitchFamily="49" charset="0"/>
            </a:endParaRPr>
          </a:p>
        </p:txBody>
      </p:sp>
      <p:pic>
        <p:nvPicPr>
          <p:cNvPr id="5" name="Picture 4">
            <a:extLst>
              <a:ext uri="{FF2B5EF4-FFF2-40B4-BE49-F238E27FC236}">
                <a16:creationId xmlns:a16="http://schemas.microsoft.com/office/drawing/2014/main" id="{E7557C84-8095-9F00-3EFC-7B0ADB7073AF}"/>
              </a:ext>
            </a:extLst>
          </p:cNvPr>
          <p:cNvPicPr>
            <a:picLocks noChangeAspect="1"/>
          </p:cNvPicPr>
          <p:nvPr/>
        </p:nvPicPr>
        <p:blipFill>
          <a:blip r:embed="rId3"/>
          <a:stretch>
            <a:fillRect/>
          </a:stretch>
        </p:blipFill>
        <p:spPr>
          <a:xfrm>
            <a:off x="3394415" y="3264492"/>
            <a:ext cx="5467286" cy="1196702"/>
          </a:xfrm>
          <a:prstGeom prst="rect">
            <a:avLst/>
          </a:prstGeom>
        </p:spPr>
      </p:pic>
      <p:sp>
        <p:nvSpPr>
          <p:cNvPr id="9" name="TextBox 8">
            <a:extLst>
              <a:ext uri="{FF2B5EF4-FFF2-40B4-BE49-F238E27FC236}">
                <a16:creationId xmlns:a16="http://schemas.microsoft.com/office/drawing/2014/main" id="{C55643A8-A578-7A71-93A8-377B4B5A1B88}"/>
              </a:ext>
            </a:extLst>
          </p:cNvPr>
          <p:cNvSpPr txBox="1"/>
          <p:nvPr/>
        </p:nvSpPr>
        <p:spPr>
          <a:xfrm>
            <a:off x="918341" y="4548365"/>
            <a:ext cx="10401300" cy="646331"/>
          </a:xfrm>
          <a:prstGeom prst="rect">
            <a:avLst/>
          </a:prstGeom>
          <a:noFill/>
        </p:spPr>
        <p:txBody>
          <a:bodyPr wrap="square">
            <a:spAutoFit/>
          </a:bodyPr>
          <a:lstStyle/>
          <a:p>
            <a:r>
              <a:rPr lang="es-CO" dirty="0">
                <a:latin typeface="Consolas" panose="020B0609020204030204" pitchFamily="49" charset="0"/>
              </a:rPr>
              <a:t>Para cada estado, </a:t>
            </a:r>
            <a:r>
              <a:rPr lang="es-CO" i="1" dirty="0">
                <a:latin typeface="Consolas" panose="020B0609020204030204" pitchFamily="49" charset="0"/>
              </a:rPr>
              <a:t>s</a:t>
            </a:r>
            <a:r>
              <a:rPr lang="es-CO" dirty="0">
                <a:latin typeface="Consolas" panose="020B0609020204030204" pitchFamily="49" charset="0"/>
              </a:rPr>
              <a:t>, el valor, </a:t>
            </a:r>
            <a:r>
              <a:rPr lang="es-CO" i="1" dirty="0">
                <a:latin typeface="Consolas" panose="020B0609020204030204" pitchFamily="49" charset="0"/>
              </a:rPr>
              <a:t>V(s)</a:t>
            </a:r>
            <a:r>
              <a:rPr lang="es-CO" dirty="0">
                <a:latin typeface="Consolas" panose="020B0609020204030204" pitchFamily="49" charset="0"/>
              </a:rPr>
              <a:t>, es el retorno promedio (o esperado) que obtenemos al seguir el proceso de recompensa de </a:t>
            </a:r>
            <a:r>
              <a:rPr lang="es-CO" dirty="0" err="1">
                <a:latin typeface="Consolas" panose="020B0609020204030204" pitchFamily="49" charset="0"/>
              </a:rPr>
              <a:t>Markov</a:t>
            </a:r>
            <a:r>
              <a:rPr lang="es-CO" dirty="0">
                <a:latin typeface="Consolas" panose="020B0609020204030204" pitchFamily="49" charset="0"/>
              </a:rPr>
              <a:t>.</a:t>
            </a:r>
          </a:p>
        </p:txBody>
      </p:sp>
    </p:spTree>
    <p:extLst>
      <p:ext uri="{BB962C8B-B14F-4D97-AF65-F5344CB8AC3E}">
        <p14:creationId xmlns:p14="http://schemas.microsoft.com/office/powerpoint/2010/main" val="327842928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4E2BE6-B87D-BEFF-5ADC-261C7962C44C}"/>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34465369-1242-118C-7160-5E363CAAC9E2}"/>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D369C88E-C21C-302E-A179-584CCBDAD43F}"/>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703E3DAA-AD38-CB30-6966-C6679475ECA9}"/>
              </a:ext>
            </a:extLst>
          </p:cNvPr>
          <p:cNvSpPr txBox="1"/>
          <p:nvPr/>
        </p:nvSpPr>
        <p:spPr>
          <a:xfrm>
            <a:off x="745435" y="1386305"/>
            <a:ext cx="10574206" cy="1200329"/>
          </a:xfrm>
          <a:prstGeom prst="rect">
            <a:avLst/>
          </a:prstGeom>
          <a:noFill/>
        </p:spPr>
        <p:txBody>
          <a:bodyPr wrap="square">
            <a:spAutoFit/>
          </a:bodyPr>
          <a:lstStyle/>
          <a:p>
            <a:r>
              <a:rPr lang="es-CO" b="1" dirty="0">
                <a:latin typeface="Consolas" panose="020B0609020204030204" pitchFamily="49" charset="0"/>
              </a:rPr>
              <a:t>Ejemplo</a:t>
            </a:r>
            <a:br>
              <a:rPr lang="es-CO" b="1" dirty="0">
                <a:latin typeface="Consolas" panose="020B0609020204030204" pitchFamily="49" charset="0"/>
              </a:rPr>
            </a:br>
            <a:br>
              <a:rPr lang="es-CO" b="1" dirty="0">
                <a:latin typeface="Consolas" panose="020B0609020204030204" pitchFamily="49" charset="0"/>
              </a:rPr>
            </a:br>
            <a:endParaRPr lang="es-CO" b="1" dirty="0">
              <a:latin typeface="Consolas" panose="020B0609020204030204" pitchFamily="49" charset="0"/>
            </a:endParaRPr>
          </a:p>
          <a:p>
            <a:endParaRPr lang="es-CO" b="1" dirty="0">
              <a:latin typeface="Consolas" panose="020B0609020204030204" pitchFamily="49" charset="0"/>
            </a:endParaRPr>
          </a:p>
        </p:txBody>
      </p:sp>
      <p:pic>
        <p:nvPicPr>
          <p:cNvPr id="3" name="Picture 2">
            <a:extLst>
              <a:ext uri="{FF2B5EF4-FFF2-40B4-BE49-F238E27FC236}">
                <a16:creationId xmlns:a16="http://schemas.microsoft.com/office/drawing/2014/main" id="{CC7F53CD-2688-D256-BA6C-33A578BFF029}"/>
              </a:ext>
            </a:extLst>
          </p:cNvPr>
          <p:cNvPicPr>
            <a:picLocks noChangeAspect="1"/>
          </p:cNvPicPr>
          <p:nvPr/>
        </p:nvPicPr>
        <p:blipFill>
          <a:blip r:embed="rId3"/>
          <a:stretch>
            <a:fillRect/>
          </a:stretch>
        </p:blipFill>
        <p:spPr>
          <a:xfrm>
            <a:off x="745435" y="1728153"/>
            <a:ext cx="5561389" cy="3584825"/>
          </a:xfrm>
          <a:prstGeom prst="rect">
            <a:avLst/>
          </a:prstGeom>
        </p:spPr>
      </p:pic>
      <p:pic>
        <p:nvPicPr>
          <p:cNvPr id="10" name="Picture 9">
            <a:extLst>
              <a:ext uri="{FF2B5EF4-FFF2-40B4-BE49-F238E27FC236}">
                <a16:creationId xmlns:a16="http://schemas.microsoft.com/office/drawing/2014/main" id="{BB5BAE32-BE1F-1E32-E1C9-1D22586B9F0D}"/>
              </a:ext>
            </a:extLst>
          </p:cNvPr>
          <p:cNvPicPr>
            <a:picLocks noChangeAspect="1"/>
          </p:cNvPicPr>
          <p:nvPr/>
        </p:nvPicPr>
        <p:blipFill>
          <a:blip r:embed="rId4"/>
          <a:stretch>
            <a:fillRect/>
          </a:stretch>
        </p:blipFill>
        <p:spPr>
          <a:xfrm>
            <a:off x="4395515" y="3222866"/>
            <a:ext cx="6404603" cy="3430181"/>
          </a:xfrm>
          <a:prstGeom prst="rect">
            <a:avLst/>
          </a:prstGeom>
        </p:spPr>
      </p:pic>
      <p:pic>
        <p:nvPicPr>
          <p:cNvPr id="11" name="Picture 10">
            <a:extLst>
              <a:ext uri="{FF2B5EF4-FFF2-40B4-BE49-F238E27FC236}">
                <a16:creationId xmlns:a16="http://schemas.microsoft.com/office/drawing/2014/main" id="{8B0DBF28-455B-BC6A-25DC-03373C85241A}"/>
              </a:ext>
            </a:extLst>
          </p:cNvPr>
          <p:cNvPicPr>
            <a:picLocks noChangeAspect="1"/>
          </p:cNvPicPr>
          <p:nvPr/>
        </p:nvPicPr>
        <p:blipFill>
          <a:blip r:embed="rId5"/>
          <a:stretch>
            <a:fillRect/>
          </a:stretch>
        </p:blipFill>
        <p:spPr>
          <a:xfrm>
            <a:off x="7408205" y="1537134"/>
            <a:ext cx="4197998" cy="2098999"/>
          </a:xfrm>
          <a:prstGeom prst="rect">
            <a:avLst/>
          </a:prstGeom>
        </p:spPr>
      </p:pic>
    </p:spTree>
    <p:extLst>
      <p:ext uri="{BB962C8B-B14F-4D97-AF65-F5344CB8AC3E}">
        <p14:creationId xmlns:p14="http://schemas.microsoft.com/office/powerpoint/2010/main" val="92927557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3A4BB9-71D9-1453-F11D-CD64C1FAFA50}"/>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158E180B-D9A4-BD01-C1F7-1F2120892378}"/>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4D09B9D3-9C96-762E-A15B-7E74439A7271}"/>
              </a:ext>
            </a:extLst>
          </p:cNvPr>
          <p:cNvSpPr txBox="1"/>
          <p:nvPr/>
        </p:nvSpPr>
        <p:spPr>
          <a:xfrm>
            <a:off x="745435" y="2173367"/>
            <a:ext cx="10765247" cy="1015663"/>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
        <p:nvSpPr>
          <p:cNvPr id="6" name="TextBox 5">
            <a:extLst>
              <a:ext uri="{FF2B5EF4-FFF2-40B4-BE49-F238E27FC236}">
                <a16:creationId xmlns:a16="http://schemas.microsoft.com/office/drawing/2014/main" id="{6B53F001-D79A-CF9A-6190-C40CC76B6325}"/>
              </a:ext>
            </a:extLst>
          </p:cNvPr>
          <p:cNvSpPr txBox="1"/>
          <p:nvPr/>
        </p:nvSpPr>
        <p:spPr>
          <a:xfrm>
            <a:off x="745435" y="1386305"/>
            <a:ext cx="10574206" cy="923330"/>
          </a:xfrm>
          <a:prstGeom prst="rect">
            <a:avLst/>
          </a:prstGeom>
          <a:noFill/>
        </p:spPr>
        <p:txBody>
          <a:bodyPr wrap="square">
            <a:spAutoFit/>
          </a:bodyPr>
          <a:lstStyle/>
          <a:p>
            <a:r>
              <a:rPr lang="es-CO" dirty="0">
                <a:latin typeface="Consolas" panose="020B0609020204030204" pitchFamily="49" charset="0"/>
              </a:rPr>
              <a:t>¿Cómo calculas los valores de los estados aquí? </a:t>
            </a:r>
          </a:p>
          <a:p>
            <a:r>
              <a:rPr lang="es-CO" dirty="0">
                <a:latin typeface="Consolas" panose="020B0609020204030204" pitchFamily="49" charset="0"/>
              </a:rPr>
              <a:t>Para responder a esta pregunta, fijemos nuestro estado en </a:t>
            </a:r>
            <a:r>
              <a:rPr lang="es-CO" b="1" dirty="0">
                <a:latin typeface="Consolas" panose="020B0609020204030204" pitchFamily="49" charset="0"/>
              </a:rPr>
              <a:t>Chat</a:t>
            </a:r>
            <a:r>
              <a:rPr lang="es-CO" dirty="0">
                <a:latin typeface="Consolas" panose="020B0609020204030204" pitchFamily="49" charset="0"/>
              </a:rPr>
              <a:t>. </a:t>
            </a:r>
          </a:p>
          <a:p>
            <a:r>
              <a:rPr lang="es-CO" dirty="0">
                <a:latin typeface="Consolas" panose="020B0609020204030204" pitchFamily="49" charset="0"/>
              </a:rPr>
              <a:t>¿Cuál podría ser la siguiente transición?</a:t>
            </a:r>
            <a:endParaRPr lang="es-CO" b="1" dirty="0">
              <a:latin typeface="Consolas" panose="020B0609020204030204" pitchFamily="49" charset="0"/>
            </a:endParaRPr>
          </a:p>
        </p:txBody>
      </p:sp>
      <p:pic>
        <p:nvPicPr>
          <p:cNvPr id="10" name="Picture 9">
            <a:extLst>
              <a:ext uri="{FF2B5EF4-FFF2-40B4-BE49-F238E27FC236}">
                <a16:creationId xmlns:a16="http://schemas.microsoft.com/office/drawing/2014/main" id="{9723FD53-E71F-A908-50B7-A3277334E6B6}"/>
              </a:ext>
            </a:extLst>
          </p:cNvPr>
          <p:cNvPicPr>
            <a:picLocks noChangeAspect="1"/>
          </p:cNvPicPr>
          <p:nvPr/>
        </p:nvPicPr>
        <p:blipFill>
          <a:blip r:embed="rId3"/>
          <a:stretch>
            <a:fillRect/>
          </a:stretch>
        </p:blipFill>
        <p:spPr>
          <a:xfrm>
            <a:off x="177877" y="2490215"/>
            <a:ext cx="5566819" cy="2981480"/>
          </a:xfrm>
          <a:prstGeom prst="rect">
            <a:avLst/>
          </a:prstGeom>
        </p:spPr>
      </p:pic>
      <p:sp>
        <p:nvSpPr>
          <p:cNvPr id="5" name="TextBox 4">
            <a:extLst>
              <a:ext uri="{FF2B5EF4-FFF2-40B4-BE49-F238E27FC236}">
                <a16:creationId xmlns:a16="http://schemas.microsoft.com/office/drawing/2014/main" id="{E3B323DD-7FC2-C5D5-3D77-2ACE47C2F43B}"/>
              </a:ext>
            </a:extLst>
          </p:cNvPr>
          <p:cNvSpPr txBox="1"/>
          <p:nvPr/>
        </p:nvSpPr>
        <p:spPr>
          <a:xfrm>
            <a:off x="5984868" y="2450366"/>
            <a:ext cx="6093372" cy="1754326"/>
          </a:xfrm>
          <a:prstGeom prst="rect">
            <a:avLst/>
          </a:prstGeom>
          <a:noFill/>
        </p:spPr>
        <p:txBody>
          <a:bodyPr wrap="square">
            <a:spAutoFit/>
          </a:bodyPr>
          <a:lstStyle/>
          <a:p>
            <a:pPr algn="just"/>
            <a:r>
              <a:rPr lang="es-CO" dirty="0">
                <a:latin typeface="Consolas" panose="020B0609020204030204" pitchFamily="49" charset="0"/>
              </a:rPr>
              <a:t>La respuesta es que depende del azar. De acuerdo con nuestra matriz de transición para este proceso, hay una probabilidad del 50% de que el siguiente estado sea nuevamente </a:t>
            </a:r>
            <a:r>
              <a:rPr lang="es-CO" b="1" dirty="0">
                <a:latin typeface="Consolas" panose="020B0609020204030204" pitchFamily="49" charset="0"/>
              </a:rPr>
              <a:t>Chat</a:t>
            </a:r>
            <a:r>
              <a:rPr lang="es-CO" dirty="0">
                <a:latin typeface="Consolas" panose="020B0609020204030204" pitchFamily="49" charset="0"/>
              </a:rPr>
              <a:t>, 20% de que sea </a:t>
            </a:r>
            <a:r>
              <a:rPr lang="es-CO" b="1" dirty="0" err="1">
                <a:latin typeface="Consolas" panose="020B0609020204030204" pitchFamily="49" charset="0"/>
              </a:rPr>
              <a:t>Coffee</a:t>
            </a:r>
            <a:r>
              <a:rPr lang="es-CO" dirty="0">
                <a:latin typeface="Consolas" panose="020B0609020204030204" pitchFamily="49" charset="0"/>
              </a:rPr>
              <a:t>, y 30% de que sea </a:t>
            </a:r>
            <a:r>
              <a:rPr lang="es-CO" b="1" dirty="0" err="1">
                <a:latin typeface="Consolas" panose="020B0609020204030204" pitchFamily="49" charset="0"/>
              </a:rPr>
              <a:t>Computer</a:t>
            </a:r>
            <a:r>
              <a:rPr lang="es-CO" dirty="0">
                <a:latin typeface="Consolas" panose="020B0609020204030204" pitchFamily="49" charset="0"/>
              </a:rPr>
              <a:t>.</a:t>
            </a:r>
          </a:p>
        </p:txBody>
      </p:sp>
      <p:pic>
        <p:nvPicPr>
          <p:cNvPr id="9" name="Picture 8">
            <a:extLst>
              <a:ext uri="{FF2B5EF4-FFF2-40B4-BE49-F238E27FC236}">
                <a16:creationId xmlns:a16="http://schemas.microsoft.com/office/drawing/2014/main" id="{672DB552-40CF-FA5A-D87C-FB2C825ED62F}"/>
              </a:ext>
            </a:extLst>
          </p:cNvPr>
          <p:cNvPicPr>
            <a:picLocks noChangeAspect="1"/>
          </p:cNvPicPr>
          <p:nvPr/>
        </p:nvPicPr>
        <p:blipFill>
          <a:blip r:embed="rId4"/>
          <a:stretch>
            <a:fillRect/>
          </a:stretch>
        </p:blipFill>
        <p:spPr>
          <a:xfrm>
            <a:off x="6336860" y="4345423"/>
            <a:ext cx="5389388" cy="976242"/>
          </a:xfrm>
          <a:prstGeom prst="rect">
            <a:avLst/>
          </a:prstGeom>
        </p:spPr>
      </p:pic>
      <p:pic>
        <p:nvPicPr>
          <p:cNvPr id="13" name="Picture 12">
            <a:extLst>
              <a:ext uri="{FF2B5EF4-FFF2-40B4-BE49-F238E27FC236}">
                <a16:creationId xmlns:a16="http://schemas.microsoft.com/office/drawing/2014/main" id="{D435B5B0-B3FE-2D4E-E34D-6EB9271E957F}"/>
              </a:ext>
            </a:extLst>
          </p:cNvPr>
          <p:cNvPicPr>
            <a:picLocks noChangeAspect="1"/>
          </p:cNvPicPr>
          <p:nvPr/>
        </p:nvPicPr>
        <p:blipFill>
          <a:blip r:embed="rId5"/>
          <a:stretch>
            <a:fillRect/>
          </a:stretch>
        </p:blipFill>
        <p:spPr>
          <a:xfrm>
            <a:off x="5276193" y="5462396"/>
            <a:ext cx="5693750" cy="1324128"/>
          </a:xfrm>
          <a:prstGeom prst="rect">
            <a:avLst/>
          </a:prstGeom>
        </p:spPr>
      </p:pic>
    </p:spTree>
    <p:extLst>
      <p:ext uri="{BB962C8B-B14F-4D97-AF65-F5344CB8AC3E}">
        <p14:creationId xmlns:p14="http://schemas.microsoft.com/office/powerpoint/2010/main" val="167763111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C887FD-21F6-024E-7972-9C5EE8136C6D}"/>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71C68941-8783-F1BB-659B-6A881A8E6287}"/>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err="1">
                <a:solidFill>
                  <a:srgbClr val="0070C0"/>
                </a:solidFill>
                <a:latin typeface="Consolas" panose="020B0609020204030204" pitchFamily="49" charset="0"/>
                <a:cs typeface="Arial"/>
              </a:rPr>
              <a:t>Markov</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Reward</a:t>
            </a:r>
            <a:r>
              <a:rPr lang="es-MX" sz="3200" dirty="0">
                <a:solidFill>
                  <a:srgbClr val="0070C0"/>
                </a:solidFill>
                <a:latin typeface="Consolas" panose="020B0609020204030204" pitchFamily="49" charset="0"/>
                <a:cs typeface="Arial"/>
              </a:rPr>
              <a:t> </a:t>
            </a:r>
            <a:r>
              <a:rPr lang="es-MX" sz="3200" dirty="0" err="1">
                <a:solidFill>
                  <a:srgbClr val="0070C0"/>
                </a:solidFill>
                <a:latin typeface="Consolas" panose="020B0609020204030204" pitchFamily="49" charset="0"/>
                <a:cs typeface="Arial"/>
              </a:rPr>
              <a:t>Process</a:t>
            </a:r>
            <a:r>
              <a:rPr lang="es-MX" sz="3200" dirty="0">
                <a:solidFill>
                  <a:srgbClr val="0070C0"/>
                </a:solidFill>
                <a:latin typeface="Consolas" panose="020B0609020204030204" pitchFamily="49" charset="0"/>
                <a:cs typeface="Arial"/>
              </a:rPr>
              <a:t> (MRP)</a:t>
            </a:r>
          </a:p>
          <a:p>
            <a:endParaRPr lang="es-MX" sz="3200" dirty="0">
              <a:solidFill>
                <a:srgbClr val="0070C0"/>
              </a:solidFill>
              <a:latin typeface="Consolas" panose="020B0609020204030204" pitchFamily="49" charset="0"/>
              <a:cs typeface="Arial"/>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F84BFA3-B48A-6DC7-5ED4-924D2092AC36}"/>
                  </a:ext>
                </a:extLst>
              </p:cNvPr>
              <p:cNvSpPr txBox="1"/>
              <p:nvPr/>
            </p:nvSpPr>
            <p:spPr>
              <a:xfrm>
                <a:off x="745435" y="724585"/>
                <a:ext cx="7368551" cy="6247864"/>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A</a:t>
                </a:r>
                <a:r>
                  <a:rPr lang="es-ES" sz="2000" spc="-10" dirty="0">
                    <a:latin typeface="Consolas" panose="020B0609020204030204" pitchFamily="49" charset="0"/>
                    <a:cs typeface="Arial MT"/>
                  </a:rPr>
                  <a:t>ÑADIR </a:t>
                </a:r>
                <a:r>
                  <a:rPr lang="es-CO" sz="2000" spc="-10" dirty="0">
                    <a:latin typeface="Consolas" panose="020B0609020204030204" pitchFamily="49" charset="0"/>
                    <a:cs typeface="Arial MT"/>
                  </a:rPr>
                  <a:t>ACCIONES:</a:t>
                </a:r>
              </a:p>
              <a:p>
                <a:pPr algn="just"/>
                <a:endParaRPr lang="es-CO" sz="2000" spc="-10" dirty="0">
                  <a:latin typeface="Consolas" panose="020B0609020204030204" pitchFamily="49" charset="0"/>
                  <a:cs typeface="Arial MT"/>
                </a:endParaRPr>
              </a:p>
              <a:p>
                <a:pPr algn="just"/>
                <a:r>
                  <a:rPr lang="es-CO" sz="2000" dirty="0">
                    <a:latin typeface="Consolas" panose="020B0609020204030204" pitchFamily="49" charset="0"/>
                  </a:rPr>
                  <a:t>Debemos añadir un conjunto de acciones (</a:t>
                </a:r>
                <a14:m>
                  <m:oMath xmlns:m="http://schemas.openxmlformats.org/officeDocument/2006/math">
                    <m:r>
                      <a:rPr lang="es-CO" i="1"/>
                      <m:t>𝐴</m:t>
                    </m:r>
                  </m:oMath>
                </a14:m>
                <a:r>
                  <a:rPr lang="es-CO" sz="2000" dirty="0">
                    <a:latin typeface="Consolas" panose="020B0609020204030204" pitchFamily="49" charset="0"/>
                  </a:rPr>
                  <a:t>), que debe ser finito. </a:t>
                </a:r>
              </a:p>
              <a:p>
                <a:pPr algn="just"/>
                <a:r>
                  <a:rPr lang="es-CO" sz="2000" dirty="0">
                    <a:latin typeface="Consolas" panose="020B0609020204030204" pitchFamily="49" charset="0"/>
                  </a:rPr>
                  <a:t>Este es el </a:t>
                </a:r>
                <a:r>
                  <a:rPr lang="es-CO" sz="2000" b="1" dirty="0">
                    <a:latin typeface="Consolas" panose="020B0609020204030204" pitchFamily="49" charset="0"/>
                  </a:rPr>
                  <a:t>espacio de acciones</a:t>
                </a:r>
                <a:r>
                  <a:rPr lang="es-CO" sz="2000" dirty="0">
                    <a:latin typeface="Consolas" panose="020B0609020204030204" pitchFamily="49" charset="0"/>
                  </a:rPr>
                  <a:t> de nuestro agente. </a:t>
                </a:r>
              </a:p>
              <a:p>
                <a:pPr algn="just"/>
                <a:endParaRPr lang="es-CO" sz="2000" dirty="0">
                  <a:latin typeface="Consolas" panose="020B0609020204030204" pitchFamily="49" charset="0"/>
                </a:endParaRPr>
              </a:p>
              <a:p>
                <a:pPr algn="just"/>
                <a:r>
                  <a:rPr lang="es-CO" sz="2000" dirty="0">
                    <a:latin typeface="Consolas" panose="020B0609020204030204" pitchFamily="49" charset="0"/>
                  </a:rPr>
                  <a:t>En segundo lugar, necesitamos condicionar nuestra matriz de transición con acciones, lo que básicamente significa que nuestra matriz necesita una dimensión extra de acción, lo cual la convierte en un cubo.</a:t>
                </a:r>
              </a:p>
              <a:p>
                <a:pPr algn="just"/>
                <a:endParaRPr lang="es-CO" sz="2000" dirty="0">
                  <a:latin typeface="Consolas" panose="020B0609020204030204" pitchFamily="49" charset="0"/>
                </a:endParaRPr>
              </a:p>
              <a:p>
                <a:pPr algn="just"/>
                <a:r>
                  <a:rPr lang="es-CO" sz="2000" dirty="0">
                    <a:latin typeface="Consolas" panose="020B0609020204030204" pitchFamily="49" charset="0"/>
                  </a:rPr>
                  <a:t>La matriz de transición tenía una forma cuadrada, con el estado de origen en las filas y el estado objetivo en las columnas. Entonces, cada fila, </a:t>
                </a:r>
                <a14:m>
                  <m:oMath xmlns:m="http://schemas.openxmlformats.org/officeDocument/2006/math">
                    <m:r>
                      <a:rPr lang="es-CO" i="1"/>
                      <m:t>𝑖</m:t>
                    </m:r>
                  </m:oMath>
                </a14:m>
                <a:r>
                  <a:rPr lang="es-CO" sz="2000" dirty="0">
                    <a:latin typeface="Consolas" panose="020B0609020204030204" pitchFamily="49" charset="0"/>
                  </a:rPr>
                  <a:t>, contenía una lista de probabilidades de saltar a cada estado:</a:t>
                </a:r>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mc:Choice>
        <mc:Fallback>
          <p:sp>
            <p:nvSpPr>
              <p:cNvPr id="7" name="TextBox 6">
                <a:extLst>
                  <a:ext uri="{FF2B5EF4-FFF2-40B4-BE49-F238E27FC236}">
                    <a16:creationId xmlns:a16="http://schemas.microsoft.com/office/drawing/2014/main" id="{2F84BFA3-B48A-6DC7-5ED4-924D2092AC36}"/>
                  </a:ext>
                </a:extLst>
              </p:cNvPr>
              <p:cNvSpPr txBox="1">
                <a:spLocks noRot="1" noChangeAspect="1" noMove="1" noResize="1" noEditPoints="1" noAdjustHandles="1" noChangeArrowheads="1" noChangeShapeType="1" noTextEdit="1"/>
              </p:cNvSpPr>
              <p:nvPr/>
            </p:nvSpPr>
            <p:spPr>
              <a:xfrm>
                <a:off x="745435" y="724585"/>
                <a:ext cx="7368551" cy="6247864"/>
              </a:xfrm>
              <a:prstGeom prst="rect">
                <a:avLst/>
              </a:prstGeom>
              <a:blipFill>
                <a:blip r:embed="rId3"/>
                <a:stretch>
                  <a:fillRect l="-827" r="-910"/>
                </a:stretch>
              </a:blipFill>
            </p:spPr>
            <p:txBody>
              <a:bodyPr/>
              <a:lstStyle/>
              <a:p>
                <a:r>
                  <a:rPr lang="es-CO">
                    <a:noFill/>
                  </a:rPr>
                  <a:t> </a:t>
                </a:r>
              </a:p>
            </p:txBody>
          </p:sp>
        </mc:Fallback>
      </mc:AlternateContent>
      <p:pic>
        <p:nvPicPr>
          <p:cNvPr id="3" name="Picture 2">
            <a:extLst>
              <a:ext uri="{FF2B5EF4-FFF2-40B4-BE49-F238E27FC236}">
                <a16:creationId xmlns:a16="http://schemas.microsoft.com/office/drawing/2014/main" id="{AEF2D21F-0D7A-2E74-ACDB-FE4201AFFBBC}"/>
              </a:ext>
            </a:extLst>
          </p:cNvPr>
          <p:cNvPicPr>
            <a:picLocks noChangeAspect="1"/>
          </p:cNvPicPr>
          <p:nvPr/>
        </p:nvPicPr>
        <p:blipFill>
          <a:blip r:embed="rId4"/>
          <a:stretch>
            <a:fillRect/>
          </a:stretch>
        </p:blipFill>
        <p:spPr>
          <a:xfrm>
            <a:off x="8113986" y="2649596"/>
            <a:ext cx="3812292" cy="2779796"/>
          </a:xfrm>
          <a:prstGeom prst="rect">
            <a:avLst/>
          </a:prstGeom>
        </p:spPr>
      </p:pic>
    </p:spTree>
    <p:extLst>
      <p:ext uri="{BB962C8B-B14F-4D97-AF65-F5344CB8AC3E}">
        <p14:creationId xmlns:p14="http://schemas.microsoft.com/office/powerpoint/2010/main" val="42169427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7DCCDF-FF11-3C3E-50CE-85AEBE813E5E}"/>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7C665E8E-2957-340F-57C2-E7B6984A4190}"/>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a:solidFill>
                  <a:srgbClr val="0070C0"/>
                </a:solidFill>
                <a:latin typeface="Consolas" panose="020B0609020204030204" pitchFamily="49" charset="0"/>
                <a:cs typeface="Arial"/>
              </a:rPr>
              <a:t>Markov Reward Process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90BA3F6A-1F9E-5D24-4483-E16216BEBCD1}"/>
              </a:ext>
            </a:extLst>
          </p:cNvPr>
          <p:cNvSpPr txBox="1"/>
          <p:nvPr/>
        </p:nvSpPr>
        <p:spPr>
          <a:xfrm>
            <a:off x="745435" y="724585"/>
            <a:ext cx="10936813" cy="3170099"/>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A</a:t>
            </a:r>
            <a:r>
              <a:rPr lang="es-ES" sz="2000" spc="-10" dirty="0">
                <a:latin typeface="Consolas" panose="020B0609020204030204" pitchFamily="49" charset="0"/>
                <a:cs typeface="Arial MT"/>
              </a:rPr>
              <a:t>ÑADIR </a:t>
            </a:r>
            <a:r>
              <a:rPr lang="es-CO" sz="2000" spc="-10" dirty="0">
                <a:latin typeface="Consolas" panose="020B0609020204030204" pitchFamily="49" charset="0"/>
                <a:cs typeface="Arial MT"/>
              </a:rPr>
              <a:t>ACCIONES:</a:t>
            </a:r>
          </a:p>
          <a:p>
            <a:pPr algn="just"/>
            <a:endParaRPr lang="es-CO" sz="2000" spc="-10" dirty="0">
              <a:latin typeface="Consolas" panose="020B0609020204030204" pitchFamily="49" charset="0"/>
              <a:cs typeface="Arial MT"/>
            </a:endParaRPr>
          </a:p>
          <a:p>
            <a:pPr algn="just"/>
            <a:r>
              <a:rPr lang="es-CO" sz="2000" dirty="0">
                <a:latin typeface="Consolas" panose="020B0609020204030204" pitchFamily="49" charset="0"/>
              </a:rPr>
              <a:t>Ahora el agente ya no observa pasivamente transiciones de estado, sino que puede elegir activamente una acción a realizar en cada transición de estado. Entonces, para cada estado de origen, no tenemos una lista de números, sino una matriz, donde la </a:t>
            </a:r>
            <a:r>
              <a:rPr lang="es-CO" sz="2000" b="1" dirty="0">
                <a:latin typeface="Consolas" panose="020B0609020204030204" pitchFamily="49" charset="0"/>
              </a:rPr>
              <a:t>dimensión de profundidad</a:t>
            </a:r>
            <a:r>
              <a:rPr lang="es-CO" sz="2000" dirty="0">
                <a:latin typeface="Consolas" panose="020B0609020204030204" pitchFamily="49" charset="0"/>
              </a:rPr>
              <a:t> contiene las acciones que el agente puede tomar, y la otra dimensión es a qué estado objetivo saltará el sistema después de que el agente ejecute las acciones.</a:t>
            </a:r>
            <a:endParaRPr lang="es-CO" sz="2000" spc="-10" dirty="0">
              <a:latin typeface="Consolas" panose="020B0609020204030204" pitchFamily="49" charset="0"/>
              <a:cs typeface="Arial MT"/>
            </a:endParaRPr>
          </a:p>
        </p:txBody>
      </p:sp>
      <p:pic>
        <p:nvPicPr>
          <p:cNvPr id="5" name="Picture 4">
            <a:extLst>
              <a:ext uri="{FF2B5EF4-FFF2-40B4-BE49-F238E27FC236}">
                <a16:creationId xmlns:a16="http://schemas.microsoft.com/office/drawing/2014/main" id="{FFFB09DA-C735-93F9-27FF-37DC8B62024A}"/>
              </a:ext>
            </a:extLst>
          </p:cNvPr>
          <p:cNvPicPr>
            <a:picLocks noChangeAspect="1"/>
          </p:cNvPicPr>
          <p:nvPr/>
        </p:nvPicPr>
        <p:blipFill>
          <a:blip r:embed="rId3"/>
          <a:stretch>
            <a:fillRect/>
          </a:stretch>
        </p:blipFill>
        <p:spPr>
          <a:xfrm>
            <a:off x="2318385" y="3894684"/>
            <a:ext cx="7790911" cy="2883365"/>
          </a:xfrm>
          <a:prstGeom prst="rect">
            <a:avLst/>
          </a:prstGeom>
        </p:spPr>
      </p:pic>
    </p:spTree>
    <p:extLst>
      <p:ext uri="{BB962C8B-B14F-4D97-AF65-F5344CB8AC3E}">
        <p14:creationId xmlns:p14="http://schemas.microsoft.com/office/powerpoint/2010/main" val="1483477095"/>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8C9D71-9A4E-1E40-0B53-C4EAD03B5441}"/>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8A3E414E-C8CA-5A9E-225B-9D517BD9F135}"/>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a:solidFill>
                  <a:srgbClr val="0070C0"/>
                </a:solidFill>
                <a:latin typeface="Consolas" panose="020B0609020204030204" pitchFamily="49" charset="0"/>
                <a:cs typeface="Arial"/>
              </a:rPr>
              <a:t>Markov Reward Process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290B1C26-467C-BF82-5E34-7D2AADFFA42C}"/>
              </a:ext>
            </a:extLst>
          </p:cNvPr>
          <p:cNvSpPr txBox="1"/>
          <p:nvPr/>
        </p:nvSpPr>
        <p:spPr>
          <a:xfrm>
            <a:off x="745435" y="724585"/>
            <a:ext cx="11094468" cy="2862322"/>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r>
              <a:rPr lang="es-CO" sz="2000" spc="-10" dirty="0">
                <a:latin typeface="Consolas" panose="020B0609020204030204" pitchFamily="49" charset="0"/>
                <a:cs typeface="Arial MT"/>
              </a:rPr>
              <a:t>A</a:t>
            </a:r>
            <a:r>
              <a:rPr lang="es-ES" sz="2000" spc="-10" dirty="0">
                <a:latin typeface="Consolas" panose="020B0609020204030204" pitchFamily="49" charset="0"/>
                <a:cs typeface="Arial MT"/>
              </a:rPr>
              <a:t>ÑADIR </a:t>
            </a:r>
            <a:r>
              <a:rPr lang="es-CO" sz="2000" spc="-10" dirty="0">
                <a:latin typeface="Consolas" panose="020B0609020204030204" pitchFamily="49" charset="0"/>
                <a:cs typeface="Arial MT"/>
              </a:rPr>
              <a:t>ACCIONES:</a:t>
            </a:r>
          </a:p>
          <a:p>
            <a:pPr algn="just"/>
            <a:r>
              <a:rPr lang="es-CO" sz="2000" dirty="0">
                <a:latin typeface="Consolas" panose="020B0609020204030204" pitchFamily="49" charset="0"/>
              </a:rPr>
              <a:t>En la siguiente ilustración, se muestra una pequeña parte de un diagrama de transición, mostrando las posibles transiciones desde el estado (1, 1, arriba), cuando el robot está en el centro de la cuadrícula y mirando hacia arriba. Si el robot intenta avanzar, hay un 90% de probabilidad de que termine en el estado (0, 1, arriba), pero hay un 10% de probabilidad de que las ruedas patinen y la posición objetivo permanezca en (1, 1, arriba).</a:t>
            </a:r>
            <a:endParaRPr lang="es-CO" sz="2000" spc="-10" dirty="0">
              <a:latin typeface="Consolas" panose="020B0609020204030204" pitchFamily="49" charset="0"/>
              <a:cs typeface="Arial MT"/>
            </a:endParaRPr>
          </a:p>
        </p:txBody>
      </p:sp>
      <p:pic>
        <p:nvPicPr>
          <p:cNvPr id="3" name="Picture 2">
            <a:extLst>
              <a:ext uri="{FF2B5EF4-FFF2-40B4-BE49-F238E27FC236}">
                <a16:creationId xmlns:a16="http://schemas.microsoft.com/office/drawing/2014/main" id="{4F21B16D-819D-B511-25CC-E7B2D541AF45}"/>
              </a:ext>
            </a:extLst>
          </p:cNvPr>
          <p:cNvPicPr>
            <a:picLocks noChangeAspect="1"/>
          </p:cNvPicPr>
          <p:nvPr/>
        </p:nvPicPr>
        <p:blipFill>
          <a:blip r:embed="rId3"/>
          <a:stretch>
            <a:fillRect/>
          </a:stretch>
        </p:blipFill>
        <p:spPr>
          <a:xfrm>
            <a:off x="2514830" y="3710315"/>
            <a:ext cx="7162340" cy="2862322"/>
          </a:xfrm>
          <a:prstGeom prst="rect">
            <a:avLst/>
          </a:prstGeom>
        </p:spPr>
      </p:pic>
    </p:spTree>
    <p:extLst>
      <p:ext uri="{BB962C8B-B14F-4D97-AF65-F5344CB8AC3E}">
        <p14:creationId xmlns:p14="http://schemas.microsoft.com/office/powerpoint/2010/main" val="142851652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CE0B26-91DB-BDD6-E4FC-ECDECDD5189B}"/>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A0E03FA1-9B46-BA2A-4046-872594FC12E9}"/>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a:solidFill>
                  <a:srgbClr val="0070C0"/>
                </a:solidFill>
                <a:latin typeface="Consolas" panose="020B0609020204030204" pitchFamily="49" charset="0"/>
                <a:cs typeface="Arial"/>
              </a:rPr>
              <a:t>Markov Reward Process (MRP)</a:t>
            </a: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AF11725E-D565-3982-E60E-EC6AB07A487F}"/>
              </a:ext>
            </a:extLst>
          </p:cNvPr>
          <p:cNvSpPr txBox="1"/>
          <p:nvPr/>
        </p:nvSpPr>
        <p:spPr>
          <a:xfrm>
            <a:off x="745436" y="724585"/>
            <a:ext cx="10701130" cy="4401205"/>
          </a:xfrm>
          <a:prstGeom prst="rect">
            <a:avLst/>
          </a:prstGeom>
          <a:noFill/>
        </p:spPr>
        <p:txBody>
          <a:bodyPr wrap="square">
            <a:spAutoFit/>
          </a:bodyPr>
          <a:lstStyle/>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a:p>
            <a:pPr algn="just"/>
            <a:r>
              <a:rPr lang="es-ES" sz="2000" spc="-10" dirty="0">
                <a:latin typeface="Consolas" panose="020B0609020204030204" pitchFamily="49" charset="0"/>
                <a:cs typeface="Arial MT"/>
              </a:rPr>
              <a:t>POLITICA</a:t>
            </a:r>
            <a:r>
              <a:rPr lang="es-CO" sz="2000" spc="-10" dirty="0">
                <a:latin typeface="Consolas" panose="020B0609020204030204" pitchFamily="49" charset="0"/>
                <a:cs typeface="Arial MT"/>
              </a:rPr>
              <a:t>:</a:t>
            </a:r>
          </a:p>
          <a:p>
            <a:pPr algn="just"/>
            <a:r>
              <a:rPr lang="es-CO" sz="2000" dirty="0">
                <a:latin typeface="Consolas" panose="020B0609020204030204" pitchFamily="49" charset="0"/>
              </a:rPr>
              <a:t>La definición simple de política es que es un </a:t>
            </a:r>
            <a:r>
              <a:rPr lang="es-CO" sz="2000" b="1" dirty="0">
                <a:latin typeface="Consolas" panose="020B0609020204030204" pitchFamily="49" charset="0"/>
              </a:rPr>
              <a:t>conjunto de reglas que controla el comportamiento del agente</a:t>
            </a:r>
            <a:r>
              <a:rPr lang="es-CO" sz="2000" dirty="0">
                <a:latin typeface="Consolas" panose="020B0609020204030204" pitchFamily="49" charset="0"/>
              </a:rPr>
              <a:t>. Incluso para entornos bastante simples, podemos tener una variedad de políticas. </a:t>
            </a:r>
          </a:p>
          <a:p>
            <a:pPr algn="just"/>
            <a:endParaRPr lang="es-CO" sz="2000" dirty="0">
              <a:latin typeface="Consolas" panose="020B0609020204030204" pitchFamily="49" charset="0"/>
            </a:endParaRPr>
          </a:p>
          <a:p>
            <a:pPr algn="just"/>
            <a:r>
              <a:rPr lang="es-CO" sz="2000" dirty="0">
                <a:latin typeface="Consolas" panose="020B0609020204030204" pitchFamily="49" charset="0"/>
              </a:rPr>
              <a:t>Puedes recordar que el principal objetivo del agente en RL es obtener la mayor cantidad de retorno posible. Entonces, nuevamente, diferentes políticas pueden darnos diferentes cantidades de retorno, lo que hace importante encontrar una buena política. Por esto la noción de política es importante.</a:t>
            </a:r>
          </a:p>
          <a:p>
            <a:pPr algn="just"/>
            <a:endParaRPr lang="es-CO" sz="2000" spc="-10" dirty="0">
              <a:latin typeface="Consolas" panose="020B0609020204030204" pitchFamily="49" charset="0"/>
              <a:cs typeface="Arial MT"/>
            </a:endParaRPr>
          </a:p>
          <a:p>
            <a:pPr algn="just"/>
            <a:endParaRPr lang="es-CO" sz="2000" spc="-10" dirty="0">
              <a:latin typeface="Consolas" panose="020B0609020204030204" pitchFamily="49" charset="0"/>
              <a:cs typeface="Arial MT"/>
            </a:endParaRPr>
          </a:p>
        </p:txBody>
      </p:sp>
    </p:spTree>
    <p:extLst>
      <p:ext uri="{BB962C8B-B14F-4D97-AF65-F5344CB8AC3E}">
        <p14:creationId xmlns:p14="http://schemas.microsoft.com/office/powerpoint/2010/main" val="3265597130"/>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205615-5F02-BABE-1AB2-33A5CBB3A9FA}"/>
            </a:ext>
          </a:extLst>
        </p:cNvPr>
        <p:cNvGrpSpPr/>
        <p:nvPr/>
      </p:nvGrpSpPr>
      <p:grpSpPr>
        <a:xfrm>
          <a:off x="0" y="0"/>
          <a:ext cx="0" cy="0"/>
          <a:chOff x="0" y="0"/>
          <a:chExt cx="0" cy="0"/>
        </a:xfrm>
      </p:grpSpPr>
      <p:sp>
        <p:nvSpPr>
          <p:cNvPr id="2" name="Title 3">
            <a:extLst>
              <a:ext uri="{FF2B5EF4-FFF2-40B4-BE49-F238E27FC236}">
                <a16:creationId xmlns:a16="http://schemas.microsoft.com/office/drawing/2014/main" id="{D7A48986-CBD5-7438-5FFE-2709442B360C}"/>
              </a:ext>
            </a:extLst>
          </p:cNvPr>
          <p:cNvSpPr>
            <a:spLocks noGrp="1"/>
          </p:cNvSpPr>
          <p:nvPr>
            <p:ph type="title"/>
          </p:nvPr>
        </p:nvSpPr>
        <p:spPr>
          <a:xfrm>
            <a:off x="1297022" y="3429000"/>
            <a:ext cx="8712658" cy="709747"/>
          </a:xfrm>
        </p:spPr>
        <p:txBody>
          <a:bodyPr>
            <a:normAutofit/>
          </a:bodyPr>
          <a:lstStyle/>
          <a:p>
            <a:r>
              <a:rPr lang="es-ES_tradnl" dirty="0">
                <a:solidFill>
                  <a:srgbClr val="0070C0"/>
                </a:solidFill>
                <a:latin typeface="Consolas" panose="020B0609020204030204" pitchFamily="49" charset="0"/>
              </a:rPr>
              <a:t>Q-LEARNING</a:t>
            </a:r>
            <a:endParaRPr lang="es-ES_tradnl" dirty="0">
              <a:solidFill>
                <a:srgbClr val="0070C0"/>
              </a:solidFill>
            </a:endParaRPr>
          </a:p>
        </p:txBody>
      </p:sp>
    </p:spTree>
    <p:extLst>
      <p:ext uri="{BB962C8B-B14F-4D97-AF65-F5344CB8AC3E}">
        <p14:creationId xmlns:p14="http://schemas.microsoft.com/office/powerpoint/2010/main" val="2639816603"/>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85B780-384B-EA93-71D2-39EDBF20C233}"/>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4CD7DDC0-0BBA-485B-D3C5-13ABDED3FBDC}"/>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sp>
        <p:nvSpPr>
          <p:cNvPr id="7" name="TextBox 6">
            <a:extLst>
              <a:ext uri="{FF2B5EF4-FFF2-40B4-BE49-F238E27FC236}">
                <a16:creationId xmlns:a16="http://schemas.microsoft.com/office/drawing/2014/main" id="{9AAC9A29-A500-2CF1-9666-B8166AD61680}"/>
              </a:ext>
            </a:extLst>
          </p:cNvPr>
          <p:cNvSpPr txBox="1"/>
          <p:nvPr/>
        </p:nvSpPr>
        <p:spPr>
          <a:xfrm>
            <a:off x="745435" y="2173367"/>
            <a:ext cx="6919389" cy="2862322"/>
          </a:xfrm>
          <a:prstGeom prst="rect">
            <a:avLst/>
          </a:prstGeom>
          <a:noFill/>
        </p:spPr>
        <p:txBody>
          <a:bodyPr wrap="square">
            <a:spAutoFit/>
          </a:bodyPr>
          <a:lstStyle/>
          <a:p>
            <a:pPr algn="just"/>
            <a:r>
              <a:rPr lang="es-CO" sz="2000" spc="-10" dirty="0">
                <a:latin typeface="Consolas" panose="020B0609020204030204" pitchFamily="49" charset="0"/>
                <a:cs typeface="Arial MT"/>
              </a:rPr>
              <a:t>Es </a:t>
            </a:r>
            <a:r>
              <a:rPr lang="es-CO" sz="2000" dirty="0">
                <a:latin typeface="Consolas" panose="020B0609020204030204" pitchFamily="49" charset="0"/>
                <a:cs typeface="Arial MT"/>
              </a:rPr>
              <a:t>un</a:t>
            </a:r>
            <a:r>
              <a:rPr lang="es-CO" sz="2000" spc="365" dirty="0">
                <a:latin typeface="Consolas" panose="020B0609020204030204" pitchFamily="49" charset="0"/>
                <a:cs typeface="Arial MT"/>
              </a:rPr>
              <a:t>  </a:t>
            </a:r>
            <a:r>
              <a:rPr lang="es-CO" sz="2000" dirty="0">
                <a:latin typeface="Consolas" panose="020B0609020204030204" pitchFamily="49" charset="0"/>
                <a:cs typeface="Arial MT"/>
              </a:rPr>
              <a:t>algoritmo</a:t>
            </a:r>
            <a:r>
              <a:rPr lang="es-CO" sz="2000" spc="370" dirty="0">
                <a:latin typeface="Consolas" panose="020B0609020204030204" pitchFamily="49" charset="0"/>
                <a:cs typeface="Arial MT"/>
              </a:rPr>
              <a:t>  </a:t>
            </a:r>
            <a:r>
              <a:rPr lang="es-CO" sz="2000" spc="-25" dirty="0">
                <a:latin typeface="Consolas" panose="020B0609020204030204" pitchFamily="49" charset="0"/>
                <a:cs typeface="Arial MT"/>
              </a:rPr>
              <a:t>de </a:t>
            </a:r>
            <a:r>
              <a:rPr lang="es-CO" sz="2000" dirty="0">
                <a:latin typeface="Consolas" panose="020B0609020204030204" pitchFamily="49" charset="0"/>
                <a:cs typeface="Arial MT"/>
              </a:rPr>
              <a:t>aprendizaje</a:t>
            </a:r>
            <a:r>
              <a:rPr lang="es-CO" sz="2000" spc="285" dirty="0">
                <a:latin typeface="Consolas" panose="020B0609020204030204" pitchFamily="49" charset="0"/>
                <a:cs typeface="Arial MT"/>
              </a:rPr>
              <a:t>   </a:t>
            </a:r>
            <a:r>
              <a:rPr lang="es-CO" sz="2000" dirty="0">
                <a:latin typeface="Consolas" panose="020B0609020204030204" pitchFamily="49" charset="0"/>
                <a:cs typeface="Arial MT"/>
              </a:rPr>
              <a:t>por</a:t>
            </a:r>
            <a:r>
              <a:rPr lang="es-CO" sz="2000" spc="285" dirty="0">
                <a:latin typeface="Consolas" panose="020B0609020204030204" pitchFamily="49" charset="0"/>
                <a:cs typeface="Arial MT"/>
              </a:rPr>
              <a:t>   </a:t>
            </a:r>
            <a:r>
              <a:rPr lang="es-CO" sz="2000" dirty="0">
                <a:latin typeface="Consolas" panose="020B0609020204030204" pitchFamily="49" charset="0"/>
                <a:cs typeface="Arial MT"/>
              </a:rPr>
              <a:t>refuerzo</a:t>
            </a:r>
            <a:r>
              <a:rPr lang="es-CO" sz="2000" spc="290" dirty="0">
                <a:latin typeface="Consolas" panose="020B0609020204030204" pitchFamily="49" charset="0"/>
                <a:cs typeface="Arial MT"/>
              </a:rPr>
              <a:t>   </a:t>
            </a:r>
            <a:r>
              <a:rPr lang="es-CO" sz="2000" spc="-25" dirty="0">
                <a:latin typeface="Consolas" panose="020B0609020204030204" pitchFamily="49" charset="0"/>
                <a:cs typeface="Arial MT"/>
              </a:rPr>
              <a:t>que </a:t>
            </a:r>
            <a:r>
              <a:rPr lang="es-CO" sz="2000" dirty="0">
                <a:latin typeface="Consolas" panose="020B0609020204030204" pitchFamily="49" charset="0"/>
                <a:cs typeface="Arial MT"/>
              </a:rPr>
              <a:t>permite</a:t>
            </a:r>
            <a:r>
              <a:rPr lang="es-CO" sz="2000" spc="70"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70" dirty="0">
                <a:latin typeface="Consolas" panose="020B0609020204030204" pitchFamily="49" charset="0"/>
                <a:cs typeface="Arial MT"/>
              </a:rPr>
              <a:t>  </a:t>
            </a:r>
            <a:r>
              <a:rPr lang="es-CO" sz="2000" dirty="0">
                <a:latin typeface="Consolas" panose="020B0609020204030204" pitchFamily="49" charset="0"/>
                <a:cs typeface="Arial MT"/>
              </a:rPr>
              <a:t>un</a:t>
            </a:r>
            <a:r>
              <a:rPr lang="es-CO" sz="2000" spc="70" dirty="0">
                <a:latin typeface="Consolas" panose="020B0609020204030204" pitchFamily="49" charset="0"/>
                <a:cs typeface="Arial MT"/>
              </a:rPr>
              <a:t>  </a:t>
            </a:r>
            <a:r>
              <a:rPr lang="es-CO" sz="2000" dirty="0">
                <a:latin typeface="Consolas" panose="020B0609020204030204" pitchFamily="49" charset="0"/>
                <a:cs typeface="Arial MT"/>
              </a:rPr>
              <a:t>agente</a:t>
            </a:r>
            <a:r>
              <a:rPr lang="es-CO" sz="2000" spc="75" dirty="0">
                <a:latin typeface="Consolas" panose="020B0609020204030204" pitchFamily="49" charset="0"/>
                <a:cs typeface="Arial MT"/>
              </a:rPr>
              <a:t>  </a:t>
            </a:r>
            <a:r>
              <a:rPr lang="es-CO" sz="2000" dirty="0">
                <a:latin typeface="Consolas" panose="020B0609020204030204" pitchFamily="49" charset="0"/>
                <a:cs typeface="Arial MT"/>
              </a:rPr>
              <a:t>aprender</a:t>
            </a:r>
            <a:r>
              <a:rPr lang="es-CO" sz="2000" spc="75" dirty="0">
                <a:latin typeface="Consolas" panose="020B0609020204030204" pitchFamily="49" charset="0"/>
                <a:cs typeface="Arial MT"/>
              </a:rPr>
              <a:t>  </a:t>
            </a:r>
            <a:r>
              <a:rPr lang="es-CO" sz="2000" spc="-50" dirty="0">
                <a:latin typeface="Consolas" panose="020B0609020204030204" pitchFamily="49" charset="0"/>
                <a:cs typeface="Arial MT"/>
              </a:rPr>
              <a:t>a </a:t>
            </a:r>
            <a:r>
              <a:rPr lang="es-CO" sz="2000" dirty="0">
                <a:latin typeface="Consolas" panose="020B0609020204030204" pitchFamily="49" charset="0"/>
                <a:cs typeface="Arial MT"/>
              </a:rPr>
              <a:t>tomar</a:t>
            </a:r>
            <a:r>
              <a:rPr lang="es-CO" sz="2000" spc="135" dirty="0">
                <a:latin typeface="Consolas" panose="020B0609020204030204" pitchFamily="49" charset="0"/>
                <a:cs typeface="Arial MT"/>
              </a:rPr>
              <a:t> </a:t>
            </a:r>
            <a:r>
              <a:rPr lang="es-CO" sz="2000" dirty="0">
                <a:latin typeface="Consolas" panose="020B0609020204030204" pitchFamily="49" charset="0"/>
                <a:cs typeface="Arial MT"/>
              </a:rPr>
              <a:t>decisiones</a:t>
            </a:r>
            <a:r>
              <a:rPr lang="es-CO" sz="2000" spc="14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140" dirty="0">
                <a:latin typeface="Consolas" panose="020B0609020204030204" pitchFamily="49" charset="0"/>
                <a:cs typeface="Arial MT"/>
              </a:rPr>
              <a:t> </a:t>
            </a:r>
            <a:r>
              <a:rPr lang="es-CO" sz="2000" dirty="0">
                <a:latin typeface="Consolas" panose="020B0609020204030204" pitchFamily="49" charset="0"/>
                <a:cs typeface="Arial MT"/>
              </a:rPr>
              <a:t>un</a:t>
            </a:r>
            <a:r>
              <a:rPr lang="es-CO" sz="2000" spc="145" dirty="0">
                <a:latin typeface="Consolas" panose="020B0609020204030204" pitchFamily="49" charset="0"/>
                <a:cs typeface="Arial MT"/>
              </a:rPr>
              <a:t> </a:t>
            </a:r>
            <a:r>
              <a:rPr lang="es-CO" sz="2000" dirty="0">
                <a:latin typeface="Consolas" panose="020B0609020204030204" pitchFamily="49" charset="0"/>
                <a:cs typeface="Arial MT"/>
              </a:rPr>
              <a:t>entorno</a:t>
            </a:r>
            <a:r>
              <a:rPr lang="es-CO" sz="2000" spc="135" dirty="0">
                <a:latin typeface="Consolas" panose="020B0609020204030204" pitchFamily="49" charset="0"/>
                <a:cs typeface="Arial MT"/>
              </a:rPr>
              <a:t> </a:t>
            </a:r>
            <a:r>
              <a:rPr lang="es-CO" sz="2000" spc="-25" dirty="0">
                <a:latin typeface="Consolas" panose="020B0609020204030204" pitchFamily="49" charset="0"/>
                <a:cs typeface="Arial MT"/>
              </a:rPr>
              <a:t>de </a:t>
            </a:r>
            <a:r>
              <a:rPr lang="es-CO" sz="2000" dirty="0">
                <a:latin typeface="Consolas" panose="020B0609020204030204" pitchFamily="49" charset="0"/>
                <a:cs typeface="Arial MT"/>
              </a:rPr>
              <a:t>manera</a:t>
            </a:r>
            <a:r>
              <a:rPr lang="es-CO" sz="2000" spc="190" dirty="0">
                <a:latin typeface="Consolas" panose="020B0609020204030204" pitchFamily="49" charset="0"/>
                <a:cs typeface="Arial MT"/>
              </a:rPr>
              <a:t> </a:t>
            </a:r>
            <a:r>
              <a:rPr lang="es-CO" sz="2000" dirty="0">
                <a:latin typeface="Consolas" panose="020B0609020204030204" pitchFamily="49" charset="0"/>
                <a:cs typeface="Arial MT"/>
              </a:rPr>
              <a:t>óptima</a:t>
            </a:r>
            <a:r>
              <a:rPr lang="es-CO" sz="2000" spc="190"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204" dirty="0">
                <a:latin typeface="Consolas" panose="020B0609020204030204" pitchFamily="49" charset="0"/>
                <a:cs typeface="Arial MT"/>
              </a:rPr>
              <a:t> </a:t>
            </a:r>
            <a:r>
              <a:rPr lang="es-CO" sz="2000" dirty="0">
                <a:latin typeface="Consolas" panose="020B0609020204030204" pitchFamily="49" charset="0"/>
                <a:cs typeface="Arial MT"/>
              </a:rPr>
              <a:t>través</a:t>
            </a:r>
            <a:r>
              <a:rPr lang="es-CO" sz="2000" spc="19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195" dirty="0">
                <a:latin typeface="Consolas" panose="020B0609020204030204" pitchFamily="49" charset="0"/>
                <a:cs typeface="Arial MT"/>
              </a:rPr>
              <a:t> </a:t>
            </a:r>
            <a:r>
              <a:rPr lang="es-CO" sz="2000" spc="-10" dirty="0">
                <a:latin typeface="Consolas" panose="020B0609020204030204" pitchFamily="49" charset="0"/>
                <a:cs typeface="Arial MT"/>
              </a:rPr>
              <a:t>prueba </a:t>
            </a:r>
            <a:r>
              <a:rPr lang="es-CO" sz="2000" dirty="0">
                <a:latin typeface="Consolas" panose="020B0609020204030204" pitchFamily="49" charset="0"/>
                <a:cs typeface="Arial MT"/>
              </a:rPr>
              <a:t>y</a:t>
            </a:r>
            <a:r>
              <a:rPr lang="es-CO" sz="2000" spc="395" dirty="0">
                <a:latin typeface="Consolas" panose="020B0609020204030204" pitchFamily="49" charset="0"/>
                <a:cs typeface="Arial MT"/>
              </a:rPr>
              <a:t> </a:t>
            </a:r>
            <a:r>
              <a:rPr lang="es-CO" sz="2000" dirty="0">
                <a:latin typeface="Consolas" panose="020B0609020204030204" pitchFamily="49" charset="0"/>
                <a:cs typeface="Arial MT"/>
              </a:rPr>
              <a:t>error.</a:t>
            </a:r>
            <a:r>
              <a:rPr lang="es-CO" sz="2000" spc="395"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395" dirty="0">
                <a:latin typeface="Consolas" panose="020B0609020204030204" pitchFamily="49" charset="0"/>
                <a:cs typeface="Arial MT"/>
              </a:rPr>
              <a:t> </a:t>
            </a:r>
            <a:r>
              <a:rPr lang="es-CO" sz="2000" dirty="0">
                <a:latin typeface="Consolas" panose="020B0609020204030204" pitchFamily="49" charset="0"/>
                <a:cs typeface="Arial MT"/>
              </a:rPr>
              <a:t>particularmente</a:t>
            </a:r>
            <a:r>
              <a:rPr lang="es-CO" sz="2000" spc="409" dirty="0">
                <a:latin typeface="Consolas" panose="020B0609020204030204" pitchFamily="49" charset="0"/>
                <a:cs typeface="Arial MT"/>
              </a:rPr>
              <a:t> </a:t>
            </a:r>
            <a:r>
              <a:rPr lang="es-CO" sz="2000" dirty="0">
                <a:latin typeface="Consolas" panose="020B0609020204030204" pitchFamily="49" charset="0"/>
                <a:cs typeface="Arial MT"/>
              </a:rPr>
              <a:t>útil</a:t>
            </a:r>
            <a:r>
              <a:rPr lang="es-CO" sz="2000" spc="395" dirty="0">
                <a:latin typeface="Consolas" panose="020B0609020204030204" pitchFamily="49" charset="0"/>
                <a:cs typeface="Arial MT"/>
              </a:rPr>
              <a:t> </a:t>
            </a:r>
            <a:r>
              <a:rPr lang="es-CO" sz="2000" spc="-25" dirty="0">
                <a:latin typeface="Consolas" panose="020B0609020204030204" pitchFamily="49" charset="0"/>
                <a:cs typeface="Arial MT"/>
              </a:rPr>
              <a:t>en </a:t>
            </a:r>
            <a:r>
              <a:rPr lang="es-CO" sz="2000" dirty="0">
                <a:latin typeface="Consolas" panose="020B0609020204030204" pitchFamily="49" charset="0"/>
                <a:cs typeface="Arial MT"/>
              </a:rPr>
              <a:t>problemas</a:t>
            </a:r>
            <a:r>
              <a:rPr lang="es-CO" sz="2000" spc="8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80" dirty="0">
                <a:latin typeface="Consolas" panose="020B0609020204030204" pitchFamily="49" charset="0"/>
                <a:cs typeface="Arial MT"/>
              </a:rPr>
              <a:t>  </a:t>
            </a:r>
            <a:r>
              <a:rPr lang="es-CO" sz="2000" dirty="0">
                <a:latin typeface="Consolas" panose="020B0609020204030204" pitchFamily="49" charset="0"/>
                <a:cs typeface="Arial MT"/>
              </a:rPr>
              <a:t>los</a:t>
            </a:r>
            <a:r>
              <a:rPr lang="es-CO" sz="2000" spc="85"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80"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80" dirty="0">
                <a:latin typeface="Consolas" panose="020B0609020204030204" pitchFamily="49" charset="0"/>
                <a:cs typeface="Arial MT"/>
              </a:rPr>
              <a:t>  </a:t>
            </a:r>
            <a:r>
              <a:rPr lang="es-CO" sz="2000" spc="-10" dirty="0">
                <a:latin typeface="Consolas" panose="020B0609020204030204" pitchFamily="49" charset="0"/>
                <a:cs typeface="Arial MT"/>
              </a:rPr>
              <a:t>agente </a:t>
            </a:r>
            <a:r>
              <a:rPr lang="es-CO" sz="2000" dirty="0">
                <a:latin typeface="Consolas" panose="020B0609020204030204" pitchFamily="49" charset="0"/>
                <a:cs typeface="Arial MT"/>
              </a:rPr>
              <a:t>necesita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tomar</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una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secuencia</a:t>
            </a:r>
            <a:r>
              <a:rPr lang="es-CO" sz="2000" spc="-5" dirty="0">
                <a:latin typeface="Consolas" panose="020B0609020204030204" pitchFamily="49" charset="0"/>
                <a:cs typeface="Arial MT"/>
              </a:rPr>
              <a:t>  </a:t>
            </a:r>
            <a:r>
              <a:rPr lang="es-CO" sz="2000" spc="-25" dirty="0">
                <a:latin typeface="Consolas" panose="020B0609020204030204" pitchFamily="49" charset="0"/>
                <a:cs typeface="Arial MT"/>
              </a:rPr>
              <a:t>de </a:t>
            </a:r>
            <a:r>
              <a:rPr lang="es-CO" sz="2000" dirty="0">
                <a:latin typeface="Consolas" panose="020B0609020204030204" pitchFamily="49" charset="0"/>
                <a:cs typeface="Arial MT"/>
              </a:rPr>
              <a:t>acciones</a:t>
            </a:r>
            <a:r>
              <a:rPr lang="es-CO" sz="2000" spc="245" dirty="0">
                <a:latin typeface="Consolas" panose="020B0609020204030204" pitchFamily="49" charset="0"/>
                <a:cs typeface="Arial MT"/>
              </a:rPr>
              <a:t>   </a:t>
            </a:r>
            <a:r>
              <a:rPr lang="es-CO" sz="2000" dirty="0">
                <a:latin typeface="Consolas" panose="020B0609020204030204" pitchFamily="49" charset="0"/>
                <a:cs typeface="Arial MT"/>
              </a:rPr>
              <a:t>para</a:t>
            </a:r>
            <a:r>
              <a:rPr lang="es-CO" sz="2000" spc="245" dirty="0">
                <a:latin typeface="Consolas" panose="020B0609020204030204" pitchFamily="49" charset="0"/>
                <a:cs typeface="Arial MT"/>
              </a:rPr>
              <a:t>   </a:t>
            </a:r>
            <a:r>
              <a:rPr lang="es-CO" sz="2000" dirty="0">
                <a:latin typeface="Consolas" panose="020B0609020204030204" pitchFamily="49" charset="0"/>
                <a:cs typeface="Arial MT"/>
              </a:rPr>
              <a:t>maximizar</a:t>
            </a:r>
            <a:r>
              <a:rPr lang="es-CO" sz="2000" spc="245" dirty="0">
                <a:latin typeface="Consolas" panose="020B0609020204030204" pitchFamily="49" charset="0"/>
                <a:cs typeface="Arial MT"/>
              </a:rPr>
              <a:t>   </a:t>
            </a:r>
            <a:r>
              <a:rPr lang="es-CO" sz="2000" spc="-25" dirty="0">
                <a:latin typeface="Consolas" panose="020B0609020204030204" pitchFamily="49" charset="0"/>
                <a:cs typeface="Arial MT"/>
              </a:rPr>
              <a:t>una </a:t>
            </a:r>
            <a:r>
              <a:rPr lang="es-CO" sz="2000" dirty="0">
                <a:latin typeface="Consolas" panose="020B0609020204030204" pitchFamily="49" charset="0"/>
                <a:cs typeface="Arial MT"/>
              </a:rPr>
              <a:t>recompensa</a:t>
            </a:r>
            <a:r>
              <a:rPr lang="es-CO" sz="2000" spc="200" dirty="0">
                <a:latin typeface="Consolas" panose="020B0609020204030204" pitchFamily="49" charset="0"/>
                <a:cs typeface="Arial MT"/>
              </a:rPr>
              <a:t>   </a:t>
            </a:r>
            <a:r>
              <a:rPr lang="es-CO" sz="2000" dirty="0">
                <a:latin typeface="Consolas" panose="020B0609020204030204" pitchFamily="49" charset="0"/>
                <a:cs typeface="Arial MT"/>
              </a:rPr>
              <a:t>acumulada</a:t>
            </a:r>
            <a:r>
              <a:rPr lang="es-CO" sz="2000" spc="21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220" dirty="0">
                <a:latin typeface="Consolas" panose="020B0609020204030204" pitchFamily="49" charset="0"/>
                <a:cs typeface="Arial MT"/>
              </a:rPr>
              <a:t>   </a:t>
            </a:r>
            <a:r>
              <a:rPr lang="es-CO" sz="2000" spc="-25" dirty="0">
                <a:latin typeface="Consolas" panose="020B0609020204030204" pitchFamily="49" charset="0"/>
                <a:cs typeface="Arial MT"/>
              </a:rPr>
              <a:t>el </a:t>
            </a:r>
            <a:r>
              <a:rPr lang="es-CO" sz="2000" spc="-10" dirty="0">
                <a:latin typeface="Consolas" panose="020B0609020204030204" pitchFamily="49" charset="0"/>
                <a:cs typeface="Arial MT"/>
              </a:rPr>
              <a:t>tiempo.</a:t>
            </a:r>
            <a:endParaRPr lang="es-CO" sz="2000" dirty="0">
              <a:latin typeface="Consolas" panose="020B0609020204030204" pitchFamily="49" charset="0"/>
              <a:cs typeface="Arial MT"/>
            </a:endParaRPr>
          </a:p>
          <a:p>
            <a:endParaRPr lang="es-CO" sz="2000" dirty="0">
              <a:latin typeface="Consolas" panose="020B0609020204030204" pitchFamily="49" charset="0"/>
            </a:endParaRPr>
          </a:p>
        </p:txBody>
      </p:sp>
      <p:pic>
        <p:nvPicPr>
          <p:cNvPr id="6" name="object 4">
            <a:extLst>
              <a:ext uri="{FF2B5EF4-FFF2-40B4-BE49-F238E27FC236}">
                <a16:creationId xmlns:a16="http://schemas.microsoft.com/office/drawing/2014/main" id="{A9058124-987D-0948-D24D-C4F6C1A972A8}"/>
              </a:ext>
            </a:extLst>
          </p:cNvPr>
          <p:cNvPicPr/>
          <p:nvPr/>
        </p:nvPicPr>
        <p:blipFill>
          <a:blip r:embed="rId3" cstate="print"/>
          <a:stretch>
            <a:fillRect/>
          </a:stretch>
        </p:blipFill>
        <p:spPr>
          <a:xfrm>
            <a:off x="9215501" y="2173367"/>
            <a:ext cx="1318498" cy="1855191"/>
          </a:xfrm>
          <a:prstGeom prst="rect">
            <a:avLst/>
          </a:prstGeom>
        </p:spPr>
      </p:pic>
    </p:spTree>
    <p:extLst>
      <p:ext uri="{BB962C8B-B14F-4D97-AF65-F5344CB8AC3E}">
        <p14:creationId xmlns:p14="http://schemas.microsoft.com/office/powerpoint/2010/main" val="114211715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990F-9BAD-54C4-FF54-FD7ACE7BC454}"/>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17EF115F-6071-DECF-404E-282278B6EF0A}"/>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pic>
        <p:nvPicPr>
          <p:cNvPr id="2" name="object 13">
            <a:extLst>
              <a:ext uri="{FF2B5EF4-FFF2-40B4-BE49-F238E27FC236}">
                <a16:creationId xmlns:a16="http://schemas.microsoft.com/office/drawing/2014/main" id="{039CBA94-3F3B-46E8-05B7-61753A9632ED}"/>
              </a:ext>
            </a:extLst>
          </p:cNvPr>
          <p:cNvPicPr/>
          <p:nvPr/>
        </p:nvPicPr>
        <p:blipFill>
          <a:blip r:embed="rId3" cstate="print"/>
          <a:stretch>
            <a:fillRect/>
          </a:stretch>
        </p:blipFill>
        <p:spPr>
          <a:xfrm>
            <a:off x="936016" y="1573663"/>
            <a:ext cx="5000813" cy="2279599"/>
          </a:xfrm>
          <a:prstGeom prst="rect">
            <a:avLst/>
          </a:prstGeom>
        </p:spPr>
      </p:pic>
      <p:sp>
        <p:nvSpPr>
          <p:cNvPr id="5" name="TextBox 4">
            <a:extLst>
              <a:ext uri="{FF2B5EF4-FFF2-40B4-BE49-F238E27FC236}">
                <a16:creationId xmlns:a16="http://schemas.microsoft.com/office/drawing/2014/main" id="{626D611A-DCC5-8D30-C8B7-2445DFE83B75}"/>
              </a:ext>
            </a:extLst>
          </p:cNvPr>
          <p:cNvSpPr txBox="1"/>
          <p:nvPr/>
        </p:nvSpPr>
        <p:spPr>
          <a:xfrm>
            <a:off x="6386983" y="1821936"/>
            <a:ext cx="5123700" cy="4062651"/>
          </a:xfrm>
          <a:prstGeom prst="rect">
            <a:avLst/>
          </a:prstGeom>
          <a:noFill/>
        </p:spPr>
        <p:txBody>
          <a:bodyPr wrap="square">
            <a:spAutoFit/>
          </a:bodyPr>
          <a:lstStyle/>
          <a:p>
            <a:pPr algn="just"/>
            <a:r>
              <a:rPr lang="es-CO" sz="2000" dirty="0">
                <a:latin typeface="Consolas" panose="020B0609020204030204" pitchFamily="49" charset="0"/>
              </a:rPr>
              <a:t>Es una técnica de RL basada en la idea de aprender una función de valores, llamada </a:t>
            </a:r>
            <a:r>
              <a:rPr lang="es-CO" sz="2000" i="1" dirty="0">
                <a:latin typeface="Consolas" panose="020B0609020204030204" pitchFamily="49" charset="0"/>
              </a:rPr>
              <a:t>función Q</a:t>
            </a:r>
            <a:r>
              <a:rPr lang="es-CO" sz="2000" dirty="0">
                <a:latin typeface="Consolas" panose="020B0609020204030204" pitchFamily="49" charset="0"/>
              </a:rPr>
              <a:t>, que estima el valor de tomar una acción específica en un estado específico.</a:t>
            </a:r>
          </a:p>
          <a:p>
            <a:pPr algn="just"/>
            <a:endParaRPr lang="es-CO" sz="2000" dirty="0">
              <a:latin typeface="Consolas" panose="020B0609020204030204" pitchFamily="49" charset="0"/>
            </a:endParaRPr>
          </a:p>
          <a:p>
            <a:pPr algn="just"/>
            <a:r>
              <a:rPr lang="es-CO" sz="2000" spc="-10" dirty="0">
                <a:latin typeface="Consolas" panose="020B0609020204030204" pitchFamily="49" charset="0"/>
                <a:cs typeface="Arial MT"/>
              </a:rPr>
              <a:t>Q-</a:t>
            </a:r>
            <a:r>
              <a:rPr lang="es-CO" sz="2000" dirty="0" err="1">
                <a:latin typeface="Consolas" panose="020B0609020204030204" pitchFamily="49" charset="0"/>
                <a:cs typeface="Arial MT"/>
              </a:rPr>
              <a:t>learning</a:t>
            </a:r>
            <a:r>
              <a:rPr lang="es-CO" sz="2000" spc="295"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310" dirty="0">
                <a:latin typeface="Consolas" panose="020B0609020204030204" pitchFamily="49" charset="0"/>
                <a:cs typeface="Arial MT"/>
              </a:rPr>
              <a:t> </a:t>
            </a:r>
            <a:r>
              <a:rPr lang="es-CO" sz="2000" dirty="0">
                <a:latin typeface="Consolas" panose="020B0609020204030204" pitchFamily="49" charset="0"/>
                <a:cs typeface="Arial MT"/>
              </a:rPr>
              <a:t>más</a:t>
            </a:r>
            <a:r>
              <a:rPr lang="es-CO" sz="2000" spc="315" dirty="0">
                <a:latin typeface="Consolas" panose="020B0609020204030204" pitchFamily="49" charset="0"/>
                <a:cs typeface="Arial MT"/>
              </a:rPr>
              <a:t> </a:t>
            </a:r>
            <a:r>
              <a:rPr lang="es-CO" sz="2000" dirty="0">
                <a:latin typeface="Consolas" panose="020B0609020204030204" pitchFamily="49" charset="0"/>
                <a:cs typeface="Arial MT"/>
              </a:rPr>
              <a:t>adecuado</a:t>
            </a:r>
            <a:r>
              <a:rPr lang="es-CO" sz="2000" spc="310" dirty="0">
                <a:latin typeface="Consolas" panose="020B0609020204030204" pitchFamily="49" charset="0"/>
                <a:cs typeface="Arial MT"/>
              </a:rPr>
              <a:t> </a:t>
            </a:r>
            <a:r>
              <a:rPr lang="es-CO" sz="2000" spc="-20" dirty="0">
                <a:latin typeface="Consolas" panose="020B0609020204030204" pitchFamily="49" charset="0"/>
                <a:cs typeface="Arial MT"/>
              </a:rPr>
              <a:t>para </a:t>
            </a:r>
            <a:r>
              <a:rPr lang="es-CO" sz="2000" dirty="0">
                <a:latin typeface="Consolas" panose="020B0609020204030204" pitchFamily="49" charset="0"/>
                <a:cs typeface="Arial MT"/>
              </a:rPr>
              <a:t>problemas</a:t>
            </a:r>
            <a:r>
              <a:rPr lang="es-CO" sz="2000" spc="47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475" dirty="0">
                <a:latin typeface="Consolas" panose="020B0609020204030204" pitchFamily="49" charset="0"/>
                <a:cs typeface="Arial MT"/>
              </a:rPr>
              <a:t> </a:t>
            </a:r>
            <a:r>
              <a:rPr lang="es-CO" sz="2000" dirty="0">
                <a:latin typeface="Consolas" panose="020B0609020204030204" pitchFamily="49" charset="0"/>
                <a:cs typeface="Arial MT"/>
              </a:rPr>
              <a:t>RL</a:t>
            </a:r>
            <a:r>
              <a:rPr lang="es-CO" sz="2000" spc="475" dirty="0">
                <a:latin typeface="Consolas" panose="020B0609020204030204" pitchFamily="49" charset="0"/>
                <a:cs typeface="Arial MT"/>
              </a:rPr>
              <a:t> </a:t>
            </a:r>
            <a:r>
              <a:rPr lang="es-CO" sz="2000" dirty="0">
                <a:latin typeface="Consolas" panose="020B0609020204030204" pitchFamily="49" charset="0"/>
                <a:cs typeface="Arial MT"/>
              </a:rPr>
              <a:t>discretos</a:t>
            </a:r>
            <a:r>
              <a:rPr lang="es-CO" sz="2000" spc="48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465" dirty="0">
                <a:latin typeface="Consolas" panose="020B0609020204030204" pitchFamily="49" charset="0"/>
                <a:cs typeface="Arial MT"/>
              </a:rPr>
              <a:t> </a:t>
            </a:r>
            <a:r>
              <a:rPr lang="es-CO" sz="2000" spc="-25" dirty="0">
                <a:latin typeface="Consolas" panose="020B0609020204030204" pitchFamily="49" charset="0"/>
                <a:cs typeface="Arial MT"/>
              </a:rPr>
              <a:t>con </a:t>
            </a:r>
            <a:r>
              <a:rPr lang="es-CO" sz="2000" dirty="0">
                <a:latin typeface="Consolas" panose="020B0609020204030204" pitchFamily="49" charset="0"/>
                <a:cs typeface="Arial MT"/>
              </a:rPr>
              <a:t>un</a:t>
            </a:r>
            <a:r>
              <a:rPr lang="es-CO" sz="2000" spc="315" dirty="0">
                <a:latin typeface="Consolas" panose="020B0609020204030204" pitchFamily="49" charset="0"/>
                <a:cs typeface="Arial MT"/>
              </a:rPr>
              <a:t>   </a:t>
            </a:r>
            <a:r>
              <a:rPr lang="es-CO" sz="2000" dirty="0">
                <a:latin typeface="Consolas" panose="020B0609020204030204" pitchFamily="49" charset="0"/>
                <a:cs typeface="Arial MT"/>
              </a:rPr>
              <a:t>espacio</a:t>
            </a:r>
            <a:r>
              <a:rPr lang="es-CO" sz="2000" spc="31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20" dirty="0">
                <a:latin typeface="Consolas" panose="020B0609020204030204" pitchFamily="49" charset="0"/>
                <a:cs typeface="Arial MT"/>
              </a:rPr>
              <a:t>   </a:t>
            </a:r>
            <a:r>
              <a:rPr lang="es-CO" sz="2000" spc="-10" dirty="0">
                <a:latin typeface="Consolas" panose="020B0609020204030204" pitchFamily="49" charset="0"/>
                <a:cs typeface="Arial MT"/>
              </a:rPr>
              <a:t>estado/acción </a:t>
            </a:r>
            <a:r>
              <a:rPr lang="es-CO" sz="2000" dirty="0">
                <a:latin typeface="Consolas" panose="020B0609020204030204" pitchFamily="49" charset="0"/>
                <a:cs typeface="Arial MT"/>
              </a:rPr>
              <a:t>pequeño,</a:t>
            </a:r>
            <a:r>
              <a:rPr lang="es-CO" sz="2000" spc="305" dirty="0">
                <a:latin typeface="Consolas" panose="020B0609020204030204" pitchFamily="49" charset="0"/>
                <a:cs typeface="Arial MT"/>
              </a:rPr>
              <a:t>    </a:t>
            </a:r>
            <a:r>
              <a:rPr lang="es-CO" sz="2000" dirty="0">
                <a:latin typeface="Consolas" panose="020B0609020204030204" pitchFamily="49" charset="0"/>
                <a:cs typeface="Arial MT"/>
              </a:rPr>
              <a:t>ya</a:t>
            </a:r>
            <a:r>
              <a:rPr lang="es-CO" sz="2000" spc="315"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310" dirty="0">
                <a:latin typeface="Consolas" panose="020B0609020204030204" pitchFamily="49" charset="0"/>
                <a:cs typeface="Arial MT"/>
              </a:rPr>
              <a:t>    </a:t>
            </a:r>
            <a:r>
              <a:rPr lang="es-CO" sz="2000" spc="-10" dirty="0">
                <a:latin typeface="Consolas" panose="020B0609020204030204" pitchFamily="49" charset="0"/>
                <a:cs typeface="Arial MT"/>
              </a:rPr>
              <a:t>requiere </a:t>
            </a:r>
            <a:r>
              <a:rPr lang="es-CO" sz="2000" dirty="0">
                <a:latin typeface="Consolas" panose="020B0609020204030204" pitchFamily="49" charset="0"/>
                <a:cs typeface="Arial MT"/>
              </a:rPr>
              <a:t>almacenar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actualizar</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una</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tabla</a:t>
            </a:r>
            <a:r>
              <a:rPr lang="es-CO" sz="2000" spc="-5" dirty="0">
                <a:latin typeface="Consolas" panose="020B0609020204030204" pitchFamily="49" charset="0"/>
                <a:cs typeface="Arial MT"/>
              </a:rPr>
              <a:t> </a:t>
            </a:r>
            <a:r>
              <a:rPr lang="es-CO" sz="2000" spc="-25" dirty="0">
                <a:latin typeface="Consolas" panose="020B0609020204030204" pitchFamily="49" charset="0"/>
                <a:cs typeface="Arial MT"/>
              </a:rPr>
              <a:t>Q.</a:t>
            </a:r>
            <a:endParaRPr lang="es-CO" sz="2000" dirty="0">
              <a:latin typeface="Consolas" panose="020B0609020204030204" pitchFamily="49" charset="0"/>
              <a:cs typeface="Arial MT"/>
            </a:endParaRPr>
          </a:p>
          <a:p>
            <a:pPr algn="just"/>
            <a:endParaRPr lang="es-CO" dirty="0">
              <a:latin typeface="Consolas" panose="020B0609020204030204" pitchFamily="49" charset="0"/>
            </a:endParaRPr>
          </a:p>
        </p:txBody>
      </p:sp>
      <p:pic>
        <p:nvPicPr>
          <p:cNvPr id="8" name="object 4">
            <a:extLst>
              <a:ext uri="{FF2B5EF4-FFF2-40B4-BE49-F238E27FC236}">
                <a16:creationId xmlns:a16="http://schemas.microsoft.com/office/drawing/2014/main" id="{5380F37B-90BF-5897-732C-FC2F6ADBEBA0}"/>
              </a:ext>
            </a:extLst>
          </p:cNvPr>
          <p:cNvPicPr/>
          <p:nvPr/>
        </p:nvPicPr>
        <p:blipFill>
          <a:blip r:embed="rId4" cstate="print"/>
          <a:stretch>
            <a:fillRect/>
          </a:stretch>
        </p:blipFill>
        <p:spPr>
          <a:xfrm>
            <a:off x="1764246" y="4634221"/>
            <a:ext cx="3344352" cy="666255"/>
          </a:xfrm>
          <a:prstGeom prst="rect">
            <a:avLst/>
          </a:prstGeom>
        </p:spPr>
      </p:pic>
    </p:spTree>
    <p:extLst>
      <p:ext uri="{BB962C8B-B14F-4D97-AF65-F5344CB8AC3E}">
        <p14:creationId xmlns:p14="http://schemas.microsoft.com/office/powerpoint/2010/main" val="52614947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8A57A3-1E4F-BDC7-ABDF-DBCDE8DC05BA}"/>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DC46EC01-A85F-7F80-A815-1E7B82D1B5A2}"/>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graphicFrame>
        <p:nvGraphicFramePr>
          <p:cNvPr id="3" name="Diagram 2">
            <a:extLst>
              <a:ext uri="{FF2B5EF4-FFF2-40B4-BE49-F238E27FC236}">
                <a16:creationId xmlns:a16="http://schemas.microsoft.com/office/drawing/2014/main" id="{CB6B4C89-2634-9782-78DD-860D34D14EF9}"/>
              </a:ext>
            </a:extLst>
          </p:cNvPr>
          <p:cNvGraphicFramePr/>
          <p:nvPr>
            <p:extLst>
              <p:ext uri="{D42A27DB-BD31-4B8C-83A1-F6EECF244321}">
                <p14:modId xmlns:p14="http://schemas.microsoft.com/office/powerpoint/2010/main" val="555963654"/>
              </p:ext>
            </p:extLst>
          </p:nvPr>
        </p:nvGraphicFramePr>
        <p:xfrm>
          <a:off x="409258" y="1593724"/>
          <a:ext cx="11155212" cy="5358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704512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E1DB7F-3B89-99D2-4F60-69A5BF07BE90}"/>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EA392133-8B0C-E8FF-2157-D3985C3F5DCF}"/>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sp>
        <p:nvSpPr>
          <p:cNvPr id="5" name="TextBox 4">
            <a:extLst>
              <a:ext uri="{FF2B5EF4-FFF2-40B4-BE49-F238E27FC236}">
                <a16:creationId xmlns:a16="http://schemas.microsoft.com/office/drawing/2014/main" id="{1D17A9FE-6EAB-B30B-66DA-0B342B8E5571}"/>
              </a:ext>
            </a:extLst>
          </p:cNvPr>
          <p:cNvSpPr txBox="1"/>
          <p:nvPr/>
        </p:nvSpPr>
        <p:spPr>
          <a:xfrm>
            <a:off x="745435" y="1264800"/>
            <a:ext cx="10765248" cy="5719514"/>
          </a:xfrm>
          <a:prstGeom prst="rect">
            <a:avLst/>
          </a:prstGeom>
          <a:noFill/>
        </p:spPr>
        <p:txBody>
          <a:bodyPr wrap="square">
            <a:spAutoFit/>
          </a:bodyPr>
          <a:lstStyle/>
          <a:p>
            <a:pPr marL="12700">
              <a:lnSpc>
                <a:spcPct val="100000"/>
              </a:lnSpc>
              <a:spcBef>
                <a:spcPts val="100"/>
              </a:spcBef>
              <a:tabLst>
                <a:tab pos="527685" algn="l"/>
              </a:tabLst>
            </a:pPr>
            <a:r>
              <a:rPr lang="es-CO" sz="2000" b="1" spc="-25" dirty="0">
                <a:latin typeface="Consolas" panose="020B0609020204030204" pitchFamily="49" charset="0"/>
                <a:cs typeface="Arial"/>
              </a:rPr>
              <a:t>1.</a:t>
            </a:r>
            <a:r>
              <a:rPr lang="es-CO" sz="2000" b="1" dirty="0">
                <a:latin typeface="Consolas" panose="020B0609020204030204" pitchFamily="49" charset="0"/>
                <a:cs typeface="Arial"/>
              </a:rPr>
              <a:t>	Inicialización</a:t>
            </a:r>
            <a:r>
              <a:rPr lang="es-CO" sz="2000" b="1" spc="-50" dirty="0">
                <a:latin typeface="Consolas" panose="020B0609020204030204" pitchFamily="49" charset="0"/>
                <a:cs typeface="Arial"/>
              </a:rPr>
              <a:t> </a:t>
            </a:r>
            <a:r>
              <a:rPr lang="es-CO" sz="2000" b="1" dirty="0">
                <a:latin typeface="Consolas" panose="020B0609020204030204" pitchFamily="49" charset="0"/>
                <a:cs typeface="Arial"/>
              </a:rPr>
              <a:t>de</a:t>
            </a:r>
            <a:r>
              <a:rPr lang="es-CO" sz="2000" b="1" spc="-10" dirty="0">
                <a:latin typeface="Consolas" panose="020B0609020204030204" pitchFamily="49" charset="0"/>
                <a:cs typeface="Arial"/>
              </a:rPr>
              <a:t> </a:t>
            </a:r>
            <a:r>
              <a:rPr lang="es-CO" sz="2000" b="1" dirty="0">
                <a:latin typeface="Consolas" panose="020B0609020204030204" pitchFamily="49" charset="0"/>
                <a:cs typeface="Arial"/>
              </a:rPr>
              <a:t>la</a:t>
            </a:r>
            <a:r>
              <a:rPr lang="es-CO" sz="2000" b="1" spc="-15" dirty="0">
                <a:latin typeface="Consolas" panose="020B0609020204030204" pitchFamily="49" charset="0"/>
                <a:cs typeface="Arial"/>
              </a:rPr>
              <a:t> </a:t>
            </a:r>
            <a:r>
              <a:rPr lang="es-CO" sz="2000" b="1" dirty="0">
                <a:latin typeface="Consolas" panose="020B0609020204030204" pitchFamily="49" charset="0"/>
                <a:cs typeface="Arial"/>
              </a:rPr>
              <a:t>tabla</a:t>
            </a:r>
            <a:r>
              <a:rPr lang="es-CO" sz="2000" b="1" spc="-5" dirty="0">
                <a:latin typeface="Consolas" panose="020B0609020204030204" pitchFamily="49" charset="0"/>
                <a:cs typeface="Arial"/>
              </a:rPr>
              <a:t> </a:t>
            </a:r>
            <a:r>
              <a:rPr lang="es-CO" sz="2000" b="1" spc="-50" dirty="0">
                <a:latin typeface="Consolas" panose="020B0609020204030204" pitchFamily="49" charset="0"/>
                <a:cs typeface="Arial"/>
              </a:rPr>
              <a:t>Q</a:t>
            </a:r>
            <a:endParaRPr lang="es-CO" sz="2000" dirty="0">
              <a:latin typeface="Consolas" panose="020B0609020204030204" pitchFamily="49" charset="0"/>
              <a:cs typeface="Arial"/>
            </a:endParaRPr>
          </a:p>
          <a:p>
            <a:pPr marL="12700">
              <a:lnSpc>
                <a:spcPct val="100000"/>
              </a:lnSpc>
              <a:tabLst>
                <a:tab pos="530225" algn="l"/>
                <a:tab pos="1831975" algn="l"/>
                <a:tab pos="2214880" algn="l"/>
                <a:tab pos="3023870" algn="l"/>
                <a:tab pos="3408679" algn="l"/>
                <a:tab pos="4045585" algn="l"/>
                <a:tab pos="5175250" algn="l"/>
                <a:tab pos="6677659" algn="l"/>
              </a:tabLst>
            </a:pPr>
            <a:r>
              <a:rPr lang="es-CO" sz="2000" spc="-25" dirty="0">
                <a:latin typeface="Consolas" panose="020B0609020204030204" pitchFamily="49" charset="0"/>
                <a:cs typeface="Arial MT"/>
              </a:rPr>
              <a:t>Se</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inicializa</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la</a:t>
            </a:r>
            <a:r>
              <a:rPr lang="es-CO" sz="2000" dirty="0">
                <a:latin typeface="Consolas" panose="020B0609020204030204" pitchFamily="49" charset="0"/>
                <a:cs typeface="Arial MT"/>
              </a:rPr>
              <a:t>	</a:t>
            </a:r>
            <a:r>
              <a:rPr lang="es-CO" sz="2000" spc="-20" dirty="0">
                <a:latin typeface="Consolas" panose="020B0609020204030204" pitchFamily="49" charset="0"/>
                <a:cs typeface="Arial MT"/>
              </a:rPr>
              <a:t>tabla</a:t>
            </a:r>
            <a:r>
              <a:rPr lang="es-CO" sz="2000" dirty="0">
                <a:latin typeface="Consolas" panose="020B0609020204030204" pitchFamily="49" charset="0"/>
                <a:cs typeface="Arial MT"/>
              </a:rPr>
              <a:t>	</a:t>
            </a:r>
            <a:r>
              <a:rPr lang="es-CO" sz="2000" spc="-50" dirty="0">
                <a:latin typeface="Consolas" panose="020B0609020204030204" pitchFamily="49" charset="0"/>
                <a:cs typeface="Arial MT"/>
              </a:rPr>
              <a:t>Q</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con</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valores</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arbitrarios</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(usualmente </a:t>
            </a:r>
            <a:r>
              <a:rPr lang="es-CO" sz="2000" dirty="0">
                <a:latin typeface="Consolas" panose="020B0609020204030204" pitchFamily="49" charset="0"/>
                <a:cs typeface="Arial MT"/>
              </a:rPr>
              <a:t>ceros)</a:t>
            </a:r>
            <a:r>
              <a:rPr lang="es-CO" sz="2000" spc="-70" dirty="0">
                <a:latin typeface="Consolas" panose="020B0609020204030204" pitchFamily="49" charset="0"/>
                <a:cs typeface="Arial MT"/>
              </a:rPr>
              <a:t> </a:t>
            </a:r>
            <a:r>
              <a:rPr lang="es-CO" sz="2000" dirty="0">
                <a:latin typeface="Consolas" panose="020B0609020204030204" pitchFamily="49" charset="0"/>
                <a:cs typeface="Arial MT"/>
              </a:rPr>
              <a:t>para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cada</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posible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par</a:t>
            </a:r>
            <a:r>
              <a:rPr lang="es-CO" sz="2000" spc="-60" dirty="0">
                <a:latin typeface="Consolas" panose="020B0609020204030204" pitchFamily="49" charset="0"/>
                <a:cs typeface="Arial MT"/>
              </a:rPr>
              <a:t> </a:t>
            </a:r>
            <a:r>
              <a:rPr lang="es-CO" sz="2000" spc="-25" dirty="0">
                <a:latin typeface="Consolas" panose="020B0609020204030204" pitchFamily="49" charset="0"/>
                <a:cs typeface="Arial MT"/>
              </a:rPr>
              <a:t>estado-</a:t>
            </a:r>
            <a:r>
              <a:rPr lang="es-CO" sz="2000" dirty="0">
                <a:latin typeface="Consolas" panose="020B0609020204030204" pitchFamily="49" charset="0"/>
                <a:cs typeface="Arial MT"/>
              </a:rPr>
              <a:t>acción</a:t>
            </a:r>
            <a:r>
              <a:rPr lang="es-CO" sz="2000" spc="-45" dirty="0">
                <a:latin typeface="Consolas" panose="020B0609020204030204" pitchFamily="49" charset="0"/>
                <a:cs typeface="Arial MT"/>
              </a:rPr>
              <a:t> </a:t>
            </a:r>
            <a:r>
              <a:rPr lang="es-CO" sz="2000" spc="-10" dirty="0">
                <a:latin typeface="Consolas" panose="020B0609020204030204" pitchFamily="49" charset="0"/>
                <a:cs typeface="Arial MT"/>
              </a:rPr>
              <a:t>(</a:t>
            </a:r>
            <a:r>
              <a:rPr lang="es-CO" sz="2000" spc="-10" dirty="0" err="1">
                <a:latin typeface="Consolas" panose="020B0609020204030204" pitchFamily="49" charset="0"/>
                <a:cs typeface="Arial MT"/>
              </a:rPr>
              <a:t>s,a</a:t>
            </a:r>
            <a:r>
              <a:rPr lang="es-CO" sz="2000" spc="-10" dirty="0">
                <a:latin typeface="Consolas" panose="020B0609020204030204" pitchFamily="49" charset="0"/>
                <a:cs typeface="Arial MT"/>
              </a:rPr>
              <a:t>)</a:t>
            </a:r>
          </a:p>
          <a:p>
            <a:pPr marL="12700">
              <a:lnSpc>
                <a:spcPct val="100000"/>
              </a:lnSpc>
              <a:tabLst>
                <a:tab pos="530225" algn="l"/>
                <a:tab pos="1831975" algn="l"/>
                <a:tab pos="2214880" algn="l"/>
                <a:tab pos="3023870" algn="l"/>
                <a:tab pos="3408679" algn="l"/>
                <a:tab pos="4045585" algn="l"/>
                <a:tab pos="5175250" algn="l"/>
                <a:tab pos="6677659" algn="l"/>
              </a:tabLst>
            </a:pPr>
            <a:endParaRPr lang="es-CO" sz="2000" spc="-10" dirty="0">
              <a:latin typeface="Consolas" panose="020B0609020204030204" pitchFamily="49" charset="0"/>
              <a:cs typeface="Arial MT"/>
            </a:endParaRPr>
          </a:p>
          <a:p>
            <a:pPr marL="12700">
              <a:lnSpc>
                <a:spcPct val="100000"/>
              </a:lnSpc>
              <a:spcBef>
                <a:spcPts val="100"/>
              </a:spcBef>
            </a:pPr>
            <a:r>
              <a:rPr lang="es-CO" sz="2000" b="1" spc="-10" dirty="0">
                <a:latin typeface="Consolas" panose="020B0609020204030204" pitchFamily="49" charset="0"/>
                <a:cs typeface="Arial MT"/>
              </a:rPr>
              <a:t>2.</a:t>
            </a:r>
            <a:r>
              <a:rPr lang="es-CO" sz="2000" b="1" spc="-5" dirty="0">
                <a:latin typeface="Consolas" panose="020B0609020204030204" pitchFamily="49" charset="0"/>
              </a:rPr>
              <a:t> </a:t>
            </a:r>
            <a:r>
              <a:rPr lang="es-CO" sz="2000" b="1" dirty="0">
                <a:latin typeface="Consolas" panose="020B0609020204030204" pitchFamily="49" charset="0"/>
              </a:rPr>
              <a:t>Exploración</a:t>
            </a:r>
            <a:r>
              <a:rPr lang="es-CO" sz="2000" b="1" spc="-20" dirty="0">
                <a:latin typeface="Consolas" panose="020B0609020204030204" pitchFamily="49" charset="0"/>
              </a:rPr>
              <a:t> </a:t>
            </a:r>
            <a:r>
              <a:rPr lang="es-CO" sz="2000" b="1" dirty="0">
                <a:latin typeface="Consolas" panose="020B0609020204030204" pitchFamily="49" charset="0"/>
              </a:rPr>
              <a:t>del</a:t>
            </a:r>
            <a:r>
              <a:rPr lang="es-CO" sz="2000" b="1" spc="-10" dirty="0">
                <a:latin typeface="Consolas" panose="020B0609020204030204" pitchFamily="49" charset="0"/>
              </a:rPr>
              <a:t> entorno</a:t>
            </a:r>
          </a:p>
          <a:p>
            <a:pPr marL="12700">
              <a:lnSpc>
                <a:spcPct val="100000"/>
              </a:lnSpc>
              <a:tabLst>
                <a:tab pos="431800" algn="l"/>
                <a:tab pos="1515745" algn="l"/>
                <a:tab pos="2971165" algn="l"/>
                <a:tab pos="3459479" algn="l"/>
                <a:tab pos="3948429" algn="l"/>
                <a:tab pos="5012055" algn="l"/>
                <a:tab pos="5927090" algn="l"/>
                <a:tab pos="6313805" algn="l"/>
                <a:tab pos="6801484" algn="l"/>
                <a:tab pos="7613015" algn="l"/>
              </a:tabLst>
            </a:pPr>
            <a:r>
              <a:rPr lang="es-CO" sz="2000" spc="-25" dirty="0">
                <a:latin typeface="Consolas" panose="020B0609020204030204" pitchFamily="49" charset="0"/>
                <a:cs typeface="Arial MT"/>
              </a:rPr>
              <a:t>El</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agente</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comienza</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en</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un</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estado</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inicial</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y,</a:t>
            </a:r>
            <a:r>
              <a:rPr lang="es-CO" sz="2000" dirty="0">
                <a:latin typeface="Consolas" panose="020B0609020204030204" pitchFamily="49" charset="0"/>
                <a:cs typeface="Arial MT"/>
              </a:rPr>
              <a:t>	</a:t>
            </a:r>
            <a:r>
              <a:rPr lang="es-CO" sz="2000" spc="-25" dirty="0">
                <a:latin typeface="Consolas" panose="020B0609020204030204" pitchFamily="49" charset="0"/>
                <a:cs typeface="Arial MT"/>
              </a:rPr>
              <a:t>en</a:t>
            </a:r>
            <a:r>
              <a:rPr lang="es-CO" sz="2000" dirty="0">
                <a:latin typeface="Consolas" panose="020B0609020204030204" pitchFamily="49" charset="0"/>
                <a:cs typeface="Arial MT"/>
              </a:rPr>
              <a:t>	</a:t>
            </a:r>
            <a:r>
              <a:rPr lang="es-CO" sz="2000" spc="-20" dirty="0">
                <a:latin typeface="Consolas" panose="020B0609020204030204" pitchFamily="49" charset="0"/>
                <a:cs typeface="Arial MT"/>
              </a:rPr>
              <a:t>cada</a:t>
            </a:r>
            <a:r>
              <a:rPr lang="es-CO" sz="2000" dirty="0">
                <a:latin typeface="Consolas" panose="020B0609020204030204" pitchFamily="49" charset="0"/>
                <a:cs typeface="Arial MT"/>
              </a:rPr>
              <a:t>	</a:t>
            </a:r>
            <a:r>
              <a:rPr lang="es-CO" sz="2000" spc="-10" dirty="0">
                <a:latin typeface="Consolas" panose="020B0609020204030204" pitchFamily="49" charset="0"/>
                <a:cs typeface="Arial MT"/>
              </a:rPr>
              <a:t>paso, </a:t>
            </a:r>
            <a:r>
              <a:rPr lang="es-CO" sz="2000" dirty="0">
                <a:latin typeface="Consolas" panose="020B0609020204030204" pitchFamily="49" charset="0"/>
                <a:cs typeface="Arial MT"/>
              </a:rPr>
              <a:t>selecciona</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una</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75" dirty="0">
                <a:latin typeface="Consolas" panose="020B0609020204030204" pitchFamily="49" charset="0"/>
                <a:cs typeface="Arial MT"/>
              </a:rPr>
              <a:t> </a:t>
            </a:r>
            <a:r>
              <a:rPr lang="es-CO" sz="2000" dirty="0">
                <a:latin typeface="Consolas" panose="020B0609020204030204" pitchFamily="49" charset="0"/>
                <a:cs typeface="Arial MT"/>
              </a:rPr>
              <a:t>basada</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7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política</a:t>
            </a:r>
            <a:r>
              <a:rPr lang="es-CO" sz="2000" spc="-70" dirty="0">
                <a:latin typeface="Consolas" panose="020B0609020204030204" pitchFamily="49" charset="0"/>
                <a:cs typeface="Arial MT"/>
              </a:rPr>
              <a:t> </a:t>
            </a:r>
            <a:r>
              <a:rPr lang="es-CO" sz="2000" spc="-10" dirty="0">
                <a:latin typeface="Consolas" panose="020B0609020204030204" pitchFamily="49" charset="0"/>
                <a:cs typeface="Arial MT"/>
              </a:rPr>
              <a:t>actual</a:t>
            </a:r>
          </a:p>
          <a:p>
            <a:pPr marL="12700">
              <a:lnSpc>
                <a:spcPct val="100000"/>
              </a:lnSpc>
              <a:tabLst>
                <a:tab pos="431800" algn="l"/>
                <a:tab pos="1515745" algn="l"/>
                <a:tab pos="2971165" algn="l"/>
                <a:tab pos="3459479" algn="l"/>
                <a:tab pos="3948429" algn="l"/>
                <a:tab pos="5012055" algn="l"/>
                <a:tab pos="5927090" algn="l"/>
                <a:tab pos="6313805" algn="l"/>
                <a:tab pos="6801484" algn="l"/>
                <a:tab pos="7613015" algn="l"/>
              </a:tabLst>
            </a:pPr>
            <a:endParaRPr lang="es-CO" sz="2000" spc="-10" dirty="0">
              <a:latin typeface="Consolas" panose="020B0609020204030204" pitchFamily="49" charset="0"/>
              <a:cs typeface="Arial MT"/>
            </a:endParaRPr>
          </a:p>
          <a:p>
            <a:pPr marL="12700">
              <a:lnSpc>
                <a:spcPct val="100000"/>
              </a:lnSpc>
              <a:spcBef>
                <a:spcPts val="100"/>
              </a:spcBef>
              <a:tabLst>
                <a:tab pos="349885" algn="l"/>
              </a:tabLst>
            </a:pPr>
            <a:r>
              <a:rPr lang="es-CO" sz="2000" b="1" dirty="0">
                <a:latin typeface="Consolas" panose="020B0609020204030204" pitchFamily="49" charset="0"/>
                <a:cs typeface="Arial"/>
              </a:rPr>
              <a:t>3. Ejecuta</a:t>
            </a:r>
            <a:r>
              <a:rPr lang="es-CO" sz="2000" b="1" spc="-45" dirty="0">
                <a:latin typeface="Consolas" panose="020B0609020204030204" pitchFamily="49" charset="0"/>
                <a:cs typeface="Arial"/>
              </a:rPr>
              <a:t> </a:t>
            </a:r>
            <a:r>
              <a:rPr lang="es-CO" sz="2000" b="1" dirty="0">
                <a:latin typeface="Consolas" panose="020B0609020204030204" pitchFamily="49" charset="0"/>
                <a:cs typeface="Arial"/>
              </a:rPr>
              <a:t>la</a:t>
            </a:r>
            <a:r>
              <a:rPr lang="es-CO" sz="2000" b="1" spc="-65" dirty="0">
                <a:latin typeface="Consolas" panose="020B0609020204030204" pitchFamily="49" charset="0"/>
                <a:cs typeface="Arial"/>
              </a:rPr>
              <a:t> </a:t>
            </a:r>
            <a:r>
              <a:rPr lang="es-CO" sz="2000" b="1" dirty="0">
                <a:latin typeface="Consolas" panose="020B0609020204030204" pitchFamily="49" charset="0"/>
                <a:cs typeface="Arial"/>
              </a:rPr>
              <a:t>acción</a:t>
            </a:r>
            <a:r>
              <a:rPr lang="es-CO" sz="2000" b="1" spc="-45" dirty="0">
                <a:latin typeface="Consolas" panose="020B0609020204030204" pitchFamily="49" charset="0"/>
                <a:cs typeface="Arial"/>
              </a:rPr>
              <a:t> </a:t>
            </a:r>
            <a:r>
              <a:rPr lang="es-CO" sz="2000" b="1" dirty="0">
                <a:latin typeface="Consolas" panose="020B0609020204030204" pitchFamily="49" charset="0"/>
                <a:cs typeface="Arial"/>
              </a:rPr>
              <a:t>y</a:t>
            </a:r>
            <a:r>
              <a:rPr lang="es-CO" sz="2000" b="1" spc="-45" dirty="0">
                <a:latin typeface="Consolas" panose="020B0609020204030204" pitchFamily="49" charset="0"/>
                <a:cs typeface="Arial"/>
              </a:rPr>
              <a:t> </a:t>
            </a:r>
            <a:r>
              <a:rPr lang="es-CO" sz="2000" b="1" dirty="0">
                <a:latin typeface="Consolas" panose="020B0609020204030204" pitchFamily="49" charset="0"/>
                <a:cs typeface="Arial"/>
              </a:rPr>
              <a:t>observa</a:t>
            </a:r>
            <a:r>
              <a:rPr lang="es-CO" sz="2000" b="1" spc="-35" dirty="0">
                <a:latin typeface="Consolas" panose="020B0609020204030204" pitchFamily="49" charset="0"/>
                <a:cs typeface="Arial"/>
              </a:rPr>
              <a:t> </a:t>
            </a:r>
            <a:r>
              <a:rPr lang="es-CO" sz="2000" b="1" dirty="0">
                <a:latin typeface="Consolas" panose="020B0609020204030204" pitchFamily="49" charset="0"/>
                <a:cs typeface="Arial"/>
              </a:rPr>
              <a:t>el</a:t>
            </a:r>
            <a:r>
              <a:rPr lang="es-CO" sz="2000" b="1" spc="-60" dirty="0">
                <a:latin typeface="Consolas" panose="020B0609020204030204" pitchFamily="49" charset="0"/>
                <a:cs typeface="Arial"/>
              </a:rPr>
              <a:t> </a:t>
            </a:r>
            <a:r>
              <a:rPr lang="es-CO" sz="2000" b="1" spc="-10" dirty="0">
                <a:latin typeface="Consolas" panose="020B0609020204030204" pitchFamily="49" charset="0"/>
                <a:cs typeface="Arial"/>
              </a:rPr>
              <a:t>resultado</a:t>
            </a:r>
            <a:endParaRPr lang="es-CO" sz="2000" dirty="0">
              <a:latin typeface="Consolas" panose="020B0609020204030204" pitchFamily="49" charset="0"/>
              <a:cs typeface="Arial"/>
            </a:endParaRPr>
          </a:p>
          <a:p>
            <a:pPr marL="4445" lvl="1">
              <a:lnSpc>
                <a:spcPct val="100000"/>
              </a:lnSpc>
              <a:buSzPct val="95833"/>
              <a:tabLst>
                <a:tab pos="118745" algn="l"/>
              </a:tabLst>
            </a:pPr>
            <a:r>
              <a:rPr lang="es-CO" sz="2000" dirty="0">
                <a:latin typeface="Consolas" panose="020B0609020204030204" pitchFamily="49" charset="0"/>
                <a:cs typeface="Arial MT"/>
              </a:rPr>
              <a:t>Tras</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ejecutar</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estado</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agente</a:t>
            </a:r>
            <a:r>
              <a:rPr lang="es-CO" sz="2000" spc="-20" dirty="0">
                <a:latin typeface="Consolas" panose="020B0609020204030204" pitchFamily="49" charset="0"/>
                <a:cs typeface="Arial MT"/>
              </a:rPr>
              <a:t> </a:t>
            </a:r>
            <a:r>
              <a:rPr lang="es-CO" sz="2000" spc="-10" dirty="0">
                <a:latin typeface="Consolas" panose="020B0609020204030204" pitchFamily="49" charset="0"/>
                <a:cs typeface="Arial MT"/>
              </a:rPr>
              <a:t>observa: </a:t>
            </a:r>
            <a:r>
              <a:rPr lang="es-CO" sz="2000" dirty="0">
                <a:latin typeface="Consolas" panose="020B0609020204030204" pitchFamily="49" charset="0"/>
                <a:cs typeface="Arial MT"/>
              </a:rPr>
              <a:t>La</a:t>
            </a:r>
            <a:r>
              <a:rPr lang="es-CO" sz="2000" spc="-40" dirty="0">
                <a:latin typeface="Consolas" panose="020B0609020204030204" pitchFamily="49" charset="0"/>
                <a:cs typeface="Arial MT"/>
              </a:rPr>
              <a:t> </a:t>
            </a:r>
            <a:r>
              <a:rPr lang="es-CO" sz="2000" spc="-10" dirty="0">
                <a:latin typeface="Consolas" panose="020B0609020204030204" pitchFamily="49" charset="0"/>
                <a:cs typeface="Arial MT"/>
              </a:rPr>
              <a:t>recompensa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r</a:t>
            </a:r>
            <a:r>
              <a:rPr lang="es-CO" sz="2000" spc="-40" dirty="0">
                <a:latin typeface="Consolas" panose="020B0609020204030204" pitchFamily="49" charset="0"/>
                <a:cs typeface="Arial MT"/>
              </a:rPr>
              <a:t> </a:t>
            </a:r>
            <a:r>
              <a:rPr lang="es-CO" sz="2000" spc="-10" dirty="0">
                <a:latin typeface="Consolas" panose="020B0609020204030204" pitchFamily="49" charset="0"/>
                <a:cs typeface="Arial MT"/>
              </a:rPr>
              <a:t>obtenida y el nuevo estado.</a:t>
            </a:r>
          </a:p>
          <a:p>
            <a:pPr marL="118745" lvl="1" indent="-114300">
              <a:lnSpc>
                <a:spcPct val="100000"/>
              </a:lnSpc>
              <a:buSzPct val="95833"/>
              <a:buChar char="•"/>
              <a:tabLst>
                <a:tab pos="118745" algn="l"/>
              </a:tabLst>
            </a:pPr>
            <a:endParaRPr lang="es-CO" sz="2000" spc="-10" dirty="0">
              <a:latin typeface="Consolas" panose="020B0609020204030204" pitchFamily="49" charset="0"/>
              <a:cs typeface="Arial MT"/>
            </a:endParaRPr>
          </a:p>
          <a:p>
            <a:pPr marL="4445" lvl="1">
              <a:buSzPct val="95833"/>
              <a:tabLst>
                <a:tab pos="118745" algn="l"/>
              </a:tabLst>
            </a:pPr>
            <a:r>
              <a:rPr lang="es-CO" sz="2000" b="1" spc="-10" dirty="0">
                <a:latin typeface="Consolas" panose="020B0609020204030204" pitchFamily="49" charset="0"/>
                <a:cs typeface="Arial MT"/>
              </a:rPr>
              <a:t>4.Actualización de la función Q:</a:t>
            </a:r>
            <a:br>
              <a:rPr lang="es-CO" sz="2000" spc="-10" dirty="0">
                <a:latin typeface="Consolas" panose="020B0609020204030204" pitchFamily="49" charset="0"/>
                <a:cs typeface="Arial MT"/>
              </a:rPr>
            </a:br>
            <a:r>
              <a:rPr lang="es-CO" sz="2000" dirty="0">
                <a:latin typeface="Consolas" panose="020B0609020204030204" pitchFamily="49" charset="0"/>
                <a:cs typeface="Arial MT"/>
              </a:rPr>
              <a:t>La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tabla</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se</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actualiza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utilizando</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siguiente</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fórmula</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5" dirty="0">
                <a:latin typeface="Consolas" panose="020B0609020204030204" pitchFamily="49" charset="0"/>
                <a:cs typeface="Arial MT"/>
              </a:rPr>
              <a:t> </a:t>
            </a:r>
            <a:r>
              <a:rPr lang="es-CO" sz="2000" i="1" dirty="0">
                <a:latin typeface="Consolas" panose="020B0609020204030204" pitchFamily="49" charset="0"/>
                <a:cs typeface="Arial"/>
              </a:rPr>
              <a:t>actualización</a:t>
            </a:r>
            <a:r>
              <a:rPr lang="es-CO" sz="2000" i="1" spc="-60" dirty="0">
                <a:latin typeface="Consolas" panose="020B0609020204030204" pitchFamily="49" charset="0"/>
                <a:cs typeface="Arial"/>
              </a:rPr>
              <a:t> </a:t>
            </a:r>
            <a:r>
              <a:rPr lang="es-CO" sz="2000" i="1" spc="-25" dirty="0">
                <a:latin typeface="Consolas" panose="020B0609020204030204" pitchFamily="49" charset="0"/>
                <a:cs typeface="Arial"/>
              </a:rPr>
              <a:t>Q</a:t>
            </a:r>
            <a:r>
              <a:rPr lang="es-CO" sz="2000" spc="-25" dirty="0">
                <a:latin typeface="Consolas" panose="020B0609020204030204" pitchFamily="49" charset="0"/>
                <a:cs typeface="Arial MT"/>
              </a:rPr>
              <a:t>:</a:t>
            </a:r>
            <a:endParaRPr lang="es-CO" sz="2000" dirty="0">
              <a:latin typeface="Consolas" panose="020B0609020204030204" pitchFamily="49" charset="0"/>
              <a:cs typeface="Arial MT"/>
            </a:endParaRPr>
          </a:p>
          <a:p>
            <a:pPr marL="4445" lvl="1">
              <a:lnSpc>
                <a:spcPct val="100000"/>
              </a:lnSpc>
              <a:buSzPct val="95833"/>
              <a:tabLst>
                <a:tab pos="118745" algn="l"/>
              </a:tabLst>
            </a:pPr>
            <a:endParaRPr lang="es-CO" sz="2400" dirty="0">
              <a:latin typeface="Arial MT"/>
              <a:cs typeface="Arial MT"/>
            </a:endParaRPr>
          </a:p>
          <a:p>
            <a:pPr marL="4445" lvl="1">
              <a:lnSpc>
                <a:spcPct val="100000"/>
              </a:lnSpc>
              <a:buSzPct val="95833"/>
              <a:tabLst>
                <a:tab pos="118745" algn="l"/>
              </a:tabLst>
            </a:pPr>
            <a:endParaRPr lang="es-CO" sz="2000" spc="-10" dirty="0">
              <a:latin typeface="Arial MT"/>
              <a:cs typeface="Arial MT"/>
            </a:endParaRPr>
          </a:p>
          <a:p>
            <a:pPr marL="12700">
              <a:lnSpc>
                <a:spcPct val="100000"/>
              </a:lnSpc>
              <a:tabLst>
                <a:tab pos="530225" algn="l"/>
                <a:tab pos="1831975" algn="l"/>
                <a:tab pos="2214880" algn="l"/>
                <a:tab pos="3023870" algn="l"/>
                <a:tab pos="3408679" algn="l"/>
                <a:tab pos="4045585" algn="l"/>
                <a:tab pos="5175250" algn="l"/>
                <a:tab pos="6677659" algn="l"/>
              </a:tabLst>
            </a:pPr>
            <a:endParaRPr lang="es-CO" sz="2000" dirty="0">
              <a:latin typeface="Arial MT"/>
              <a:cs typeface="Arial MT"/>
            </a:endParaRPr>
          </a:p>
          <a:p>
            <a:pPr algn="just"/>
            <a:endParaRPr lang="es-CO" sz="2000" dirty="0">
              <a:latin typeface="Consolas" panose="020B0609020204030204" pitchFamily="49" charset="0"/>
            </a:endParaRPr>
          </a:p>
        </p:txBody>
      </p:sp>
      <p:pic>
        <p:nvPicPr>
          <p:cNvPr id="7" name="object 5">
            <a:extLst>
              <a:ext uri="{FF2B5EF4-FFF2-40B4-BE49-F238E27FC236}">
                <a16:creationId xmlns:a16="http://schemas.microsoft.com/office/drawing/2014/main" id="{678450C9-913C-D5BA-41C5-68A958E59CF7}"/>
              </a:ext>
            </a:extLst>
          </p:cNvPr>
          <p:cNvPicPr/>
          <p:nvPr/>
        </p:nvPicPr>
        <p:blipFill>
          <a:blip r:embed="rId3" cstate="print"/>
          <a:stretch>
            <a:fillRect/>
          </a:stretch>
        </p:blipFill>
        <p:spPr>
          <a:xfrm>
            <a:off x="3093419" y="5860055"/>
            <a:ext cx="5176522" cy="556040"/>
          </a:xfrm>
          <a:prstGeom prst="rect">
            <a:avLst/>
          </a:prstGeom>
        </p:spPr>
      </p:pic>
    </p:spTree>
    <p:extLst>
      <p:ext uri="{BB962C8B-B14F-4D97-AF65-F5344CB8AC3E}">
        <p14:creationId xmlns:p14="http://schemas.microsoft.com/office/powerpoint/2010/main" val="2846811750"/>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67202C-C53E-B2BD-84D0-403232A7A168}"/>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676952E3-E4FB-57F2-6F13-051F6D93267D}"/>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sp>
        <p:nvSpPr>
          <p:cNvPr id="5" name="TextBox 4">
            <a:extLst>
              <a:ext uri="{FF2B5EF4-FFF2-40B4-BE49-F238E27FC236}">
                <a16:creationId xmlns:a16="http://schemas.microsoft.com/office/drawing/2014/main" id="{63FD59EF-99D4-C4CD-B844-C004B4C4BDA4}"/>
              </a:ext>
            </a:extLst>
          </p:cNvPr>
          <p:cNvSpPr txBox="1"/>
          <p:nvPr/>
        </p:nvSpPr>
        <p:spPr>
          <a:xfrm>
            <a:off x="551329" y="2398444"/>
            <a:ext cx="11640671" cy="3847207"/>
          </a:xfrm>
          <a:prstGeom prst="rect">
            <a:avLst/>
          </a:prstGeom>
          <a:noFill/>
        </p:spPr>
        <p:txBody>
          <a:bodyPr wrap="square">
            <a:spAutoFit/>
          </a:bodyPr>
          <a:lstStyle/>
          <a:p>
            <a:pPr marL="100330" indent="-97155">
              <a:lnSpc>
                <a:spcPct val="100000"/>
              </a:lnSpc>
              <a:buSzPct val="95000"/>
              <a:buChar char="•"/>
              <a:tabLst>
                <a:tab pos="100330" algn="l"/>
              </a:tabLst>
            </a:pPr>
            <a:r>
              <a:rPr lang="es-CO" sz="2000" b="1" spc="-140" dirty="0">
                <a:latin typeface="Consolas" panose="020B0609020204030204" pitchFamily="49" charset="0"/>
                <a:cs typeface="Arial MT"/>
              </a:rPr>
              <a:t>Donde α</a:t>
            </a:r>
            <a:r>
              <a:rPr lang="es-CO" sz="2000" b="1" spc="-25"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5" dirty="0">
                <a:latin typeface="Consolas" panose="020B0609020204030204" pitchFamily="49" charset="0"/>
                <a:cs typeface="Arial MT"/>
              </a:rPr>
              <a:t> </a:t>
            </a:r>
            <a:r>
              <a:rPr lang="es-CO" sz="2000" i="1" dirty="0">
                <a:latin typeface="Consolas" panose="020B0609020204030204" pitchFamily="49" charset="0"/>
                <a:cs typeface="Arial"/>
              </a:rPr>
              <a:t>tasa</a:t>
            </a:r>
            <a:r>
              <a:rPr lang="es-CO" sz="2000" i="1" spc="-20" dirty="0">
                <a:latin typeface="Consolas" panose="020B0609020204030204" pitchFamily="49" charset="0"/>
                <a:cs typeface="Arial"/>
              </a:rPr>
              <a:t> </a:t>
            </a:r>
            <a:r>
              <a:rPr lang="es-CO" sz="2000" i="1" dirty="0">
                <a:latin typeface="Consolas" panose="020B0609020204030204" pitchFamily="49" charset="0"/>
                <a:cs typeface="Arial"/>
              </a:rPr>
              <a:t>de</a:t>
            </a:r>
            <a:r>
              <a:rPr lang="es-CO" sz="2000" i="1" spc="-25" dirty="0">
                <a:latin typeface="Consolas" panose="020B0609020204030204" pitchFamily="49" charset="0"/>
                <a:cs typeface="Arial"/>
              </a:rPr>
              <a:t> </a:t>
            </a:r>
            <a:r>
              <a:rPr lang="es-CO" sz="2000" i="1" dirty="0">
                <a:latin typeface="Consolas" panose="020B0609020204030204" pitchFamily="49" charset="0"/>
                <a:cs typeface="Arial"/>
              </a:rPr>
              <a:t>aprendizaje</a:t>
            </a:r>
            <a:r>
              <a:rPr lang="es-CO" sz="2000" dirty="0">
                <a:latin typeface="Consolas" panose="020B0609020204030204" pitchFamily="49" charset="0"/>
                <a:cs typeface="Arial MT"/>
              </a:rPr>
              <a:t>,</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controla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cuánto</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se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actualiza</a:t>
            </a:r>
            <a:r>
              <a:rPr lang="es-CO" sz="2000" spc="-35" dirty="0">
                <a:latin typeface="Consolas" panose="020B0609020204030204" pitchFamily="49" charset="0"/>
                <a:cs typeface="Arial MT"/>
              </a:rPr>
              <a:t> </a:t>
            </a:r>
            <a:r>
              <a:rPr lang="es-CO" sz="2000" spc="-25" dirty="0">
                <a:latin typeface="Consolas" panose="020B0609020204030204" pitchFamily="49" charset="0"/>
                <a:cs typeface="Arial MT"/>
              </a:rPr>
              <a:t>el</a:t>
            </a:r>
            <a:endParaRPr lang="es-CO" sz="2000" dirty="0">
              <a:latin typeface="Consolas" panose="020B0609020204030204" pitchFamily="49" charset="0"/>
              <a:cs typeface="Arial MT"/>
            </a:endParaRPr>
          </a:p>
          <a:p>
            <a:pPr marL="12700">
              <a:lnSpc>
                <a:spcPct val="100000"/>
              </a:lnSpc>
            </a:pPr>
            <a:r>
              <a:rPr lang="es-CO" sz="2000" dirty="0">
                <a:latin typeface="Consolas" panose="020B0609020204030204" pitchFamily="49" charset="0"/>
                <a:cs typeface="Arial MT"/>
              </a:rPr>
              <a:t>valor</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5" dirty="0">
                <a:latin typeface="Consolas" panose="020B0609020204030204" pitchFamily="49" charset="0"/>
                <a:cs typeface="Arial MT"/>
              </a:rPr>
              <a:t> </a:t>
            </a:r>
            <a:r>
              <a:rPr lang="es-CO" sz="2000" spc="-25" dirty="0">
                <a:latin typeface="Consolas" panose="020B0609020204030204" pitchFamily="49" charset="0"/>
                <a:cs typeface="Arial MT"/>
              </a:rPr>
              <a:t>Q.</a:t>
            </a:r>
            <a:endParaRPr lang="es-CO" sz="2000" dirty="0">
              <a:latin typeface="Consolas" panose="020B0609020204030204" pitchFamily="49" charset="0"/>
              <a:cs typeface="Arial MT"/>
            </a:endParaRPr>
          </a:p>
          <a:p>
            <a:pPr marL="12700" marR="1228725" indent="-9525">
              <a:lnSpc>
                <a:spcPct val="100000"/>
              </a:lnSpc>
              <a:spcBef>
                <a:spcPts val="5"/>
              </a:spcBef>
              <a:buSzPct val="95000"/>
              <a:buChar char="•"/>
              <a:tabLst>
                <a:tab pos="100330" algn="l"/>
              </a:tabLst>
            </a:pPr>
            <a:r>
              <a:rPr lang="es-CO" sz="2000" b="1" spc="-900" dirty="0">
                <a:latin typeface="Consolas" panose="020B0609020204030204" pitchFamily="49" charset="0"/>
                <a:cs typeface="Arial MT"/>
              </a:rPr>
              <a:t>Γ</a:t>
            </a:r>
            <a:r>
              <a:rPr lang="es-CO" sz="2000" b="1" spc="-20"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5" dirty="0">
                <a:latin typeface="Consolas" panose="020B0609020204030204" pitchFamily="49" charset="0"/>
                <a:cs typeface="Arial MT"/>
              </a:rPr>
              <a:t> </a:t>
            </a:r>
            <a:r>
              <a:rPr lang="es-CO" sz="2000" i="1" dirty="0">
                <a:latin typeface="Consolas" panose="020B0609020204030204" pitchFamily="49" charset="0"/>
                <a:cs typeface="Arial"/>
              </a:rPr>
              <a:t>factor</a:t>
            </a:r>
            <a:r>
              <a:rPr lang="es-CO" sz="2000" i="1" spc="-35" dirty="0">
                <a:latin typeface="Consolas" panose="020B0609020204030204" pitchFamily="49" charset="0"/>
                <a:cs typeface="Arial"/>
              </a:rPr>
              <a:t> </a:t>
            </a:r>
            <a:r>
              <a:rPr lang="es-CO" sz="2000" i="1" dirty="0">
                <a:latin typeface="Consolas" panose="020B0609020204030204" pitchFamily="49" charset="0"/>
                <a:cs typeface="Arial"/>
              </a:rPr>
              <a:t>de</a:t>
            </a:r>
            <a:r>
              <a:rPr lang="es-CO" sz="2000" i="1" spc="-25" dirty="0">
                <a:latin typeface="Consolas" panose="020B0609020204030204" pitchFamily="49" charset="0"/>
                <a:cs typeface="Arial"/>
              </a:rPr>
              <a:t> </a:t>
            </a:r>
            <a:r>
              <a:rPr lang="es-CO" sz="2000" i="1" dirty="0">
                <a:latin typeface="Consolas" panose="020B0609020204030204" pitchFamily="49" charset="0"/>
                <a:cs typeface="Arial"/>
              </a:rPr>
              <a:t>descuento</a:t>
            </a:r>
            <a:r>
              <a:rPr lang="es-CO" sz="2000" dirty="0">
                <a:latin typeface="Consolas" panose="020B0609020204030204" pitchFamily="49" charset="0"/>
                <a:cs typeface="Arial MT"/>
              </a:rPr>
              <a:t>,</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pondera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importancia</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25" dirty="0">
                <a:latin typeface="Consolas" panose="020B0609020204030204" pitchFamily="49" charset="0"/>
                <a:cs typeface="Arial MT"/>
              </a:rPr>
              <a:t> las </a:t>
            </a:r>
            <a:r>
              <a:rPr lang="es-CO" sz="2000" dirty="0">
                <a:latin typeface="Consolas" panose="020B0609020204030204" pitchFamily="49" charset="0"/>
                <a:cs typeface="Arial MT"/>
              </a:rPr>
              <a:t>recompensas</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futuras</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frente</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las</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recompensas</a:t>
            </a:r>
            <a:r>
              <a:rPr lang="es-CO" sz="2000" spc="-55" dirty="0">
                <a:latin typeface="Consolas" panose="020B0609020204030204" pitchFamily="49" charset="0"/>
                <a:cs typeface="Arial MT"/>
              </a:rPr>
              <a:t> </a:t>
            </a:r>
            <a:r>
              <a:rPr lang="es-CO" sz="2000" spc="-10" dirty="0">
                <a:latin typeface="Consolas" panose="020B0609020204030204" pitchFamily="49" charset="0"/>
                <a:cs typeface="Arial MT"/>
              </a:rPr>
              <a:t>inmediatas.</a:t>
            </a:r>
            <a:endParaRPr lang="es-CO" sz="2000" dirty="0">
              <a:latin typeface="Consolas" panose="020B0609020204030204" pitchFamily="49" charset="0"/>
              <a:cs typeface="Arial MT"/>
            </a:endParaRPr>
          </a:p>
          <a:p>
            <a:pPr marL="100330" indent="-97155">
              <a:lnSpc>
                <a:spcPct val="100000"/>
              </a:lnSpc>
              <a:buSzPct val="95000"/>
              <a:buChar char="•"/>
              <a:tabLst>
                <a:tab pos="100330" algn="l"/>
              </a:tabLst>
            </a:pPr>
            <a:r>
              <a:rPr lang="es-CO" sz="2000" dirty="0">
                <a:latin typeface="Consolas" panose="020B0609020204030204" pitchFamily="49" charset="0"/>
                <a:cs typeface="Arial MT"/>
              </a:rPr>
              <a:t>r</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recompensa</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inmediata</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obtenida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por</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tomar</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35" dirty="0">
                <a:latin typeface="Consolas" panose="020B0609020204030204" pitchFamily="49" charset="0"/>
                <a:cs typeface="Arial MT"/>
              </a:rPr>
              <a:t> </a:t>
            </a:r>
            <a:r>
              <a:rPr lang="es-CO" sz="2000" spc="-25" dirty="0">
                <a:latin typeface="Consolas" panose="020B0609020204030204" pitchFamily="49" charset="0"/>
                <a:cs typeface="Arial MT"/>
              </a:rPr>
              <a:t>el</a:t>
            </a:r>
            <a:endParaRPr lang="es-CO" sz="2000" dirty="0">
              <a:latin typeface="Consolas" panose="020B0609020204030204" pitchFamily="49" charset="0"/>
              <a:cs typeface="Arial MT"/>
            </a:endParaRPr>
          </a:p>
          <a:p>
            <a:pPr marL="12700">
              <a:lnSpc>
                <a:spcPct val="100000"/>
              </a:lnSpc>
            </a:pPr>
            <a:r>
              <a:rPr lang="es-CO" sz="2000" dirty="0">
                <a:latin typeface="Consolas" panose="020B0609020204030204" pitchFamily="49" charset="0"/>
                <a:cs typeface="Arial MT"/>
              </a:rPr>
              <a:t>estado</a:t>
            </a:r>
            <a:r>
              <a:rPr lang="es-CO" sz="2000" spc="-40" dirty="0">
                <a:latin typeface="Consolas" panose="020B0609020204030204" pitchFamily="49" charset="0"/>
                <a:cs typeface="Arial MT"/>
              </a:rPr>
              <a:t> </a:t>
            </a:r>
            <a:r>
              <a:rPr lang="es-CO" sz="2000" spc="-25" dirty="0">
                <a:latin typeface="Consolas" panose="020B0609020204030204" pitchFamily="49" charset="0"/>
                <a:cs typeface="Arial MT"/>
              </a:rPr>
              <a:t>s.</a:t>
            </a:r>
            <a:endParaRPr lang="es-CO" sz="2000" dirty="0">
              <a:latin typeface="Consolas" panose="020B0609020204030204" pitchFamily="49" charset="0"/>
              <a:cs typeface="Arial MT"/>
            </a:endParaRPr>
          </a:p>
          <a:p>
            <a:pPr marL="12700" marR="492759" indent="-9525">
              <a:lnSpc>
                <a:spcPct val="100000"/>
              </a:lnSpc>
              <a:buSzPct val="95000"/>
              <a:buChar char="•"/>
              <a:tabLst>
                <a:tab pos="100330" algn="l"/>
              </a:tabLst>
            </a:pPr>
            <a:r>
              <a:rPr lang="es-CO" sz="2000" b="1" dirty="0" err="1">
                <a:latin typeface="Consolas" panose="020B0609020204030204" pitchFamily="49" charset="0"/>
                <a:cs typeface="Arial MT"/>
              </a:rPr>
              <a:t>max</a:t>
            </a:r>
            <a:r>
              <a:rPr lang="es-CO" sz="2000" b="1" spc="-30" dirty="0">
                <a:latin typeface="Consolas" panose="020B0609020204030204" pitchFamily="49" charset="0"/>
                <a:cs typeface="Arial MT"/>
              </a:rPr>
              <a:t> </a:t>
            </a:r>
            <a:r>
              <a:rPr lang="es-CO" sz="2000" b="1" spc="-245" dirty="0">
                <a:latin typeface="Consolas" panose="020B0609020204030204" pitchFamily="49" charset="0"/>
                <a:cs typeface="Arial MT"/>
              </a:rPr>
              <a:t>Q(</a:t>
            </a:r>
            <a:r>
              <a:rPr lang="es-CO" sz="2000" b="1" spc="-245" dirty="0" err="1">
                <a:latin typeface="Consolas" panose="020B0609020204030204" pitchFamily="49" charset="0"/>
                <a:cs typeface="Arial MT"/>
              </a:rPr>
              <a:t>s′,a</a:t>
            </a:r>
            <a:r>
              <a:rPr lang="es-CO" sz="2000" b="1" spc="-245" dirty="0">
                <a:latin typeface="Consolas" panose="020B0609020204030204" pitchFamily="49" charset="0"/>
                <a:cs typeface="Arial MT"/>
              </a:rPr>
              <a:t>)</a:t>
            </a:r>
            <a:r>
              <a:rPr lang="es-CO" sz="2000" b="1" spc="-50"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5" dirty="0">
                <a:latin typeface="Consolas" panose="020B0609020204030204" pitchFamily="49" charset="0"/>
                <a:cs typeface="Arial MT"/>
              </a:rPr>
              <a:t> </a:t>
            </a:r>
            <a:r>
              <a:rPr lang="es-CO" sz="2000" dirty="0">
                <a:latin typeface="Consolas" panose="020B0609020204030204" pitchFamily="49" charset="0"/>
                <a:cs typeface="Arial MT"/>
              </a:rPr>
              <a:t>valor</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máximo</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siguiente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estado</a:t>
            </a:r>
            <a:r>
              <a:rPr lang="es-CO" sz="2000" spc="-35" dirty="0">
                <a:latin typeface="Consolas" panose="020B0609020204030204" pitchFamily="49" charset="0"/>
                <a:cs typeface="Arial MT"/>
              </a:rPr>
              <a:t> </a:t>
            </a:r>
            <a:r>
              <a:rPr lang="es-CO" sz="2000" spc="-545" dirty="0">
                <a:latin typeface="Consolas" panose="020B0609020204030204" pitchFamily="49" charset="0"/>
                <a:cs typeface="Arial MT"/>
              </a:rPr>
              <a:t>s′,</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lo</a:t>
            </a:r>
            <a:r>
              <a:rPr lang="es-CO" sz="2000" spc="-10" dirty="0">
                <a:latin typeface="Consolas" panose="020B0609020204030204" pitchFamily="49" charset="0"/>
                <a:cs typeface="Arial MT"/>
              </a:rPr>
              <a:t> </a:t>
            </a:r>
            <a:r>
              <a:rPr lang="es-CO" sz="2000" spc="-25" dirty="0">
                <a:latin typeface="Consolas" panose="020B0609020204030204" pitchFamily="49" charset="0"/>
                <a:cs typeface="Arial MT"/>
              </a:rPr>
              <a:t>que </a:t>
            </a:r>
            <a:r>
              <a:rPr lang="es-CO" sz="2000" dirty="0">
                <a:latin typeface="Consolas" panose="020B0609020204030204" pitchFamily="49" charset="0"/>
                <a:cs typeface="Arial MT"/>
              </a:rPr>
              <a:t>representa</a:t>
            </a:r>
            <a:r>
              <a:rPr lang="es-CO" sz="2000" spc="-6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valor</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estimado</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mejor</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próximo</a:t>
            </a:r>
            <a:r>
              <a:rPr lang="es-CO" sz="2000" spc="-35" dirty="0">
                <a:latin typeface="Consolas" panose="020B0609020204030204" pitchFamily="49" charset="0"/>
                <a:cs typeface="Arial MT"/>
              </a:rPr>
              <a:t> </a:t>
            </a:r>
            <a:r>
              <a:rPr lang="es-CO" sz="2000" spc="-10" dirty="0">
                <a:latin typeface="Consolas" panose="020B0609020204030204" pitchFamily="49" charset="0"/>
                <a:cs typeface="Arial MT"/>
              </a:rPr>
              <a:t>estado.</a:t>
            </a:r>
            <a:endParaRPr lang="es-CO" sz="2000" dirty="0">
              <a:latin typeface="Consolas" panose="020B0609020204030204" pitchFamily="49" charset="0"/>
              <a:cs typeface="Arial MT"/>
            </a:endParaRPr>
          </a:p>
          <a:p>
            <a:pPr marL="4445" lvl="1">
              <a:lnSpc>
                <a:spcPct val="100000"/>
              </a:lnSpc>
              <a:buSzPct val="95833"/>
              <a:tabLst>
                <a:tab pos="118745" algn="l"/>
              </a:tabLst>
            </a:pPr>
            <a:endParaRPr lang="es-CO" sz="2400" dirty="0">
              <a:latin typeface="Arial MT"/>
              <a:cs typeface="Arial MT"/>
            </a:endParaRPr>
          </a:p>
          <a:p>
            <a:pPr marL="4445" lvl="1">
              <a:lnSpc>
                <a:spcPct val="100000"/>
              </a:lnSpc>
              <a:buSzPct val="95833"/>
              <a:tabLst>
                <a:tab pos="118745" algn="l"/>
              </a:tabLst>
            </a:pPr>
            <a:endParaRPr lang="es-CO" sz="2000" spc="-10" dirty="0">
              <a:latin typeface="Arial MT"/>
              <a:cs typeface="Arial MT"/>
            </a:endParaRPr>
          </a:p>
          <a:p>
            <a:pPr marL="12700">
              <a:lnSpc>
                <a:spcPct val="100000"/>
              </a:lnSpc>
              <a:tabLst>
                <a:tab pos="530225" algn="l"/>
                <a:tab pos="1831975" algn="l"/>
                <a:tab pos="2214880" algn="l"/>
                <a:tab pos="3023870" algn="l"/>
                <a:tab pos="3408679" algn="l"/>
                <a:tab pos="4045585" algn="l"/>
                <a:tab pos="5175250" algn="l"/>
                <a:tab pos="6677659" algn="l"/>
              </a:tabLst>
            </a:pPr>
            <a:endParaRPr lang="es-CO" sz="2000" dirty="0">
              <a:latin typeface="Arial MT"/>
              <a:cs typeface="Arial MT"/>
            </a:endParaRPr>
          </a:p>
          <a:p>
            <a:pPr algn="just"/>
            <a:endParaRPr lang="es-CO" sz="2000" dirty="0">
              <a:latin typeface="Consolas" panose="020B0609020204030204" pitchFamily="49" charset="0"/>
            </a:endParaRPr>
          </a:p>
        </p:txBody>
      </p:sp>
      <p:pic>
        <p:nvPicPr>
          <p:cNvPr id="7" name="object 5">
            <a:extLst>
              <a:ext uri="{FF2B5EF4-FFF2-40B4-BE49-F238E27FC236}">
                <a16:creationId xmlns:a16="http://schemas.microsoft.com/office/drawing/2014/main" id="{F46D710F-66A0-94F7-5107-44AAB68A90E9}"/>
              </a:ext>
            </a:extLst>
          </p:cNvPr>
          <p:cNvPicPr/>
          <p:nvPr/>
        </p:nvPicPr>
        <p:blipFill>
          <a:blip r:embed="rId3" cstate="print"/>
          <a:stretch>
            <a:fillRect/>
          </a:stretch>
        </p:blipFill>
        <p:spPr>
          <a:xfrm>
            <a:off x="3275241" y="1450134"/>
            <a:ext cx="5641517" cy="556040"/>
          </a:xfrm>
          <a:prstGeom prst="rect">
            <a:avLst/>
          </a:prstGeom>
        </p:spPr>
      </p:pic>
    </p:spTree>
    <p:extLst>
      <p:ext uri="{BB962C8B-B14F-4D97-AF65-F5344CB8AC3E}">
        <p14:creationId xmlns:p14="http://schemas.microsoft.com/office/powerpoint/2010/main" val="4045170485"/>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B0C2CE-394A-D76A-DC16-DF9E6B834F6F}"/>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E42BD91E-49E6-A36C-C3F9-347D5A6FF3E5}"/>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pic>
        <p:nvPicPr>
          <p:cNvPr id="2" name="object 2">
            <a:extLst>
              <a:ext uri="{FF2B5EF4-FFF2-40B4-BE49-F238E27FC236}">
                <a16:creationId xmlns:a16="http://schemas.microsoft.com/office/drawing/2014/main" id="{DA7FD6DC-1EB9-EC4D-617A-827D4FC9A02F}"/>
              </a:ext>
            </a:extLst>
          </p:cNvPr>
          <p:cNvPicPr/>
          <p:nvPr/>
        </p:nvPicPr>
        <p:blipFill>
          <a:blip r:embed="rId3" cstate="print"/>
          <a:stretch>
            <a:fillRect/>
          </a:stretch>
        </p:blipFill>
        <p:spPr>
          <a:xfrm>
            <a:off x="449358" y="2030506"/>
            <a:ext cx="6483711" cy="3482788"/>
          </a:xfrm>
          <a:prstGeom prst="rect">
            <a:avLst/>
          </a:prstGeom>
        </p:spPr>
      </p:pic>
      <p:sp>
        <p:nvSpPr>
          <p:cNvPr id="6" name="TextBox 5">
            <a:extLst>
              <a:ext uri="{FF2B5EF4-FFF2-40B4-BE49-F238E27FC236}">
                <a16:creationId xmlns:a16="http://schemas.microsoft.com/office/drawing/2014/main" id="{3C03AE51-CBC0-8213-2973-865F6B8D18F9}"/>
              </a:ext>
            </a:extLst>
          </p:cNvPr>
          <p:cNvSpPr txBox="1"/>
          <p:nvPr/>
        </p:nvSpPr>
        <p:spPr>
          <a:xfrm>
            <a:off x="7180729" y="1523846"/>
            <a:ext cx="4561913" cy="4721805"/>
          </a:xfrm>
          <a:prstGeom prst="rect">
            <a:avLst/>
          </a:prstGeom>
          <a:noFill/>
        </p:spPr>
        <p:txBody>
          <a:bodyPr wrap="square">
            <a:spAutoFit/>
          </a:bodyPr>
          <a:lstStyle/>
          <a:p>
            <a:pPr marL="12700" algn="just">
              <a:lnSpc>
                <a:spcPct val="100000"/>
              </a:lnSpc>
              <a:spcBef>
                <a:spcPts val="105"/>
              </a:spcBef>
            </a:pPr>
            <a:r>
              <a:rPr lang="es-CO" sz="2000" b="1" dirty="0">
                <a:latin typeface="Consolas" panose="020B0609020204030204" pitchFamily="49" charset="0"/>
                <a:cs typeface="Arial"/>
              </a:rPr>
              <a:t>5.Repetición</a:t>
            </a:r>
            <a:r>
              <a:rPr lang="es-CO" sz="2000" b="1" spc="-60" dirty="0">
                <a:latin typeface="Consolas" panose="020B0609020204030204" pitchFamily="49" charset="0"/>
                <a:cs typeface="Arial"/>
              </a:rPr>
              <a:t> </a:t>
            </a:r>
            <a:r>
              <a:rPr lang="es-CO" sz="2000" b="1" dirty="0">
                <a:latin typeface="Consolas" panose="020B0609020204030204" pitchFamily="49" charset="0"/>
                <a:cs typeface="Arial"/>
              </a:rPr>
              <a:t>hasta</a:t>
            </a:r>
            <a:r>
              <a:rPr lang="es-CO" sz="2000" b="1" spc="-25" dirty="0">
                <a:latin typeface="Consolas" panose="020B0609020204030204" pitchFamily="49" charset="0"/>
                <a:cs typeface="Arial"/>
              </a:rPr>
              <a:t> </a:t>
            </a:r>
            <a:r>
              <a:rPr lang="es-CO" sz="2000" b="1" dirty="0">
                <a:latin typeface="Consolas" panose="020B0609020204030204" pitchFamily="49" charset="0"/>
                <a:cs typeface="Arial"/>
              </a:rPr>
              <a:t>la</a:t>
            </a:r>
            <a:r>
              <a:rPr lang="es-CO" sz="2000" b="1" spc="-35" dirty="0">
                <a:latin typeface="Consolas" panose="020B0609020204030204" pitchFamily="49" charset="0"/>
                <a:cs typeface="Arial"/>
              </a:rPr>
              <a:t> </a:t>
            </a:r>
            <a:r>
              <a:rPr lang="es-CO" sz="2000" b="1" spc="-10" dirty="0">
                <a:latin typeface="Consolas" panose="020B0609020204030204" pitchFamily="49" charset="0"/>
                <a:cs typeface="Arial"/>
              </a:rPr>
              <a:t>convergencia</a:t>
            </a:r>
            <a:endParaRPr lang="es-CO" sz="2000" dirty="0">
              <a:latin typeface="Consolas" panose="020B0609020204030204" pitchFamily="49" charset="0"/>
              <a:cs typeface="Arial"/>
            </a:endParaRPr>
          </a:p>
          <a:p>
            <a:pPr marL="12700" marR="73660" indent="69850" algn="just">
              <a:lnSpc>
                <a:spcPct val="100000"/>
              </a:lnSpc>
            </a:pPr>
            <a:r>
              <a:rPr lang="es-CO" sz="2000" dirty="0">
                <a:latin typeface="Consolas" panose="020B0609020204030204" pitchFamily="49" charset="0"/>
                <a:cs typeface="Arial MT"/>
              </a:rPr>
              <a:t>Este</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proceso</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explorar,</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seleccionar</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acciones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actualizar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función</a:t>
            </a:r>
            <a:r>
              <a:rPr lang="es-CO" sz="2000" spc="-40" dirty="0">
                <a:latin typeface="Consolas" panose="020B0609020204030204" pitchFamily="49" charset="0"/>
                <a:cs typeface="Arial MT"/>
              </a:rPr>
              <a:t> </a:t>
            </a:r>
            <a:r>
              <a:rPr lang="es-CO" sz="2000" spc="-50" dirty="0">
                <a:latin typeface="Consolas" panose="020B0609020204030204" pitchFamily="49" charset="0"/>
                <a:cs typeface="Arial MT"/>
              </a:rPr>
              <a:t>Q </a:t>
            </a:r>
            <a:r>
              <a:rPr lang="es-CO" sz="2000" dirty="0">
                <a:latin typeface="Consolas" panose="020B0609020204030204" pitchFamily="49" charset="0"/>
                <a:cs typeface="Arial MT"/>
              </a:rPr>
              <a:t>se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repite</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través</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múltiples</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episodios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hasta</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tabla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converge</a:t>
            </a:r>
            <a:r>
              <a:rPr lang="es-CO" sz="2000" spc="-45" dirty="0">
                <a:latin typeface="Consolas" panose="020B0609020204030204" pitchFamily="49" charset="0"/>
                <a:cs typeface="Arial MT"/>
              </a:rPr>
              <a:t> </a:t>
            </a:r>
            <a:r>
              <a:rPr lang="es-CO" sz="2000" spc="-50" dirty="0">
                <a:latin typeface="Consolas" panose="020B0609020204030204" pitchFamily="49" charset="0"/>
                <a:cs typeface="Arial MT"/>
              </a:rPr>
              <a:t>a </a:t>
            </a:r>
            <a:r>
              <a:rPr lang="es-CO" sz="2000" dirty="0">
                <a:latin typeface="Consolas" panose="020B0609020204030204" pitchFamily="49" charset="0"/>
                <a:cs typeface="Arial MT"/>
              </a:rPr>
              <a:t>valores</a:t>
            </a:r>
            <a:r>
              <a:rPr lang="es-CO" sz="2000" spc="-25" dirty="0">
                <a:latin typeface="Consolas" panose="020B0609020204030204" pitchFamily="49" charset="0"/>
                <a:cs typeface="Arial MT"/>
              </a:rPr>
              <a:t> </a:t>
            </a:r>
            <a:r>
              <a:rPr lang="es-CO" sz="2000" spc="-10" dirty="0">
                <a:latin typeface="Consolas" panose="020B0609020204030204" pitchFamily="49" charset="0"/>
                <a:cs typeface="Arial MT"/>
              </a:rPr>
              <a:t>estables.</a:t>
            </a:r>
            <a:endParaRPr lang="es-CO" sz="2000" dirty="0">
              <a:latin typeface="Consolas" panose="020B0609020204030204" pitchFamily="49" charset="0"/>
              <a:cs typeface="Arial MT"/>
            </a:endParaRPr>
          </a:p>
          <a:p>
            <a:pPr algn="just">
              <a:lnSpc>
                <a:spcPct val="100000"/>
              </a:lnSpc>
              <a:spcBef>
                <a:spcPts val="100"/>
              </a:spcBef>
            </a:pPr>
            <a:endParaRPr lang="es-CO" sz="2000" dirty="0">
              <a:latin typeface="Consolas" panose="020B0609020204030204" pitchFamily="49" charset="0"/>
              <a:cs typeface="Arial MT"/>
            </a:endParaRPr>
          </a:p>
          <a:p>
            <a:pPr marL="12700" marR="5080" algn="just">
              <a:lnSpc>
                <a:spcPct val="100000"/>
              </a:lnSpc>
            </a:pPr>
            <a:r>
              <a:rPr lang="es-CO" sz="2000" dirty="0">
                <a:latin typeface="Consolas" panose="020B0609020204030204" pitchFamily="49" charset="0"/>
                <a:cs typeface="Arial MT"/>
              </a:rPr>
              <a:t>Cuando</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esto</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ocurre,</a:t>
            </a:r>
            <a:r>
              <a:rPr lang="es-CO" sz="2000" spc="-8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función</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representa</a:t>
            </a:r>
            <a:r>
              <a:rPr lang="es-CO" sz="2000" spc="-7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política</a:t>
            </a:r>
            <a:r>
              <a:rPr lang="es-CO" sz="2000" spc="-35" dirty="0">
                <a:latin typeface="Consolas" panose="020B0609020204030204" pitchFamily="49" charset="0"/>
                <a:cs typeface="Arial MT"/>
              </a:rPr>
              <a:t> </a:t>
            </a:r>
            <a:r>
              <a:rPr lang="es-CO" sz="2000" spc="-10" dirty="0">
                <a:latin typeface="Consolas" panose="020B0609020204030204" pitchFamily="49" charset="0"/>
                <a:cs typeface="Arial MT"/>
              </a:rPr>
              <a:t>óptima, </a:t>
            </a:r>
            <a:r>
              <a:rPr lang="es-CO" sz="2000" dirty="0">
                <a:latin typeface="Consolas" panose="020B0609020204030204" pitchFamily="49" charset="0"/>
                <a:cs typeface="Arial MT"/>
              </a:rPr>
              <a:t>permitiendo</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al</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agente</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seleccionar</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maximiza</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5" dirty="0">
                <a:latin typeface="Consolas" panose="020B0609020204030204" pitchFamily="49" charset="0"/>
                <a:cs typeface="Arial MT"/>
              </a:rPr>
              <a:t> </a:t>
            </a:r>
            <a:r>
              <a:rPr lang="es-CO" sz="2000" spc="-10" dirty="0">
                <a:latin typeface="Consolas" panose="020B0609020204030204" pitchFamily="49" charset="0"/>
                <a:cs typeface="Arial MT"/>
              </a:rPr>
              <a:t>recompensa </a:t>
            </a:r>
            <a:r>
              <a:rPr lang="es-CO" sz="2000" dirty="0">
                <a:latin typeface="Consolas" panose="020B0609020204030204" pitchFamily="49" charset="0"/>
                <a:cs typeface="Arial MT"/>
              </a:rPr>
              <a:t>acumulada</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cada</a:t>
            </a:r>
            <a:r>
              <a:rPr lang="es-CO" sz="2000" spc="-35" dirty="0">
                <a:latin typeface="Consolas" panose="020B0609020204030204" pitchFamily="49" charset="0"/>
                <a:cs typeface="Arial MT"/>
              </a:rPr>
              <a:t> </a:t>
            </a:r>
            <a:r>
              <a:rPr lang="es-CO" sz="2000" spc="-10" dirty="0">
                <a:latin typeface="Consolas" panose="020B0609020204030204" pitchFamily="49" charset="0"/>
                <a:cs typeface="Arial MT"/>
              </a:rPr>
              <a:t>estado.</a:t>
            </a:r>
            <a:endParaRPr lang="es-CO" sz="2000" dirty="0">
              <a:latin typeface="Consolas" panose="020B0609020204030204" pitchFamily="49" charset="0"/>
              <a:cs typeface="Arial MT"/>
            </a:endParaRPr>
          </a:p>
        </p:txBody>
      </p:sp>
    </p:spTree>
    <p:extLst>
      <p:ext uri="{BB962C8B-B14F-4D97-AF65-F5344CB8AC3E}">
        <p14:creationId xmlns:p14="http://schemas.microsoft.com/office/powerpoint/2010/main" val="2337363201"/>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7BD4CA-7431-4910-E031-4B024078D3DF}"/>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18AD7971-32C7-8B75-E4E0-97F5CAAC3FBF}"/>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sp>
        <p:nvSpPr>
          <p:cNvPr id="5" name="TextBox 4">
            <a:extLst>
              <a:ext uri="{FF2B5EF4-FFF2-40B4-BE49-F238E27FC236}">
                <a16:creationId xmlns:a16="http://schemas.microsoft.com/office/drawing/2014/main" id="{8B41F831-0AE5-907D-E384-D3712E4EE8E7}"/>
              </a:ext>
            </a:extLst>
          </p:cNvPr>
          <p:cNvSpPr txBox="1"/>
          <p:nvPr/>
        </p:nvSpPr>
        <p:spPr>
          <a:xfrm>
            <a:off x="745434" y="1470683"/>
            <a:ext cx="10563541" cy="1015663"/>
          </a:xfrm>
          <a:prstGeom prst="rect">
            <a:avLst/>
          </a:prstGeom>
          <a:noFill/>
        </p:spPr>
        <p:txBody>
          <a:bodyPr wrap="square">
            <a:spAutoFit/>
          </a:bodyPr>
          <a:lstStyle/>
          <a:p>
            <a:pPr marL="12700">
              <a:lnSpc>
                <a:spcPct val="100000"/>
              </a:lnSpc>
              <a:spcBef>
                <a:spcPts val="105"/>
              </a:spcBef>
            </a:pPr>
            <a:r>
              <a:rPr lang="es-CO" sz="2000" b="1" dirty="0">
                <a:latin typeface="Consolas" panose="020B0609020204030204" pitchFamily="49" charset="0"/>
                <a:cs typeface="Arial MT"/>
              </a:rPr>
              <a:t>EJEMPLO</a:t>
            </a:r>
            <a:br>
              <a:rPr lang="es-CO" sz="2000" dirty="0">
                <a:latin typeface="Consolas" panose="020B0609020204030204" pitchFamily="49" charset="0"/>
                <a:cs typeface="Arial MT"/>
              </a:rPr>
            </a:br>
            <a:r>
              <a:rPr lang="es-CO" sz="2000" dirty="0">
                <a:latin typeface="Consolas" panose="020B0609020204030204" pitchFamily="49" charset="0"/>
                <a:cs typeface="Arial MT"/>
              </a:rPr>
              <a:t>Supongamos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un</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entorno</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con</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dos</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estados,</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s1y</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s2,</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dos</a:t>
            </a:r>
            <a:r>
              <a:rPr lang="es-CO" sz="2000" spc="-15" dirty="0">
                <a:latin typeface="Consolas" panose="020B0609020204030204" pitchFamily="49" charset="0"/>
                <a:cs typeface="Arial MT"/>
              </a:rPr>
              <a:t> </a:t>
            </a:r>
            <a:r>
              <a:rPr lang="es-CO" sz="2000" spc="-10" dirty="0">
                <a:latin typeface="Consolas" panose="020B0609020204030204" pitchFamily="49" charset="0"/>
                <a:cs typeface="Arial MT"/>
              </a:rPr>
              <a:t>acciones </a:t>
            </a:r>
            <a:r>
              <a:rPr lang="es-CO" sz="2000" dirty="0">
                <a:latin typeface="Consolas" panose="020B0609020204030204" pitchFamily="49" charset="0"/>
                <a:cs typeface="Arial MT"/>
              </a:rPr>
              <a:t>posibles</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cada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estado,</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a1</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20" dirty="0">
                <a:latin typeface="Consolas" panose="020B0609020204030204" pitchFamily="49" charset="0"/>
                <a:cs typeface="Arial MT"/>
              </a:rPr>
              <a:t> </a:t>
            </a:r>
            <a:r>
              <a:rPr lang="es-CO" sz="2000" dirty="0">
                <a:latin typeface="Consolas" panose="020B0609020204030204" pitchFamily="49" charset="0"/>
                <a:cs typeface="Arial MT"/>
              </a:rPr>
              <a:t>a2.</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La</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tabla</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podría</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verse</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así</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al</a:t>
            </a:r>
            <a:r>
              <a:rPr lang="es-CO" sz="2000" spc="-15" dirty="0">
                <a:latin typeface="Consolas" panose="020B0609020204030204" pitchFamily="49" charset="0"/>
                <a:cs typeface="Arial MT"/>
              </a:rPr>
              <a:t> </a:t>
            </a:r>
            <a:r>
              <a:rPr lang="es-CO" sz="2000" spc="-10" dirty="0">
                <a:latin typeface="Consolas" panose="020B0609020204030204" pitchFamily="49" charset="0"/>
                <a:cs typeface="Arial MT"/>
              </a:rPr>
              <a:t>inicio:</a:t>
            </a:r>
            <a:endParaRPr lang="es-CO" sz="2000" dirty="0">
              <a:latin typeface="Consolas" panose="020B0609020204030204" pitchFamily="49" charset="0"/>
            </a:endParaRPr>
          </a:p>
        </p:txBody>
      </p:sp>
      <p:pic>
        <p:nvPicPr>
          <p:cNvPr id="8" name="object 4">
            <a:extLst>
              <a:ext uri="{FF2B5EF4-FFF2-40B4-BE49-F238E27FC236}">
                <a16:creationId xmlns:a16="http://schemas.microsoft.com/office/drawing/2014/main" id="{C6703F21-4C9F-642F-ADA2-E21490C8E841}"/>
              </a:ext>
            </a:extLst>
          </p:cNvPr>
          <p:cNvPicPr/>
          <p:nvPr/>
        </p:nvPicPr>
        <p:blipFill>
          <a:blip r:embed="rId3" cstate="print"/>
          <a:stretch>
            <a:fillRect/>
          </a:stretch>
        </p:blipFill>
        <p:spPr>
          <a:xfrm>
            <a:off x="3592238" y="3029096"/>
            <a:ext cx="4014684" cy="799809"/>
          </a:xfrm>
          <a:prstGeom prst="rect">
            <a:avLst/>
          </a:prstGeom>
        </p:spPr>
      </p:pic>
      <p:sp>
        <p:nvSpPr>
          <p:cNvPr id="10" name="TextBox 9">
            <a:extLst>
              <a:ext uri="{FF2B5EF4-FFF2-40B4-BE49-F238E27FC236}">
                <a16:creationId xmlns:a16="http://schemas.microsoft.com/office/drawing/2014/main" id="{07A4B715-AFA8-891F-2B4F-E106F0A40CA3}"/>
              </a:ext>
            </a:extLst>
          </p:cNvPr>
          <p:cNvSpPr txBox="1"/>
          <p:nvPr/>
        </p:nvSpPr>
        <p:spPr>
          <a:xfrm>
            <a:off x="745434" y="4371655"/>
            <a:ext cx="10819037" cy="1515800"/>
          </a:xfrm>
          <a:prstGeom prst="rect">
            <a:avLst/>
          </a:prstGeom>
          <a:noFill/>
        </p:spPr>
        <p:txBody>
          <a:bodyPr wrap="square">
            <a:spAutoFit/>
          </a:bodyPr>
          <a:lstStyle/>
          <a:p>
            <a:pPr marL="12700" marR="5080" algn="just">
              <a:lnSpc>
                <a:spcPct val="100000"/>
              </a:lnSpc>
              <a:spcBef>
                <a:spcPts val="100"/>
              </a:spcBef>
            </a:pPr>
            <a:r>
              <a:rPr lang="es-CO" sz="1800" dirty="0">
                <a:latin typeface="Consolas" panose="020B0609020204030204" pitchFamily="49" charset="0"/>
                <a:cs typeface="Arial MT"/>
              </a:rPr>
              <a:t>Al</a:t>
            </a:r>
            <a:r>
              <a:rPr lang="es-CO" sz="1800" spc="-10" dirty="0">
                <a:latin typeface="Consolas" panose="020B0609020204030204" pitchFamily="49" charset="0"/>
                <a:cs typeface="Arial MT"/>
              </a:rPr>
              <a:t> </a:t>
            </a:r>
            <a:r>
              <a:rPr lang="es-CO" sz="1800" dirty="0">
                <a:latin typeface="Consolas" panose="020B0609020204030204" pitchFamily="49" charset="0"/>
                <a:cs typeface="Arial MT"/>
              </a:rPr>
              <a:t>comienzo,</a:t>
            </a:r>
            <a:r>
              <a:rPr lang="es-CO" sz="1800" spc="-55" dirty="0">
                <a:latin typeface="Consolas" panose="020B0609020204030204" pitchFamily="49" charset="0"/>
                <a:cs typeface="Arial MT"/>
              </a:rPr>
              <a:t> </a:t>
            </a:r>
            <a:r>
              <a:rPr lang="es-CO" sz="1800" dirty="0">
                <a:latin typeface="Consolas" panose="020B0609020204030204" pitchFamily="49" charset="0"/>
                <a:cs typeface="Arial MT"/>
              </a:rPr>
              <a:t>todos</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los</a:t>
            </a:r>
            <a:r>
              <a:rPr lang="es-CO" sz="1800" spc="-5" dirty="0">
                <a:latin typeface="Consolas" panose="020B0609020204030204" pitchFamily="49" charset="0"/>
                <a:cs typeface="Arial MT"/>
              </a:rPr>
              <a:t> </a:t>
            </a:r>
            <a:r>
              <a:rPr lang="es-CO" sz="1800" dirty="0">
                <a:latin typeface="Consolas" panose="020B0609020204030204" pitchFamily="49" charset="0"/>
                <a:cs typeface="Arial MT"/>
              </a:rPr>
              <a:t>valores</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son</a:t>
            </a:r>
            <a:r>
              <a:rPr lang="es-CO" sz="1800" spc="-40" dirty="0">
                <a:latin typeface="Consolas" panose="020B0609020204030204" pitchFamily="49" charset="0"/>
                <a:cs typeface="Arial MT"/>
              </a:rPr>
              <a:t> </a:t>
            </a:r>
            <a:r>
              <a:rPr lang="es-CO" sz="1800" dirty="0">
                <a:latin typeface="Consolas" panose="020B0609020204030204" pitchFamily="49" charset="0"/>
                <a:cs typeface="Arial MT"/>
              </a:rPr>
              <a:t>cero.</a:t>
            </a:r>
            <a:r>
              <a:rPr lang="es-CO" sz="1800" spc="-45" dirty="0">
                <a:latin typeface="Consolas" panose="020B0609020204030204" pitchFamily="49" charset="0"/>
                <a:cs typeface="Arial MT"/>
              </a:rPr>
              <a:t> </a:t>
            </a:r>
          </a:p>
          <a:p>
            <a:pPr marL="12700" marR="5080" algn="just">
              <a:lnSpc>
                <a:spcPct val="100000"/>
              </a:lnSpc>
              <a:spcBef>
                <a:spcPts val="100"/>
              </a:spcBef>
            </a:pPr>
            <a:r>
              <a:rPr lang="es-CO" sz="1800" dirty="0">
                <a:latin typeface="Consolas" panose="020B0609020204030204" pitchFamily="49" charset="0"/>
                <a:cs typeface="Arial MT"/>
              </a:rPr>
              <a:t>El</a:t>
            </a:r>
            <a:r>
              <a:rPr lang="es-CO" sz="1800" spc="-5" dirty="0">
                <a:latin typeface="Consolas" panose="020B0609020204030204" pitchFamily="49" charset="0"/>
                <a:cs typeface="Arial MT"/>
              </a:rPr>
              <a:t> </a:t>
            </a:r>
            <a:r>
              <a:rPr lang="es-CO" sz="1800" dirty="0">
                <a:latin typeface="Consolas" panose="020B0609020204030204" pitchFamily="49" charset="0"/>
                <a:cs typeface="Arial MT"/>
              </a:rPr>
              <a:t>agente</a:t>
            </a:r>
            <a:r>
              <a:rPr lang="es-CO" sz="1800" spc="-40" dirty="0">
                <a:latin typeface="Consolas" panose="020B0609020204030204" pitchFamily="49" charset="0"/>
                <a:cs typeface="Arial MT"/>
              </a:rPr>
              <a:t> </a:t>
            </a:r>
            <a:r>
              <a:rPr lang="es-CO" sz="1800" dirty="0">
                <a:latin typeface="Consolas" panose="020B0609020204030204" pitchFamily="49" charset="0"/>
                <a:cs typeface="Arial MT"/>
              </a:rPr>
              <a:t>empieza</a:t>
            </a:r>
            <a:r>
              <a:rPr lang="es-CO" sz="1800" spc="-35" dirty="0">
                <a:latin typeface="Consolas" panose="020B0609020204030204" pitchFamily="49" charset="0"/>
                <a:cs typeface="Arial MT"/>
              </a:rPr>
              <a:t> </a:t>
            </a:r>
            <a:r>
              <a:rPr lang="es-CO" sz="1800" dirty="0">
                <a:latin typeface="Consolas" panose="020B0609020204030204" pitchFamily="49" charset="0"/>
                <a:cs typeface="Arial MT"/>
              </a:rPr>
              <a:t>en</a:t>
            </a:r>
            <a:r>
              <a:rPr lang="es-CO" sz="1800" spc="-25" dirty="0">
                <a:latin typeface="Consolas" panose="020B0609020204030204" pitchFamily="49" charset="0"/>
                <a:cs typeface="Arial MT"/>
              </a:rPr>
              <a:t> </a:t>
            </a:r>
            <a:r>
              <a:rPr lang="es-CO" sz="1800" dirty="0">
                <a:latin typeface="Consolas" panose="020B0609020204030204" pitchFamily="49" charset="0"/>
                <a:cs typeface="Arial MT"/>
              </a:rPr>
              <a:t>un</a:t>
            </a:r>
            <a:r>
              <a:rPr lang="es-CO" sz="1800" spc="-10" dirty="0">
                <a:latin typeface="Consolas" panose="020B0609020204030204" pitchFamily="49" charset="0"/>
                <a:cs typeface="Arial MT"/>
              </a:rPr>
              <a:t> estado </a:t>
            </a:r>
            <a:r>
              <a:rPr lang="es-CO" sz="1800" dirty="0">
                <a:latin typeface="Consolas" panose="020B0609020204030204" pitchFamily="49" charset="0"/>
                <a:cs typeface="Arial MT"/>
              </a:rPr>
              <a:t>(digamos</a:t>
            </a:r>
            <a:r>
              <a:rPr lang="es-CO" sz="1800" spc="-45" dirty="0">
                <a:latin typeface="Consolas" panose="020B0609020204030204" pitchFamily="49" charset="0"/>
                <a:cs typeface="Arial MT"/>
              </a:rPr>
              <a:t> </a:t>
            </a:r>
            <a:r>
              <a:rPr lang="es-CO" sz="1800" dirty="0">
                <a:latin typeface="Consolas" panose="020B0609020204030204" pitchFamily="49" charset="0"/>
                <a:cs typeface="Arial MT"/>
              </a:rPr>
              <a:t>s1),</a:t>
            </a:r>
            <a:r>
              <a:rPr lang="es-CO" sz="1800" spc="-35" dirty="0">
                <a:latin typeface="Consolas" panose="020B0609020204030204" pitchFamily="49" charset="0"/>
                <a:cs typeface="Arial MT"/>
              </a:rPr>
              <a:t> </a:t>
            </a:r>
            <a:r>
              <a:rPr lang="es-CO" sz="1800" dirty="0">
                <a:latin typeface="Consolas" panose="020B0609020204030204" pitchFamily="49" charset="0"/>
                <a:cs typeface="Arial MT"/>
              </a:rPr>
              <a:t>elige</a:t>
            </a:r>
            <a:r>
              <a:rPr lang="es-CO" sz="1800" spc="-15" dirty="0">
                <a:latin typeface="Consolas" panose="020B0609020204030204" pitchFamily="49" charset="0"/>
                <a:cs typeface="Arial MT"/>
              </a:rPr>
              <a:t> </a:t>
            </a:r>
            <a:r>
              <a:rPr lang="es-CO" sz="1800" dirty="0">
                <a:latin typeface="Consolas" panose="020B0609020204030204" pitchFamily="49" charset="0"/>
                <a:cs typeface="Arial MT"/>
              </a:rPr>
              <a:t>una</a:t>
            </a:r>
            <a:r>
              <a:rPr lang="es-CO" sz="1800" spc="-20" dirty="0">
                <a:latin typeface="Consolas" panose="020B0609020204030204" pitchFamily="49" charset="0"/>
                <a:cs typeface="Arial MT"/>
              </a:rPr>
              <a:t> </a:t>
            </a:r>
            <a:r>
              <a:rPr lang="es-CO" sz="1800" dirty="0">
                <a:latin typeface="Consolas" panose="020B0609020204030204" pitchFamily="49" charset="0"/>
                <a:cs typeface="Arial MT"/>
              </a:rPr>
              <a:t>acción</a:t>
            </a:r>
            <a:r>
              <a:rPr lang="es-CO" sz="1800" spc="-35" dirty="0">
                <a:latin typeface="Consolas" panose="020B0609020204030204" pitchFamily="49" charset="0"/>
                <a:cs typeface="Arial MT"/>
              </a:rPr>
              <a:t> </a:t>
            </a:r>
            <a:r>
              <a:rPr lang="es-CO" sz="1800" dirty="0">
                <a:latin typeface="Consolas" panose="020B0609020204030204" pitchFamily="49" charset="0"/>
                <a:cs typeface="Arial MT"/>
              </a:rPr>
              <a:t>(por</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ejemplo,</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a1),</a:t>
            </a:r>
            <a:r>
              <a:rPr lang="es-CO" sz="1800" spc="-45" dirty="0">
                <a:latin typeface="Consolas" panose="020B0609020204030204" pitchFamily="49" charset="0"/>
                <a:cs typeface="Arial MT"/>
              </a:rPr>
              <a:t> </a:t>
            </a:r>
            <a:r>
              <a:rPr lang="es-CO" sz="1800" dirty="0">
                <a:latin typeface="Consolas" panose="020B0609020204030204" pitchFamily="49" charset="0"/>
                <a:cs typeface="Arial MT"/>
              </a:rPr>
              <a:t>observa</a:t>
            </a:r>
            <a:r>
              <a:rPr lang="es-CO" sz="1800" spc="-40" dirty="0">
                <a:latin typeface="Consolas" panose="020B0609020204030204" pitchFamily="49" charset="0"/>
                <a:cs typeface="Arial MT"/>
              </a:rPr>
              <a:t> </a:t>
            </a:r>
            <a:r>
              <a:rPr lang="es-CO" sz="1800" dirty="0">
                <a:latin typeface="Consolas" panose="020B0609020204030204" pitchFamily="49" charset="0"/>
                <a:cs typeface="Arial MT"/>
              </a:rPr>
              <a:t>la</a:t>
            </a:r>
            <a:r>
              <a:rPr lang="es-CO" sz="1800" spc="-10" dirty="0">
                <a:latin typeface="Consolas" panose="020B0609020204030204" pitchFamily="49" charset="0"/>
                <a:cs typeface="Arial MT"/>
              </a:rPr>
              <a:t> recompensa </a:t>
            </a:r>
            <a:r>
              <a:rPr lang="es-CO" sz="1800" dirty="0">
                <a:latin typeface="Consolas" panose="020B0609020204030204" pitchFamily="49" charset="0"/>
                <a:cs typeface="Arial MT"/>
              </a:rPr>
              <a:t>inmediata</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y</a:t>
            </a:r>
            <a:r>
              <a:rPr lang="es-CO" sz="1800" spc="-25" dirty="0">
                <a:latin typeface="Consolas" panose="020B0609020204030204" pitchFamily="49" charset="0"/>
                <a:cs typeface="Arial MT"/>
              </a:rPr>
              <a:t> </a:t>
            </a:r>
            <a:r>
              <a:rPr lang="es-CO" sz="1800" dirty="0">
                <a:latin typeface="Consolas" panose="020B0609020204030204" pitchFamily="49" charset="0"/>
                <a:cs typeface="Arial MT"/>
              </a:rPr>
              <a:t>el</a:t>
            </a:r>
            <a:r>
              <a:rPr lang="es-CO" sz="1800" spc="-15" dirty="0">
                <a:latin typeface="Consolas" panose="020B0609020204030204" pitchFamily="49" charset="0"/>
                <a:cs typeface="Arial MT"/>
              </a:rPr>
              <a:t> </a:t>
            </a:r>
            <a:r>
              <a:rPr lang="es-CO" sz="1800" dirty="0">
                <a:latin typeface="Consolas" panose="020B0609020204030204" pitchFamily="49" charset="0"/>
                <a:cs typeface="Arial MT"/>
              </a:rPr>
              <a:t>próximo</a:t>
            </a: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estado,</a:t>
            </a:r>
            <a:r>
              <a:rPr lang="es-CO" sz="1800" spc="-55" dirty="0">
                <a:latin typeface="Consolas" panose="020B0609020204030204" pitchFamily="49" charset="0"/>
                <a:cs typeface="Arial MT"/>
              </a:rPr>
              <a:t> </a:t>
            </a:r>
            <a:endParaRPr lang="es-CO" spc="-55" dirty="0">
              <a:latin typeface="Consolas" panose="020B0609020204030204" pitchFamily="49" charset="0"/>
              <a:cs typeface="Arial MT"/>
            </a:endParaRPr>
          </a:p>
          <a:p>
            <a:pPr marL="12700" marR="5080" algn="just">
              <a:lnSpc>
                <a:spcPct val="100000"/>
              </a:lnSpc>
              <a:spcBef>
                <a:spcPts val="100"/>
              </a:spcBef>
            </a:pPr>
            <a:r>
              <a:rPr lang="es-CO" sz="1800" spc="-30" dirty="0">
                <a:latin typeface="Consolas" panose="020B0609020204030204" pitchFamily="49" charset="0"/>
                <a:cs typeface="Arial MT"/>
              </a:rPr>
              <a:t> </a:t>
            </a:r>
            <a:r>
              <a:rPr lang="es-CO" sz="1800" dirty="0">
                <a:latin typeface="Consolas" panose="020B0609020204030204" pitchFamily="49" charset="0"/>
                <a:cs typeface="Arial MT"/>
              </a:rPr>
              <a:t>actualiza</a:t>
            </a:r>
            <a:r>
              <a:rPr lang="es-CO" sz="1800" spc="-25" dirty="0">
                <a:latin typeface="Consolas" panose="020B0609020204030204" pitchFamily="49" charset="0"/>
                <a:cs typeface="Arial MT"/>
              </a:rPr>
              <a:t> </a:t>
            </a:r>
            <a:r>
              <a:rPr lang="es-CO" sz="1800" dirty="0">
                <a:latin typeface="Consolas" panose="020B0609020204030204" pitchFamily="49" charset="0"/>
                <a:cs typeface="Arial MT"/>
              </a:rPr>
              <a:t>el</a:t>
            </a:r>
            <a:r>
              <a:rPr lang="es-CO" sz="1800" spc="-15" dirty="0">
                <a:latin typeface="Consolas" panose="020B0609020204030204" pitchFamily="49" charset="0"/>
                <a:cs typeface="Arial MT"/>
              </a:rPr>
              <a:t> </a:t>
            </a:r>
            <a:r>
              <a:rPr lang="es-CO" sz="1800" dirty="0">
                <a:latin typeface="Consolas" panose="020B0609020204030204" pitchFamily="49" charset="0"/>
                <a:cs typeface="Arial MT"/>
              </a:rPr>
              <a:t>valor</a:t>
            </a:r>
            <a:r>
              <a:rPr lang="es-CO" sz="1800" spc="-25" dirty="0">
                <a:latin typeface="Consolas" panose="020B0609020204030204" pitchFamily="49" charset="0"/>
                <a:cs typeface="Arial MT"/>
              </a:rPr>
              <a:t> </a:t>
            </a:r>
            <a:r>
              <a:rPr lang="es-CO" sz="1800" dirty="0">
                <a:latin typeface="Consolas" panose="020B0609020204030204" pitchFamily="49" charset="0"/>
                <a:cs typeface="Arial MT"/>
              </a:rPr>
              <a:t>Q(s1,a1))</a:t>
            </a:r>
            <a:r>
              <a:rPr lang="es-CO" sz="1800" spc="-65" dirty="0">
                <a:latin typeface="Consolas" panose="020B0609020204030204" pitchFamily="49" charset="0"/>
                <a:cs typeface="Arial MT"/>
              </a:rPr>
              <a:t> </a:t>
            </a:r>
          </a:p>
          <a:p>
            <a:pPr marL="12700" marR="5080" algn="just">
              <a:lnSpc>
                <a:spcPct val="100000"/>
              </a:lnSpc>
              <a:spcBef>
                <a:spcPts val="100"/>
              </a:spcBef>
            </a:pPr>
            <a:r>
              <a:rPr lang="es-CO" sz="1800" dirty="0">
                <a:latin typeface="Consolas" panose="020B0609020204030204" pitchFamily="49" charset="0"/>
                <a:cs typeface="Arial MT"/>
              </a:rPr>
              <a:t>usando</a:t>
            </a:r>
            <a:r>
              <a:rPr lang="es-CO" sz="1800" spc="-50" dirty="0">
                <a:latin typeface="Consolas" panose="020B0609020204030204" pitchFamily="49" charset="0"/>
                <a:cs typeface="Arial MT"/>
              </a:rPr>
              <a:t> </a:t>
            </a:r>
            <a:r>
              <a:rPr lang="es-CO" sz="1800" spc="-25" dirty="0">
                <a:latin typeface="Consolas" panose="020B0609020204030204" pitchFamily="49" charset="0"/>
                <a:cs typeface="Arial MT"/>
              </a:rPr>
              <a:t>la </a:t>
            </a:r>
            <a:r>
              <a:rPr lang="es-CO" sz="1800" dirty="0">
                <a:latin typeface="Consolas" panose="020B0609020204030204" pitchFamily="49" charset="0"/>
                <a:cs typeface="Arial MT"/>
              </a:rPr>
              <a:t>fórmula</a:t>
            </a:r>
            <a:r>
              <a:rPr lang="es-CO" sz="1800" spc="-45" dirty="0">
                <a:latin typeface="Consolas" panose="020B0609020204030204" pitchFamily="49" charset="0"/>
                <a:cs typeface="Arial MT"/>
              </a:rPr>
              <a:t> </a:t>
            </a:r>
            <a:r>
              <a:rPr lang="es-CO" sz="1800" dirty="0">
                <a:latin typeface="Consolas" panose="020B0609020204030204" pitchFamily="49" charset="0"/>
                <a:cs typeface="Arial MT"/>
              </a:rPr>
              <a:t>de</a:t>
            </a:r>
            <a:r>
              <a:rPr lang="es-CO" sz="1800" spc="-30" dirty="0">
                <a:latin typeface="Consolas" panose="020B0609020204030204" pitchFamily="49" charset="0"/>
                <a:cs typeface="Arial MT"/>
              </a:rPr>
              <a:t> </a:t>
            </a:r>
            <a:r>
              <a:rPr lang="es-CO" sz="1800" spc="-10" dirty="0">
                <a:latin typeface="Consolas" panose="020B0609020204030204" pitchFamily="49" charset="0"/>
                <a:cs typeface="Arial MT"/>
              </a:rPr>
              <a:t>actualización.</a:t>
            </a:r>
            <a:endParaRPr lang="es-CO" sz="1800" dirty="0">
              <a:latin typeface="Consolas" panose="020B0609020204030204" pitchFamily="49" charset="0"/>
              <a:cs typeface="Arial MT"/>
            </a:endParaRPr>
          </a:p>
        </p:txBody>
      </p:sp>
    </p:spTree>
    <p:extLst>
      <p:ext uri="{BB962C8B-B14F-4D97-AF65-F5344CB8AC3E}">
        <p14:creationId xmlns:p14="http://schemas.microsoft.com/office/powerpoint/2010/main" val="191352595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B30CE2-030A-F7DB-6798-3E31C1510D97}"/>
            </a:ext>
          </a:extLst>
        </p:cNvPr>
        <p:cNvGrpSpPr/>
        <p:nvPr/>
      </p:nvGrpSpPr>
      <p:grpSpPr>
        <a:xfrm>
          <a:off x="0" y="0"/>
          <a:ext cx="0" cy="0"/>
          <a:chOff x="0" y="0"/>
          <a:chExt cx="0" cy="0"/>
        </a:xfrm>
      </p:grpSpPr>
      <p:sp>
        <p:nvSpPr>
          <p:cNvPr id="4" name="Title 2">
            <a:extLst>
              <a:ext uri="{FF2B5EF4-FFF2-40B4-BE49-F238E27FC236}">
                <a16:creationId xmlns:a16="http://schemas.microsoft.com/office/drawing/2014/main" id="{3E92E1BA-67BB-F7D0-D14E-2E50B1D0D952}"/>
              </a:ext>
            </a:extLst>
          </p:cNvPr>
          <p:cNvSpPr txBox="1">
            <a:spLocks/>
          </p:cNvSpPr>
          <p:nvPr/>
        </p:nvSpPr>
        <p:spPr>
          <a:xfrm>
            <a:off x="745435" y="612349"/>
            <a:ext cx="8097078" cy="1115805"/>
          </a:xfrm>
          <a:prstGeom prst="rect">
            <a:avLst/>
          </a:prstGeom>
        </p:spPr>
        <p:txBody>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s-MX" sz="3200" dirty="0">
                <a:solidFill>
                  <a:srgbClr val="0070C0"/>
                </a:solidFill>
                <a:latin typeface="Consolas" panose="020B0609020204030204" pitchFamily="49" charset="0"/>
                <a:cs typeface="Arial"/>
              </a:rPr>
              <a:t>Q </a:t>
            </a:r>
            <a:r>
              <a:rPr lang="es-MX" sz="3200" dirty="0" err="1">
                <a:solidFill>
                  <a:srgbClr val="0070C0"/>
                </a:solidFill>
                <a:latin typeface="Consolas" panose="020B0609020204030204" pitchFamily="49" charset="0"/>
                <a:cs typeface="Arial"/>
              </a:rPr>
              <a:t>learning</a:t>
            </a:r>
            <a:endParaRPr lang="es-MX" sz="3200" dirty="0">
              <a:solidFill>
                <a:srgbClr val="0070C0"/>
              </a:solidFill>
              <a:latin typeface="Consolas" panose="020B0609020204030204" pitchFamily="49" charset="0"/>
              <a:cs typeface="Arial"/>
            </a:endParaRPr>
          </a:p>
          <a:p>
            <a:endParaRPr lang="es-MX" sz="3200" dirty="0">
              <a:solidFill>
                <a:srgbClr val="0070C0"/>
              </a:solidFill>
              <a:latin typeface="Consolas" panose="020B0609020204030204" pitchFamily="49" charset="0"/>
              <a:cs typeface="Arial"/>
            </a:endParaRPr>
          </a:p>
        </p:txBody>
      </p:sp>
      <p:sp>
        <p:nvSpPr>
          <p:cNvPr id="5" name="TextBox 4">
            <a:extLst>
              <a:ext uri="{FF2B5EF4-FFF2-40B4-BE49-F238E27FC236}">
                <a16:creationId xmlns:a16="http://schemas.microsoft.com/office/drawing/2014/main" id="{755B304D-F23C-0855-6BC9-860E42D54A16}"/>
              </a:ext>
            </a:extLst>
          </p:cNvPr>
          <p:cNvSpPr txBox="1"/>
          <p:nvPr/>
        </p:nvSpPr>
        <p:spPr>
          <a:xfrm>
            <a:off x="745434" y="1470683"/>
            <a:ext cx="10563541" cy="2593018"/>
          </a:xfrm>
          <a:prstGeom prst="rect">
            <a:avLst/>
          </a:prstGeom>
          <a:noFill/>
        </p:spPr>
        <p:txBody>
          <a:bodyPr wrap="square">
            <a:spAutoFit/>
          </a:bodyPr>
          <a:lstStyle/>
          <a:p>
            <a:pPr marL="12700" marR="5080">
              <a:lnSpc>
                <a:spcPct val="100000"/>
              </a:lnSpc>
              <a:spcBef>
                <a:spcPts val="105"/>
              </a:spcBef>
              <a:tabLst>
                <a:tab pos="355600" algn="l"/>
              </a:tabLst>
            </a:pPr>
            <a:r>
              <a:rPr lang="es-CO" sz="2000" b="1" dirty="0">
                <a:latin typeface="Consolas" panose="020B0609020204030204" pitchFamily="49" charset="0"/>
                <a:cs typeface="Arial MT"/>
              </a:rPr>
              <a:t>LIMITACIONES</a:t>
            </a:r>
          </a:p>
          <a:p>
            <a:pPr marL="12700" marR="5080">
              <a:lnSpc>
                <a:spcPct val="100000"/>
              </a:lnSpc>
              <a:spcBef>
                <a:spcPts val="105"/>
              </a:spcBef>
              <a:tabLst>
                <a:tab pos="355600" algn="l"/>
              </a:tabLst>
            </a:pPr>
            <a:endParaRPr lang="es-CO" sz="2000" b="1" dirty="0">
              <a:latin typeface="Consolas" panose="020B0609020204030204" pitchFamily="49" charset="0"/>
              <a:cs typeface="Arial MT"/>
            </a:endParaRPr>
          </a:p>
          <a:p>
            <a:pPr marL="355600" marR="5080" indent="-342900" algn="just">
              <a:lnSpc>
                <a:spcPct val="100000"/>
              </a:lnSpc>
              <a:spcBef>
                <a:spcPts val="105"/>
              </a:spcBef>
              <a:buFont typeface="Arial" panose="020B0604020202020204" pitchFamily="34" charset="0"/>
              <a:buChar char="•"/>
              <a:tabLst>
                <a:tab pos="355600" algn="l"/>
              </a:tabLst>
            </a:pPr>
            <a:r>
              <a:rPr lang="es-CO" sz="2000" dirty="0">
                <a:latin typeface="Consolas" panose="020B0609020204030204" pitchFamily="49" charset="0"/>
                <a:cs typeface="Arial MT"/>
              </a:rPr>
              <a:t>No</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eficiente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problemas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con</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grandes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espacios</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0" dirty="0">
                <a:latin typeface="Consolas" panose="020B0609020204030204" pitchFamily="49" charset="0"/>
                <a:cs typeface="Arial MT"/>
              </a:rPr>
              <a:t> </a:t>
            </a:r>
            <a:r>
              <a:rPr lang="es-CO" sz="2000" spc="-10" dirty="0">
                <a:latin typeface="Consolas" panose="020B0609020204030204" pitchFamily="49" charset="0"/>
                <a:cs typeface="Arial MT"/>
              </a:rPr>
              <a:t>estado </a:t>
            </a:r>
            <a:r>
              <a:rPr lang="es-CO" sz="2000" dirty="0">
                <a:latin typeface="Consolas" panose="020B0609020204030204" pitchFamily="49" charset="0"/>
                <a:cs typeface="Arial MT"/>
              </a:rPr>
              <a:t>(problemas</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escalabilidad),</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ya</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que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requiere</a:t>
            </a:r>
            <a:r>
              <a:rPr lang="es-CO" sz="2000" spc="-55" dirty="0">
                <a:latin typeface="Consolas" panose="020B0609020204030204" pitchFamily="49" charset="0"/>
                <a:cs typeface="Arial MT"/>
              </a:rPr>
              <a:t> </a:t>
            </a:r>
            <a:r>
              <a:rPr lang="es-CO" sz="2000" dirty="0">
                <a:latin typeface="Consolas" panose="020B0609020204030204" pitchFamily="49" charset="0"/>
                <a:cs typeface="Arial MT"/>
              </a:rPr>
              <a:t>una</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tabla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Q</a:t>
            </a:r>
            <a:r>
              <a:rPr lang="es-CO" sz="2000" spc="-25" dirty="0">
                <a:latin typeface="Consolas" panose="020B0609020204030204" pitchFamily="49" charset="0"/>
                <a:cs typeface="Arial MT"/>
              </a:rPr>
              <a:t> de </a:t>
            </a:r>
            <a:r>
              <a:rPr lang="es-CO" sz="2000" dirty="0">
                <a:latin typeface="Consolas" panose="020B0609020204030204" pitchFamily="49" charset="0"/>
                <a:cs typeface="Arial MT"/>
              </a:rPr>
              <a:t>gran</a:t>
            </a:r>
            <a:r>
              <a:rPr lang="es-CO" sz="2000" spc="-30" dirty="0">
                <a:latin typeface="Consolas" panose="020B0609020204030204" pitchFamily="49" charset="0"/>
                <a:cs typeface="Arial MT"/>
              </a:rPr>
              <a:t> </a:t>
            </a:r>
            <a:r>
              <a:rPr lang="es-CO" sz="2000" spc="-10" dirty="0">
                <a:latin typeface="Consolas" panose="020B0609020204030204" pitchFamily="49" charset="0"/>
                <a:cs typeface="Arial MT"/>
              </a:rPr>
              <a:t>tamaño.</a:t>
            </a:r>
            <a:endParaRPr lang="es-CO" sz="2000" dirty="0">
              <a:latin typeface="Consolas" panose="020B0609020204030204" pitchFamily="49" charset="0"/>
              <a:cs typeface="Arial MT"/>
            </a:endParaRPr>
          </a:p>
          <a:p>
            <a:pPr marL="354965" indent="-342265" algn="just">
              <a:lnSpc>
                <a:spcPct val="100000"/>
              </a:lnSpc>
              <a:buChar char="•"/>
              <a:tabLst>
                <a:tab pos="354965" algn="l"/>
              </a:tabLst>
            </a:pPr>
            <a:r>
              <a:rPr lang="es-CO" sz="2000" dirty="0">
                <a:latin typeface="Consolas" panose="020B0609020204030204" pitchFamily="49" charset="0"/>
                <a:cs typeface="Arial MT"/>
              </a:rPr>
              <a:t>Dificultades</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con</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entornos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con</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espacios</a:t>
            </a:r>
            <a:r>
              <a:rPr lang="es-CO" sz="2000" spc="-4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acción</a:t>
            </a:r>
            <a:r>
              <a:rPr lang="es-CO" sz="2000" spc="-35" dirty="0">
                <a:latin typeface="Consolas" panose="020B0609020204030204" pitchFamily="49" charset="0"/>
                <a:cs typeface="Arial MT"/>
              </a:rPr>
              <a:t> </a:t>
            </a:r>
            <a:r>
              <a:rPr lang="es-CO" sz="2000" spc="-10" dirty="0">
                <a:latin typeface="Consolas" panose="020B0609020204030204" pitchFamily="49" charset="0"/>
                <a:cs typeface="Arial MT"/>
              </a:rPr>
              <a:t>continuos.</a:t>
            </a:r>
            <a:endParaRPr lang="es-CO" sz="2000" dirty="0">
              <a:latin typeface="Consolas" panose="020B0609020204030204" pitchFamily="49" charset="0"/>
              <a:cs typeface="Arial MT"/>
            </a:endParaRPr>
          </a:p>
          <a:p>
            <a:pPr marL="355600" marR="76835" indent="-342900" algn="just">
              <a:lnSpc>
                <a:spcPct val="100000"/>
              </a:lnSpc>
              <a:buChar char="•"/>
              <a:tabLst>
                <a:tab pos="355600" algn="l"/>
              </a:tabLst>
            </a:pPr>
            <a:r>
              <a:rPr lang="es-CO" sz="2000" dirty="0">
                <a:latin typeface="Consolas" panose="020B0609020204030204" pitchFamily="49" charset="0"/>
                <a:cs typeface="Arial MT"/>
              </a:rPr>
              <a:t>Puede</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ser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lento</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en</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converger</a:t>
            </a:r>
            <a:r>
              <a:rPr lang="es-CO" sz="2000" spc="-60" dirty="0">
                <a:latin typeface="Consolas" panose="020B0609020204030204" pitchFamily="49" charset="0"/>
                <a:cs typeface="Arial MT"/>
              </a:rPr>
              <a:t> </a:t>
            </a:r>
            <a:r>
              <a:rPr lang="es-CO" sz="2000" dirty="0">
                <a:latin typeface="Consolas" panose="020B0609020204030204" pitchFamily="49" charset="0"/>
                <a:cs typeface="Arial MT"/>
              </a:rPr>
              <a:t>si</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5" dirty="0">
                <a:latin typeface="Consolas" panose="020B0609020204030204" pitchFamily="49" charset="0"/>
                <a:cs typeface="Arial MT"/>
              </a:rPr>
              <a:t> </a:t>
            </a:r>
            <a:r>
              <a:rPr lang="es-CO" sz="2000" dirty="0">
                <a:latin typeface="Consolas" panose="020B0609020204030204" pitchFamily="49" charset="0"/>
                <a:cs typeface="Arial MT"/>
              </a:rPr>
              <a:t>entorno</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es</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complejo</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o</a:t>
            </a:r>
            <a:r>
              <a:rPr lang="es-CO" sz="2000" spc="-30" dirty="0">
                <a:latin typeface="Consolas" panose="020B0609020204030204" pitchFamily="49" charset="0"/>
                <a:cs typeface="Arial MT"/>
              </a:rPr>
              <a:t> </a:t>
            </a:r>
            <a:r>
              <a:rPr lang="es-CO" sz="2000" dirty="0">
                <a:latin typeface="Consolas" panose="020B0609020204030204" pitchFamily="49" charset="0"/>
                <a:cs typeface="Arial MT"/>
              </a:rPr>
              <a:t>si</a:t>
            </a:r>
            <a:r>
              <a:rPr lang="es-CO" sz="2000" spc="-10" dirty="0">
                <a:latin typeface="Consolas" panose="020B0609020204030204" pitchFamily="49" charset="0"/>
                <a:cs typeface="Arial MT"/>
              </a:rPr>
              <a:t> </a:t>
            </a:r>
            <a:r>
              <a:rPr lang="es-CO" sz="2000" spc="-25" dirty="0">
                <a:latin typeface="Consolas" panose="020B0609020204030204" pitchFamily="49" charset="0"/>
                <a:cs typeface="Arial MT"/>
              </a:rPr>
              <a:t>la </a:t>
            </a:r>
            <a:r>
              <a:rPr lang="es-CO" sz="2000" dirty="0">
                <a:latin typeface="Consolas" panose="020B0609020204030204" pitchFamily="49" charset="0"/>
                <a:cs typeface="Arial MT"/>
              </a:rPr>
              <a:t>tasa</a:t>
            </a:r>
            <a:r>
              <a:rPr lang="es-CO" sz="2000" spc="-35"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aprendizaje</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y</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el</a:t>
            </a:r>
            <a:r>
              <a:rPr lang="es-CO" sz="2000" spc="-10" dirty="0">
                <a:latin typeface="Consolas" panose="020B0609020204030204" pitchFamily="49" charset="0"/>
                <a:cs typeface="Arial MT"/>
              </a:rPr>
              <a:t> </a:t>
            </a:r>
            <a:r>
              <a:rPr lang="es-CO" sz="2000" dirty="0">
                <a:latin typeface="Consolas" panose="020B0609020204030204" pitchFamily="49" charset="0"/>
                <a:cs typeface="Arial MT"/>
              </a:rPr>
              <a:t>factor</a:t>
            </a:r>
            <a:r>
              <a:rPr lang="es-CO" sz="2000" spc="-40" dirty="0">
                <a:latin typeface="Consolas" panose="020B0609020204030204" pitchFamily="49" charset="0"/>
                <a:cs typeface="Arial MT"/>
              </a:rPr>
              <a:t> </a:t>
            </a:r>
            <a:r>
              <a:rPr lang="es-CO" sz="2000" dirty="0">
                <a:latin typeface="Consolas" panose="020B0609020204030204" pitchFamily="49" charset="0"/>
                <a:cs typeface="Arial MT"/>
              </a:rPr>
              <a:t>de</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descuento</a:t>
            </a:r>
            <a:r>
              <a:rPr lang="es-CO" sz="2000" spc="-50" dirty="0">
                <a:latin typeface="Consolas" panose="020B0609020204030204" pitchFamily="49" charset="0"/>
                <a:cs typeface="Arial MT"/>
              </a:rPr>
              <a:t> </a:t>
            </a:r>
            <a:r>
              <a:rPr lang="es-CO" sz="2000" dirty="0">
                <a:latin typeface="Consolas" panose="020B0609020204030204" pitchFamily="49" charset="0"/>
                <a:cs typeface="Arial MT"/>
              </a:rPr>
              <a:t>no</a:t>
            </a:r>
            <a:r>
              <a:rPr lang="es-CO" sz="2000" spc="-25" dirty="0">
                <a:latin typeface="Consolas" panose="020B0609020204030204" pitchFamily="49" charset="0"/>
                <a:cs typeface="Arial MT"/>
              </a:rPr>
              <a:t> </a:t>
            </a:r>
            <a:r>
              <a:rPr lang="es-CO" sz="2000" dirty="0">
                <a:latin typeface="Consolas" panose="020B0609020204030204" pitchFamily="49" charset="0"/>
                <a:cs typeface="Arial MT"/>
              </a:rPr>
              <a:t>están</a:t>
            </a:r>
            <a:r>
              <a:rPr lang="es-CO" sz="2000" spc="-40" dirty="0">
                <a:latin typeface="Consolas" panose="020B0609020204030204" pitchFamily="49" charset="0"/>
                <a:cs typeface="Arial MT"/>
              </a:rPr>
              <a:t> </a:t>
            </a:r>
            <a:r>
              <a:rPr lang="es-CO" sz="2000" spc="-20" dirty="0">
                <a:latin typeface="Consolas" panose="020B0609020204030204" pitchFamily="49" charset="0"/>
                <a:cs typeface="Arial MT"/>
              </a:rPr>
              <a:t>bien </a:t>
            </a:r>
            <a:r>
              <a:rPr lang="es-CO" sz="2000" spc="-10" dirty="0">
                <a:latin typeface="Consolas" panose="020B0609020204030204" pitchFamily="49" charset="0"/>
                <a:cs typeface="Arial MT"/>
              </a:rPr>
              <a:t>ajustados.</a:t>
            </a:r>
            <a:endParaRPr lang="es-CO" sz="2000" dirty="0">
              <a:latin typeface="Consolas" panose="020B0609020204030204" pitchFamily="49" charset="0"/>
              <a:cs typeface="Arial MT"/>
            </a:endParaRPr>
          </a:p>
          <a:p>
            <a:pPr marL="12700">
              <a:lnSpc>
                <a:spcPct val="100000"/>
              </a:lnSpc>
              <a:spcBef>
                <a:spcPts val="105"/>
              </a:spcBef>
            </a:pPr>
            <a:endParaRPr lang="es-CO" sz="2000" dirty="0">
              <a:latin typeface="Consolas" panose="020B0609020204030204" pitchFamily="49" charset="0"/>
            </a:endParaRPr>
          </a:p>
        </p:txBody>
      </p:sp>
      <p:sp>
        <p:nvSpPr>
          <p:cNvPr id="2" name="TextBox 1">
            <a:extLst>
              <a:ext uri="{FF2B5EF4-FFF2-40B4-BE49-F238E27FC236}">
                <a16:creationId xmlns:a16="http://schemas.microsoft.com/office/drawing/2014/main" id="{46B69463-86D6-1204-8109-DC321A03C796}"/>
              </a:ext>
            </a:extLst>
          </p:cNvPr>
          <p:cNvSpPr txBox="1"/>
          <p:nvPr/>
        </p:nvSpPr>
        <p:spPr>
          <a:xfrm>
            <a:off x="4472608" y="4827906"/>
            <a:ext cx="3246783" cy="400110"/>
          </a:xfrm>
          <a:prstGeom prst="rect">
            <a:avLst/>
          </a:prstGeom>
          <a:noFill/>
        </p:spPr>
        <p:txBody>
          <a:bodyPr wrap="square">
            <a:spAutoFit/>
          </a:bodyPr>
          <a:lstStyle/>
          <a:p>
            <a:pPr marL="12700">
              <a:lnSpc>
                <a:spcPct val="100000"/>
              </a:lnSpc>
              <a:spcBef>
                <a:spcPts val="105"/>
              </a:spcBef>
            </a:pPr>
            <a:r>
              <a:rPr lang="es-ES" sz="2000" b="1" dirty="0">
                <a:latin typeface="Consolas" panose="020B0609020204030204" pitchFamily="49" charset="0"/>
              </a:rPr>
              <a:t>EJERCICIO DE CLASE!!</a:t>
            </a:r>
            <a:endParaRPr lang="es-CO" sz="2000" b="1" dirty="0">
              <a:latin typeface="Consolas" panose="020B0609020204030204" pitchFamily="49" charset="0"/>
            </a:endParaRPr>
          </a:p>
        </p:txBody>
      </p:sp>
    </p:spTree>
    <p:extLst>
      <p:ext uri="{BB962C8B-B14F-4D97-AF65-F5344CB8AC3E}">
        <p14:creationId xmlns:p14="http://schemas.microsoft.com/office/powerpoint/2010/main" val="525646924"/>
      </p:ext>
    </p:extLst>
  </p:cSld>
  <p:clrMapOvr>
    <a:masterClrMapping/>
  </p:clrMapOvr>
</p:sld>
</file>

<file path=ppt/theme/theme1.xml><?xml version="1.0" encoding="utf-8"?>
<a:theme xmlns:a="http://schemas.openxmlformats.org/drawingml/2006/main" name="Eafit 2025">
  <a:themeElements>
    <a:clrScheme name="Blue">
      <a:dk1>
        <a:sysClr val="windowText" lastClr="000000"/>
      </a:dk1>
      <a:lt1>
        <a:sysClr val="window" lastClr="FFFFFF"/>
      </a:lt1>
      <a:dk2>
        <a:srgbClr val="17406D"/>
      </a:dk2>
      <a:lt2>
        <a:srgbClr val="DBEF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defRPr sz="2400" b="1" dirty="0">
            <a:latin typeface="Arial" panose="020B0604020202020204" pitchFamily="34" charset="0"/>
            <a:cs typeface="Arial" panose="020B0604020202020204" pitchFamily="34" charset="0"/>
          </a:defRPr>
        </a:defPPr>
      </a:lstStyle>
    </a:txDef>
  </a:objectDefaults>
  <a:extraClrSchemeLst/>
  <a:extLst>
    <a:ext uri="{05A4C25C-085E-4340-85A3-A5531E510DB2}">
      <thm15:themeFamily xmlns:thm15="http://schemas.microsoft.com/office/thememl/2012/main" name="Eafit 2025" id="{1A9E6D5F-F1D4-4016-8E9E-CC8E7A595F20}" vid="{AC2757B8-0593-409C-9328-A277767A5A4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Eafit 2025</Template>
  <TotalTime>2260</TotalTime>
  <Words>4874</Words>
  <Application>Microsoft Office PowerPoint</Application>
  <PresentationFormat>Widescreen</PresentationFormat>
  <Paragraphs>332</Paragraphs>
  <Slides>44</Slides>
  <Notes>37</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44</vt:i4>
      </vt:variant>
    </vt:vector>
  </HeadingPairs>
  <TitlesOfParts>
    <vt:vector size="49" baseType="lpstr">
      <vt:lpstr>Arial MT</vt:lpstr>
      <vt:lpstr>Aptos</vt:lpstr>
      <vt:lpstr>Arial</vt:lpstr>
      <vt:lpstr>Consolas</vt:lpstr>
      <vt:lpstr>Eafit 2025</vt:lpstr>
      <vt:lpstr>  Artificial Intelligence  Lecture10 – Reinforcement Learning </vt:lpstr>
      <vt:lpstr>PowerPoint Presentation</vt:lpstr>
      <vt:lpstr>  INTRODUCCIÓN   </vt:lpstr>
      <vt:lpstr>PowerPoint Presentation</vt:lpstr>
      <vt:lpstr>PowerPoint Presentation</vt:lpstr>
      <vt:lpstr>PowerPoint Presentation</vt:lpstr>
      <vt:lpstr>PowerPoint Presentation</vt:lpstr>
      <vt:lpstr>PowerPoint Presentation</vt:lpstr>
      <vt:lpstr>  COMPLICACIONES DEL RL   </vt:lpstr>
      <vt:lpstr>PowerPoint Presentation</vt:lpstr>
      <vt:lpstr>PowerPoint Presentation</vt:lpstr>
      <vt:lpstr>  FUNDAMENTOS DEL RL   </vt:lpstr>
      <vt:lpstr>PowerPoint Presentation</vt:lpstr>
      <vt:lpstr>PowerPoint Presentation</vt:lpstr>
      <vt:lpstr>PowerPoint Presentation</vt:lpstr>
      <vt:lpstr>PowerPoint Presentation</vt:lpstr>
      <vt:lpstr>PowerPoint Presentation</vt:lpstr>
      <vt:lpstr>MARKOV DECISION PROCESSES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Q-LEARNING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JUAN DAVID MARTINEZ VARGAS</dc:creator>
  <cp:lastModifiedBy>YOMIN ESTIVEN JARAMILLO MUNERA</cp:lastModifiedBy>
  <cp:revision>153</cp:revision>
  <dcterms:created xsi:type="dcterms:W3CDTF">2021-08-03T19:34:42Z</dcterms:created>
  <dcterms:modified xsi:type="dcterms:W3CDTF">2025-09-26T11:52:15Z</dcterms:modified>
</cp:coreProperties>
</file>